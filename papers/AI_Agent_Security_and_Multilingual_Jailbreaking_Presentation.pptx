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371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62895" cy="4114800"/>
          </a:xfrm>
          <a:prstGeom prst="rect">
            <a:avLst/>
          </a:prstGeom>
          <a:noFill/>
        </p:spPr>
        <p:txBody>
          <a:bodyPr wrap="square">
            <a:spAutoFit/>
          </a:bodyPr>
          <a:lstStyle/>
          <a:p>
            <a:pPr>
              <a:defRPr sz="1200" b="1">
                <a:solidFill>
                  <a:srgbClr val="93C5FD"/>
                </a:solidFill>
                <a:latin typeface="Arial"/>
              </a:defRPr>
            </a:pPr>
            <a:r>
              <a:t>RESEARCH SEMINAR &amp; SUPERVISOR BRIEFING</a:t>
            </a:r>
          </a:p>
          <a:p>
            <a:pPr>
              <a:spcBef>
                <a:spcPts val="1000"/>
              </a:spcBef>
              <a:defRPr sz="3000" b="1">
                <a:solidFill>
                  <a:srgbClr val="FFFFFF"/>
                </a:solidFill>
                <a:latin typeface="Arial"/>
              </a:defRPr>
            </a:pPr>
            <a:r>
              <a:t>Frontier Vulnerabilities in Autonomous AI Systems</a:t>
            </a:r>
          </a:p>
          <a:p>
            <a:pPr>
              <a:spcBef>
                <a:spcPts val="800"/>
              </a:spcBef>
              <a:defRPr sz="1500">
                <a:solidFill>
                  <a:srgbClr val="CBD5E1"/>
                </a:solidFill>
                <a:latin typeface="Arial"/>
              </a:defRPr>
            </a:pPr>
            <a:r>
              <a:t>Agentic Supply-Chain Exploits, In-the-Wild Malicious Skills &amp; Cross-Lingual Safety Failures</a:t>
            </a:r>
          </a:p>
        </p:txBody>
      </p:sp>
      <p:sp>
        <p:nvSpPr>
          <p:cNvPr id="5" name="Rounded Rectangle 4"/>
          <p:cNvSpPr/>
          <p:nvPr/>
        </p:nvSpPr>
        <p:spPr>
          <a:xfrm>
            <a:off x="914400" y="4114800"/>
            <a:ext cx="3291840" cy="137160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lIns="137160"/>
          <a:lstStyle/>
          <a:p>
            <a:pPr algn="ctr">
              <a:defRPr b="1" sz="1050">
                <a:solidFill>
                  <a:srgbClr val="60A5FA"/>
                </a:solidFill>
              </a:defRPr>
            </a:pPr>
            <a:r>
              <a:t>Part 1: Attack Foundations (3 Papers)</a:t>
            </a:r>
          </a:p>
          <a:p>
            <a:pPr>
              <a:spcBef>
                <a:spcPts val="300"/>
              </a:spcBef>
              <a:defRPr sz="900">
                <a:solidFill>
                  <a:srgbClr val="E2E8F0"/>
                </a:solidFill>
              </a:defRPr>
            </a:pPr>
            <a:r>
              <a:t>• MCP client tool poisoning (Huang)</a:t>
            </a:r>
            <a:br/>
            <a:r>
              <a:t>• SKILL.md lifecycle manipulation (Saha)</a:t>
            </a:r>
            <a:br/>
            <a:r>
              <a:t>• Automated two-channel injection (Jia)</a:t>
            </a:r>
          </a:p>
        </p:txBody>
      </p:sp>
      <p:sp>
        <p:nvSpPr>
          <p:cNvPr id="6" name="Rounded Rectangle 5"/>
          <p:cNvSpPr/>
          <p:nvPr/>
        </p:nvSpPr>
        <p:spPr>
          <a:xfrm>
            <a:off x="4434840" y="4114800"/>
            <a:ext cx="3291840" cy="137160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lIns="137160"/>
          <a:lstStyle/>
          <a:p>
            <a:pPr algn="ctr">
              <a:defRPr b="1" sz="1050">
                <a:solidFill>
                  <a:srgbClr val="F87171"/>
                </a:solidFill>
              </a:defRPr>
            </a:pPr>
            <a:r>
              <a:t>Part 2: In-the-Wild Audits (5 Papers)</a:t>
            </a:r>
          </a:p>
          <a:p>
            <a:pPr>
              <a:spcBef>
                <a:spcPts val="300"/>
              </a:spcBef>
              <a:defRPr sz="850">
                <a:solidFill>
                  <a:srgbClr val="E2E8F0"/>
                </a:solidFill>
              </a:defRPr>
            </a:pPr>
            <a:r>
              <a:t>• 31k &amp; 98k skills wild audits (Liu)</a:t>
            </a:r>
            <a:br/>
            <a:r>
              <a:t>• SKILL-INJECT frontier benchmark (Schmotz)</a:t>
            </a:r>
            <a:br/>
            <a:r>
              <a:t>• DDIPE stealth poisoning &amp; 4 CVEs (Qu)</a:t>
            </a:r>
            <a:br/>
            <a:r>
              <a:t>• Cross-lingual skills scanner bias (Anon)</a:t>
            </a:r>
          </a:p>
        </p:txBody>
      </p:sp>
      <p:sp>
        <p:nvSpPr>
          <p:cNvPr id="7" name="Rounded Rectangle 6"/>
          <p:cNvSpPr/>
          <p:nvPr/>
        </p:nvSpPr>
        <p:spPr>
          <a:xfrm>
            <a:off x="7955280" y="4114800"/>
            <a:ext cx="3291840" cy="137160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lIns="137160"/>
          <a:lstStyle/>
          <a:p>
            <a:pPr algn="ctr">
              <a:defRPr b="1" sz="1050">
                <a:solidFill>
                  <a:srgbClr val="34D399"/>
                </a:solidFill>
              </a:defRPr>
            </a:pPr>
            <a:r>
              <a:t>Part 3: Multilingual Alignment (2 Papers)</a:t>
            </a:r>
          </a:p>
          <a:p>
            <a:pPr>
              <a:spcBef>
                <a:spcPts val="300"/>
              </a:spcBef>
              <a:defRPr sz="900">
                <a:solidFill>
                  <a:srgbClr val="E2E8F0"/>
                </a:solidFill>
              </a:defRPr>
            </a:pPr>
            <a:r>
              <a:t>• 10-language jailbreak benchmark (Atil)</a:t>
            </a:r>
            <a:br/>
            <a:r>
              <a:t>• Low-resource African attacks (Marx)</a:t>
            </a:r>
            <a:br/>
            <a:r>
              <a:t>• Translation quality fallacy exposed</a:t>
            </a:r>
          </a:p>
        </p:txBody>
      </p:sp>
      <p:sp>
        <p:nvSpPr>
          <p:cNvPr id="8" name="TextBox 7"/>
          <p:cNvSpPr txBox="1"/>
          <p:nvPr/>
        </p:nvSpPr>
        <p:spPr>
          <a:xfrm>
            <a:off x="914400" y="5806440"/>
            <a:ext cx="10362895" cy="457200"/>
          </a:xfrm>
          <a:prstGeom prst="rect">
            <a:avLst/>
          </a:prstGeom>
          <a:noFill/>
        </p:spPr>
        <p:txBody>
          <a:bodyPr wrap="none">
            <a:spAutoFit/>
          </a:bodyPr>
          <a:lstStyle/>
          <a:p>
            <a:pPr>
              <a:defRPr sz="950">
                <a:solidFill>
                  <a:srgbClr val="94A3B8"/>
                </a:solidFill>
              </a:defRPr>
            </a:pPr>
            <a:r>
              <a:t>Comprehensive Literature Review &amp; Strategic Synthesis  |  10 Frontier Papers (2025–2026)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EXECUTIVE OVERVIEW</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The Triad of Frontier Threats in Modern AI Systems</a:t>
            </a:r>
          </a:p>
          <a:p>
            <a:pPr>
              <a:spcBef>
                <a:spcPts val="300"/>
              </a:spcBef>
              <a:defRPr sz="1050">
                <a:solidFill>
                  <a:srgbClr val="64748B"/>
                </a:solidFill>
                <a:latin typeface="Arial"/>
              </a:defRPr>
            </a:pPr>
            <a:r>
              <a:t>Moving past isolated text prompts: autonomous tool-use and multilingual ecosystems introduce critical vulnerabilities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2 of 22</a:t>
            </a:r>
          </a:p>
        </p:txBody>
      </p:sp>
      <p:sp>
        <p:nvSpPr>
          <p:cNvPr id="7" name="Rounded Rectangle 6"/>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2563EB"/>
                </a:solidFill>
              </a:defRPr>
            </a:pPr>
            <a:r>
              <a:t>1. Semantic &amp; Tool Supply Chains</a:t>
            </a:r>
          </a:p>
          <a:p>
            <a:pPr>
              <a:spcBef>
                <a:spcPts val="500"/>
              </a:spcBef>
              <a:defRPr sz="950">
                <a:latin typeface="Arial"/>
              </a:defRPr>
            </a:pPr>
            <a:r>
              <a:rPr b="1">
                <a:solidFill>
                  <a:srgbClr val="0F172A"/>
                </a:solidFill>
              </a:rPr>
              <a:t>•  Documentation as Code: </a:t>
            </a:r>
            <a:r>
              <a:rPr>
                <a:solidFill>
                  <a:srgbClr val="334155"/>
                </a:solidFill>
              </a:rPr>
              <a:t>Skills and MCP schemas use natural language instructions that act directly as operational executable code.</a:t>
            </a:r>
          </a:p>
          <a:p>
            <a:pPr>
              <a:spcBef>
                <a:spcPts val="500"/>
              </a:spcBef>
              <a:defRPr sz="950">
                <a:latin typeface="Arial"/>
              </a:defRPr>
            </a:pPr>
            <a:r>
              <a:rPr b="1">
                <a:solidFill>
                  <a:srgbClr val="0F172A"/>
                </a:solidFill>
              </a:rPr>
              <a:t>•  Zero Static Validation: </a:t>
            </a:r>
            <a:r>
              <a:rPr>
                <a:solidFill>
                  <a:srgbClr val="334155"/>
                </a:solidFill>
              </a:rPr>
              <a:t>MCP clients and agent frameworks ingest third-party tool metadata directly into model context with zero validation.</a:t>
            </a:r>
          </a:p>
          <a:p>
            <a:pPr>
              <a:spcBef>
                <a:spcPts val="500"/>
              </a:spcBef>
              <a:defRPr sz="950">
                <a:latin typeface="Arial"/>
              </a:defRPr>
            </a:pPr>
            <a:r>
              <a:rPr b="1">
                <a:solidFill>
                  <a:srgbClr val="0F172A"/>
                </a:solidFill>
              </a:rPr>
              <a:t>•  Lifecycle Manipulation: </a:t>
            </a:r>
            <a:r>
              <a:rPr>
                <a:solidFill>
                  <a:srgbClr val="334155"/>
                </a:solidFill>
              </a:rPr>
              <a:t>Adversaries manipulate retrieval, bias agent selection, and evade automated registry governance.</a:t>
            </a:r>
          </a:p>
          <a:p>
            <a:pPr>
              <a:spcBef>
                <a:spcPts val="500"/>
              </a:spcBef>
              <a:defRPr sz="950">
                <a:latin typeface="Arial"/>
              </a:defRPr>
            </a:pPr>
            <a:r>
              <a:rPr b="1">
                <a:solidFill>
                  <a:srgbClr val="0F172A"/>
                </a:solidFill>
              </a:rPr>
              <a:t>•  Host Compromise: </a:t>
            </a:r>
            <a:r>
              <a:rPr>
                <a:solidFill>
                  <a:srgbClr val="334155"/>
                </a:solidFill>
              </a:rPr>
              <a:t>Enables silent credential exfiltration, telemetry logging, and arbitrary command execution (RCE).</a:t>
            </a:r>
          </a:p>
        </p:txBody>
      </p:sp>
      <p:sp>
        <p:nvSpPr>
          <p:cNvPr id="8" name="Rounded Rectangle 7"/>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C2626"/>
                </a:solidFill>
              </a:defRPr>
            </a:pPr>
            <a:r>
              <a:t>2. Real-World Wild Exploits</a:t>
            </a:r>
          </a:p>
          <a:p>
            <a:pPr>
              <a:spcBef>
                <a:spcPts val="500"/>
              </a:spcBef>
              <a:defRPr sz="950">
                <a:latin typeface="Arial"/>
              </a:defRPr>
            </a:pPr>
            <a:r>
              <a:rPr b="1">
                <a:solidFill>
                  <a:srgbClr val="0F172A"/>
                </a:solidFill>
              </a:rPr>
              <a:t>•  Scale Measurement: </a:t>
            </a:r>
            <a:r>
              <a:rPr>
                <a:solidFill>
                  <a:srgbClr val="334155"/>
                </a:solidFill>
              </a:rPr>
              <a:t>Audits of 31k–98k skills in public registries confirm that 26.1% contain real-world vulnerabilities.</a:t>
            </a:r>
          </a:p>
          <a:p>
            <a:pPr>
              <a:spcBef>
                <a:spcPts val="500"/>
              </a:spcBef>
              <a:defRPr sz="950">
                <a:latin typeface="Arial"/>
              </a:defRPr>
            </a:pPr>
            <a:r>
              <a:rPr b="1">
                <a:solidFill>
                  <a:srgbClr val="0F172A"/>
                </a:solidFill>
              </a:rPr>
              <a:t>•  Two Archetypes: </a:t>
            </a:r>
            <a:r>
              <a:rPr>
                <a:solidFill>
                  <a:srgbClr val="334155"/>
                </a:solidFill>
              </a:rPr>
              <a:t>Attacks have matured into 'Data Thieves' (credential stealers) and 'Agent Hijackers' (instruction secrecy).</a:t>
            </a:r>
          </a:p>
          <a:p>
            <a:pPr>
              <a:spcBef>
                <a:spcPts val="500"/>
              </a:spcBef>
              <a:defRPr sz="950">
                <a:latin typeface="Arial"/>
              </a:defRPr>
            </a:pPr>
            <a:r>
              <a:rPr b="1">
                <a:solidFill>
                  <a:srgbClr val="0F172A"/>
                </a:solidFill>
              </a:rPr>
              <a:t>•  Platform Weaponization: </a:t>
            </a:r>
            <a:r>
              <a:rPr>
                <a:solidFill>
                  <a:srgbClr val="334155"/>
                </a:solidFill>
              </a:rPr>
              <a:t>Attackers weaponize agent trust flags: --dangerously-skip-permissions, .mcp.json, and tool hooks.</a:t>
            </a:r>
          </a:p>
          <a:p>
            <a:pPr>
              <a:spcBef>
                <a:spcPts val="500"/>
              </a:spcBef>
              <a:defRPr sz="950">
                <a:latin typeface="Arial"/>
              </a:defRPr>
            </a:pPr>
            <a:r>
              <a:rPr b="1">
                <a:solidFill>
                  <a:srgbClr val="0F172A"/>
                </a:solidFill>
              </a:rPr>
              <a:t>•  Stealth Camouflage: </a:t>
            </a:r>
            <a:r>
              <a:rPr>
                <a:solidFill>
                  <a:srgbClr val="334155"/>
                </a:solidFill>
              </a:rPr>
              <a:t>DDIPE disguises attacks as DevOps/compliance scripts with zero lexical attack indicators.</a:t>
            </a:r>
          </a:p>
        </p:txBody>
      </p:sp>
      <p:sp>
        <p:nvSpPr>
          <p:cNvPr id="9" name="Rounded Rectangle 8"/>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59669"/>
                </a:solidFill>
              </a:defRPr>
            </a:pPr>
            <a:r>
              <a:t>3. Cross-Lingual Fragility</a:t>
            </a:r>
          </a:p>
          <a:p>
            <a:pPr>
              <a:spcBef>
                <a:spcPts val="500"/>
              </a:spcBef>
              <a:defRPr sz="950">
                <a:latin typeface="Arial"/>
              </a:defRPr>
            </a:pPr>
            <a:r>
              <a:rPr b="1">
                <a:solidFill>
                  <a:srgbClr val="0F172A"/>
                </a:solidFill>
              </a:rPr>
              <a:t>•  Resource Paradox: </a:t>
            </a:r>
            <a:r>
              <a:rPr>
                <a:solidFill>
                  <a:srgbClr val="334155"/>
                </a:solidFill>
              </a:rPr>
              <a:t>High-resource models resist direct queries but collapse against adversarial prompt suffixes (up to 99.5% ASR).</a:t>
            </a:r>
          </a:p>
          <a:p>
            <a:pPr>
              <a:spcBef>
                <a:spcPts val="500"/>
              </a:spcBef>
              <a:defRPr sz="950">
                <a:latin typeface="Arial"/>
              </a:defRPr>
            </a:pPr>
            <a:r>
              <a:rPr b="1">
                <a:solidFill>
                  <a:srgbClr val="0F172A"/>
                </a:solidFill>
              </a:rPr>
              <a:t>•  Translation Fallacy: </a:t>
            </a:r>
            <a:r>
              <a:rPr>
                <a:solidFill>
                  <a:srgbClr val="334155"/>
                </a:solidFill>
              </a:rPr>
              <a:t>Automated benchmarks falsely suggest low-resource safety due to broken machine translation.</a:t>
            </a:r>
          </a:p>
          <a:p>
            <a:pPr>
              <a:spcBef>
                <a:spcPts val="500"/>
              </a:spcBef>
              <a:defRPr sz="950">
                <a:latin typeface="Arial"/>
              </a:defRPr>
            </a:pPr>
            <a:r>
              <a:rPr b="1">
                <a:solidFill>
                  <a:srgbClr val="0F172A"/>
                </a:solidFill>
              </a:rPr>
              <a:t>•  Multi-Turn Escalation: </a:t>
            </a:r>
            <a:r>
              <a:rPr>
                <a:solidFill>
                  <a:srgbClr val="334155"/>
                </a:solidFill>
              </a:rPr>
              <a:t>Human red-teamers distributing harm across conversational turns achieve up to 89.4% jailbreak rates.</a:t>
            </a:r>
          </a:p>
          <a:p>
            <a:pPr>
              <a:spcBef>
                <a:spcPts val="500"/>
              </a:spcBef>
              <a:defRPr sz="950">
                <a:latin typeface="Arial"/>
              </a:defRPr>
            </a:pPr>
            <a:r>
              <a:rPr b="1">
                <a:solidFill>
                  <a:srgbClr val="0F172A"/>
                </a:solidFill>
              </a:rPr>
              <a:t>•  Scanner Calibration Gap: </a:t>
            </a:r>
            <a:r>
              <a:rPr>
                <a:solidFill>
                  <a:srgbClr val="334155"/>
                </a:solidFill>
              </a:rPr>
              <a:t>Security scanners suffer an English bias, falsely flagging non-English skills at 3–5x higher rates.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THEORETICAL FRAMEWORK</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System Architecture &amp; Canonical Threat Modeling</a:t>
            </a:r>
          </a:p>
          <a:p>
            <a:pPr>
              <a:spcBef>
                <a:spcPts val="300"/>
              </a:spcBef>
              <a:defRPr sz="1050">
                <a:solidFill>
                  <a:srgbClr val="64748B"/>
                </a:solidFill>
                <a:latin typeface="Arial"/>
              </a:defRPr>
            </a:pPr>
            <a:r>
              <a:t>Grounding vulnerabilities in the tripartite system model of autonomous agents (CONTEXT.md)</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3 of 22</a:t>
            </a:r>
          </a:p>
        </p:txBody>
      </p:sp>
      <p:sp>
        <p:nvSpPr>
          <p:cNvPr id="7" name="Rounded Rectangle 6"/>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2563EB"/>
                </a:solidFill>
              </a:defRPr>
            </a:pPr>
            <a:r>
              <a:t>The Three Execution Planes</a:t>
            </a:r>
          </a:p>
          <a:p>
            <a:pPr>
              <a:spcBef>
                <a:spcPts val="500"/>
              </a:spcBef>
              <a:defRPr sz="950">
                <a:latin typeface="Arial"/>
              </a:defRPr>
            </a:pPr>
            <a:r>
              <a:rPr b="1">
                <a:solidFill>
                  <a:srgbClr val="0F172A"/>
                </a:solidFill>
              </a:rPr>
              <a:t>•  Control Plane: </a:t>
            </a:r>
            <a:r>
              <a:rPr>
                <a:solidFill>
                  <a:srgbClr val="334155"/>
                </a:solidFill>
              </a:rPr>
              <a:t>Privileged channel comprising developer system prompts, safety guardrails, and authenticated user directives.</a:t>
            </a:r>
          </a:p>
          <a:p>
            <a:pPr>
              <a:spcBef>
                <a:spcPts val="500"/>
              </a:spcBef>
              <a:defRPr sz="950">
                <a:latin typeface="Arial"/>
              </a:defRPr>
            </a:pPr>
            <a:r>
              <a:rPr b="1">
                <a:solidFill>
                  <a:srgbClr val="0F172A"/>
                </a:solidFill>
              </a:rPr>
              <a:t>•  Reasoning Plane: </a:t>
            </a:r>
            <a:r>
              <a:rPr>
                <a:solidFill>
                  <a:srgbClr val="334155"/>
                </a:solidFill>
              </a:rPr>
              <a:t>Intermediate state space where the agent plans, maintains scratchpads, and executes ReAct reasoning loops.</a:t>
            </a:r>
          </a:p>
          <a:p>
            <a:pPr>
              <a:spcBef>
                <a:spcPts val="500"/>
              </a:spcBef>
              <a:defRPr sz="950">
                <a:latin typeface="Arial"/>
              </a:defRPr>
            </a:pPr>
            <a:r>
              <a:rPr b="1">
                <a:solidFill>
                  <a:srgbClr val="0F172A"/>
                </a:solidFill>
              </a:rPr>
              <a:t>•  Data Plane: </a:t>
            </a:r>
            <a:r>
              <a:rPr>
                <a:solidFill>
                  <a:srgbClr val="334155"/>
                </a:solidFill>
              </a:rPr>
              <a:t>Untrusted channel carrying tool outputs, retrieved documents, external skills, and API responses.</a:t>
            </a:r>
          </a:p>
          <a:p>
            <a:pPr>
              <a:spcBef>
                <a:spcPts val="500"/>
              </a:spcBef>
              <a:defRPr sz="950">
                <a:latin typeface="Arial"/>
              </a:defRPr>
            </a:pPr>
            <a:r>
              <a:rPr b="1">
                <a:solidFill>
                  <a:srgbClr val="0F172A"/>
                </a:solidFill>
              </a:rPr>
              <a:t>•  Control-Data Conflation: </a:t>
            </a:r>
            <a:r>
              <a:rPr>
                <a:solidFill>
                  <a:srgbClr val="334155"/>
                </a:solidFill>
              </a:rPr>
              <a:t>The core flaw: LLMs interpret untrusted Data Plane inputs as privileged Control Plane directives.</a:t>
            </a:r>
          </a:p>
        </p:txBody>
      </p:sp>
      <p:sp>
        <p:nvSpPr>
          <p:cNvPr id="8" name="Rounded Rectangle 7"/>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C2626"/>
                </a:solidFill>
              </a:defRPr>
            </a:pPr>
            <a:r>
              <a:t>Core Exploit Mechanisms</a:t>
            </a:r>
          </a:p>
          <a:p>
            <a:pPr>
              <a:spcBef>
                <a:spcPts val="500"/>
              </a:spcBef>
              <a:defRPr sz="950">
                <a:latin typeface="Arial"/>
              </a:defRPr>
            </a:pPr>
            <a:r>
              <a:rPr b="1">
                <a:solidFill>
                  <a:srgbClr val="0F172A"/>
                </a:solidFill>
              </a:rPr>
              <a:t>•  Confused Deputy: </a:t>
            </a:r>
            <a:r>
              <a:rPr>
                <a:solidFill>
                  <a:srgbClr val="334155"/>
                </a:solidFill>
              </a:rPr>
              <a:t>An agent with high OS privileges is tricked by third-party metadata into executing malicious actions.</a:t>
            </a:r>
          </a:p>
          <a:p>
            <a:pPr>
              <a:spcBef>
                <a:spcPts val="500"/>
              </a:spcBef>
              <a:defRPr sz="950">
                <a:latin typeface="Arial"/>
              </a:defRPr>
            </a:pPr>
            <a:r>
              <a:rPr b="1">
                <a:solidFill>
                  <a:srgbClr val="0F172A"/>
                </a:solidFill>
              </a:rPr>
              <a:t>•  Tool Hijacking: </a:t>
            </a:r>
            <a:r>
              <a:rPr>
                <a:solidFill>
                  <a:srgbClr val="334155"/>
                </a:solidFill>
              </a:rPr>
              <a:t>Coercing tool invocation with attacker-chosen arguments, exfiltrating credentials or executing scripts.</a:t>
            </a:r>
          </a:p>
          <a:p>
            <a:pPr>
              <a:spcBef>
                <a:spcPts val="500"/>
              </a:spcBef>
              <a:defRPr sz="950">
                <a:latin typeface="Arial"/>
              </a:defRPr>
            </a:pPr>
            <a:r>
              <a:rPr b="1">
                <a:solidFill>
                  <a:srgbClr val="0F172A"/>
                </a:solidFill>
              </a:rPr>
              <a:t>•  Memory Poisoning: </a:t>
            </a:r>
            <a:r>
              <a:rPr>
                <a:solidFill>
                  <a:srgbClr val="334155"/>
                </a:solidFill>
              </a:rPr>
              <a:t>Scratchpad pollution (transient), episodic memory poisoning (session), or semantic memory poisoning (vector DB).</a:t>
            </a:r>
          </a:p>
          <a:p>
            <a:pPr>
              <a:spcBef>
                <a:spcPts val="500"/>
              </a:spcBef>
              <a:defRPr sz="950">
                <a:latin typeface="Arial"/>
              </a:defRPr>
            </a:pPr>
            <a:r>
              <a:rPr b="1">
                <a:solidFill>
                  <a:srgbClr val="0F172A"/>
                </a:solidFill>
              </a:rPr>
              <a:t>•  Two Archetypes: </a:t>
            </a:r>
            <a:r>
              <a:rPr>
                <a:solidFill>
                  <a:srgbClr val="334155"/>
                </a:solidFill>
              </a:rPr>
              <a:t>Bifurcation into 'Data Thieves' (code-level stealers) vs. 'Agent Hijackers' (instruction-level secrecy).</a:t>
            </a:r>
          </a:p>
        </p:txBody>
      </p:sp>
      <p:sp>
        <p:nvSpPr>
          <p:cNvPr id="9" name="Rounded Rectangle 8"/>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97706"/>
                </a:solidFill>
              </a:defRPr>
            </a:pPr>
            <a:r>
              <a:t>Adversary Taxonomy</a:t>
            </a:r>
          </a:p>
          <a:p>
            <a:pPr>
              <a:spcBef>
                <a:spcPts val="500"/>
              </a:spcBef>
              <a:defRPr sz="950">
                <a:latin typeface="Arial"/>
              </a:defRPr>
            </a:pPr>
            <a:r>
              <a:rPr b="1">
                <a:solidFill>
                  <a:srgbClr val="0F172A"/>
                </a:solidFill>
              </a:rPr>
              <a:t>•  Passive Adversary: </a:t>
            </a:r>
            <a:r>
              <a:rPr>
                <a:solidFill>
                  <a:srgbClr val="334155"/>
                </a:solidFill>
              </a:rPr>
              <a:t>Pre-plants poisoned skills in public registries (ClawHub, skills.rest) awaiting autonomous ingestion.</a:t>
            </a:r>
          </a:p>
          <a:p>
            <a:pPr>
              <a:spcBef>
                <a:spcPts val="500"/>
              </a:spcBef>
              <a:defRPr sz="950">
                <a:latin typeface="Arial"/>
              </a:defRPr>
            </a:pPr>
            <a:r>
              <a:rPr b="1">
                <a:solidFill>
                  <a:srgbClr val="0F172A"/>
                </a:solidFill>
              </a:rPr>
              <a:t>•  Active Adversary: </a:t>
            </a:r>
            <a:r>
              <a:rPr>
                <a:solidFill>
                  <a:srgbClr val="334155"/>
                </a:solidFill>
              </a:rPr>
              <a:t>Interacts dynamically across multi-turn dialogs, adapting prompts based on model output to bypass safety filters.</a:t>
            </a:r>
          </a:p>
          <a:p>
            <a:pPr>
              <a:spcBef>
                <a:spcPts val="500"/>
              </a:spcBef>
              <a:defRPr sz="950">
                <a:latin typeface="Arial"/>
              </a:defRPr>
            </a:pPr>
            <a:r>
              <a:rPr b="1">
                <a:solidFill>
                  <a:srgbClr val="0F172A"/>
                </a:solidFill>
              </a:rPr>
              <a:t>•  Closed-Loop Adversary: </a:t>
            </a:r>
            <a:r>
              <a:rPr>
                <a:solidFill>
                  <a:srgbClr val="334155"/>
                </a:solidFill>
              </a:rPr>
              <a:t>Employs an automated multi-agent attack loop that analyzes runtime execution traces to optimize payloads.</a:t>
            </a:r>
          </a:p>
          <a:p>
            <a:pPr>
              <a:spcBef>
                <a:spcPts val="500"/>
              </a:spcBef>
              <a:defRPr sz="950">
                <a:latin typeface="Arial"/>
              </a:defRPr>
            </a:pPr>
            <a:r>
              <a:rPr b="1">
                <a:solidFill>
                  <a:srgbClr val="0F172A"/>
                </a:solidFill>
              </a:rPr>
              <a:t>•  Industrial Actor: </a:t>
            </a:r>
            <a:r>
              <a:rPr>
                <a:solidFill>
                  <a:srgbClr val="334155"/>
                </a:solidFill>
              </a:rPr>
              <a:t>Automated campaign publishers (e.g. smp_170) dominating 54% of malicious skills via templated branding.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657600"/>
          </a:xfrm>
          <a:prstGeom prst="rect">
            <a:avLst/>
          </a:prstGeom>
          <a:noFill/>
        </p:spPr>
        <p:txBody>
          <a:bodyPr wrap="square">
            <a:spAutoFit/>
          </a:bodyPr>
          <a:lstStyle/>
          <a:p>
            <a:pPr>
              <a:defRPr sz="1300" b="1">
                <a:solidFill>
                  <a:srgbClr val="60A5FA"/>
                </a:solidFill>
                <a:latin typeface="Arial"/>
              </a:defRPr>
            </a:pPr>
            <a:r>
              <a:t>THEME 1: AGENT SKILLS &amp; TOOL SUPPLY-CHAIN ATTACKS (PART 1)</a:t>
            </a:r>
          </a:p>
          <a:p>
            <a:pPr>
              <a:spcBef>
                <a:spcPts val="1000"/>
              </a:spcBef>
              <a:defRPr sz="2800" b="1">
                <a:solidFill>
                  <a:srgbClr val="FFFFFF"/>
                </a:solidFill>
                <a:latin typeface="Arial"/>
              </a:defRPr>
            </a:pPr>
            <a:r>
              <a:t>Attack Foundations: Protocols, Lifecycles, and Automated Injection</a:t>
            </a:r>
          </a:p>
          <a:p>
            <a:pPr>
              <a:spcBef>
                <a:spcPts val="1000"/>
              </a:spcBef>
              <a:defRPr sz="1300">
                <a:solidFill>
                  <a:srgbClr val="CBD5E1"/>
                </a:solidFill>
                <a:latin typeface="Arial"/>
              </a:defRPr>
            </a:pPr>
            <a:r>
              <a:t>How Model Context Protocol (MCP) clients, registry discovery lifecycles, and two-channel decoupled prompt injections compromise autonomous LLM coding agents.</a:t>
            </a:r>
          </a:p>
        </p:txBody>
      </p:sp>
      <p:sp>
        <p:nvSpPr>
          <p:cNvPr id="4" name="Rounded Rectangle 3"/>
          <p:cNvSpPr/>
          <p:nvPr/>
        </p:nvSpPr>
        <p:spPr>
          <a:xfrm>
            <a:off x="1097280" y="4114800"/>
            <a:ext cx="310896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a:lstStyle/>
          <a:p>
            <a:pPr algn="ctr">
              <a:defRPr b="1" sz="1050">
                <a:solidFill>
                  <a:srgbClr val="93C5FD"/>
                </a:solidFill>
              </a:defRPr>
            </a:pPr>
            <a:r>
              <a:t>Paper 1: MCP Client Security</a:t>
            </a:r>
          </a:p>
          <a:p>
            <a:pPr>
              <a:defRPr sz="900">
                <a:solidFill>
                  <a:srgbClr val="E2E8F0"/>
                </a:solidFill>
              </a:defRPr>
            </a:pPr>
            <a:r>
              <a:t>Huang et al. (2026)</a:t>
            </a:r>
            <a:br/>
            <a:r>
              <a:t>STRIDE/DREAD modeling &amp; client-side tool poisoning across 7 MCP clients.</a:t>
            </a:r>
          </a:p>
        </p:txBody>
      </p:sp>
      <p:sp>
        <p:nvSpPr>
          <p:cNvPr id="5" name="Rounded Rectangle 4"/>
          <p:cNvSpPr/>
          <p:nvPr/>
        </p:nvSpPr>
        <p:spPr>
          <a:xfrm>
            <a:off x="4480560" y="4114800"/>
            <a:ext cx="310896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a:lstStyle/>
          <a:p>
            <a:pPr algn="ctr">
              <a:defRPr b="1" sz="1050">
                <a:solidFill>
                  <a:srgbClr val="93C5FD"/>
                </a:solidFill>
              </a:defRPr>
            </a:pPr>
            <a:r>
              <a:t>Paper 2: Under SKILL.md</a:t>
            </a:r>
          </a:p>
          <a:p>
            <a:pPr>
              <a:defRPr sz="900">
                <a:solidFill>
                  <a:srgbClr val="E2E8F0"/>
                </a:solidFill>
              </a:defRPr>
            </a:pPr>
            <a:r>
              <a:t>Saha et al. (2026)</a:t>
            </a:r>
            <a:br/>
            <a:r>
              <a:t>Semantic lifecycle attacks across Discovery, Selection, and Governance.</a:t>
            </a:r>
          </a:p>
        </p:txBody>
      </p:sp>
      <p:sp>
        <p:nvSpPr>
          <p:cNvPr id="6" name="Rounded Rectangle 5"/>
          <p:cNvSpPr/>
          <p:nvPr/>
        </p:nvSpPr>
        <p:spPr>
          <a:xfrm>
            <a:off x="7863840" y="4114800"/>
            <a:ext cx="320040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a:lstStyle/>
          <a:p>
            <a:pPr algn="ctr">
              <a:defRPr b="1" sz="1050">
                <a:solidFill>
                  <a:srgbClr val="93C5FD"/>
                </a:solidFill>
              </a:defRPr>
            </a:pPr>
            <a:r>
              <a:t>Paper 3: SkillJect</a:t>
            </a:r>
          </a:p>
          <a:p>
            <a:pPr>
              <a:defRPr sz="900">
                <a:solidFill>
                  <a:srgbClr val="E2E8F0"/>
                </a:solidFill>
              </a:defRPr>
            </a:pPr>
            <a:r>
              <a:t>Jia et al. (2026)</a:t>
            </a:r>
            <a:br/>
            <a:r>
              <a:t>Two-channel automated injection &amp; closed-loop trace optimization.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1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Model Context Protocol: Client-Side Tool Poisoning</a:t>
            </a:r>
          </a:p>
          <a:p>
            <a:pPr>
              <a:spcBef>
                <a:spcPts val="300"/>
              </a:spcBef>
              <a:defRPr sz="1050">
                <a:solidFill>
                  <a:srgbClr val="64748B"/>
                </a:solidFill>
                <a:latin typeface="Arial"/>
              </a:defRPr>
            </a:pPr>
            <a:r>
              <a:t>Huang et al. (NYIT) — arXiv:2603.22489 | STRIDE/DREAD Analysis across 7 Commercial &amp; OSS MCP Clients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5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50+</a:t>
            </a:r>
          </a:p>
          <a:p>
            <a:pPr algn="ctr">
              <a:spcBef>
                <a:spcPts val="200"/>
              </a:spcBef>
              <a:defRPr sz="1000" b="1">
                <a:solidFill>
                  <a:srgbClr val="0F172A"/>
                </a:solidFill>
                <a:latin typeface="Arial"/>
              </a:defRPr>
            </a:pPr>
            <a:r>
              <a:t>Identified Threats</a:t>
            </a:r>
          </a:p>
          <a:p>
            <a:pPr algn="ctr">
              <a:spcBef>
                <a:spcPts val="200"/>
              </a:spcBef>
              <a:defRPr sz="850">
                <a:solidFill>
                  <a:srgbClr val="64748B"/>
                </a:solidFill>
                <a:latin typeface="Arial"/>
              </a:defRPr>
            </a:pPr>
            <a:r>
              <a:t>STRIDE/DREAD modeling</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0% - 100%</a:t>
            </a:r>
          </a:p>
          <a:p>
            <a:pPr algn="ctr">
              <a:spcBef>
                <a:spcPts val="200"/>
              </a:spcBef>
              <a:defRPr sz="1000" b="1">
                <a:solidFill>
                  <a:srgbClr val="0F172A"/>
                </a:solidFill>
                <a:latin typeface="Arial"/>
              </a:defRPr>
            </a:pPr>
            <a:r>
              <a:t>ASR Variance</a:t>
            </a:r>
          </a:p>
          <a:p>
            <a:pPr algn="ctr">
              <a:spcBef>
                <a:spcPts val="200"/>
              </a:spcBef>
              <a:defRPr sz="850">
                <a:solidFill>
                  <a:srgbClr val="64748B"/>
                </a:solidFill>
                <a:latin typeface="Arial"/>
              </a:defRPr>
            </a:pPr>
            <a:r>
              <a:t>Claude Desktop vs Cursor</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97706"/>
                </a:solidFill>
                <a:latin typeface="Arial"/>
              </a:defRPr>
            </a:pPr>
            <a:r>
              <a:t>5 / 7</a:t>
            </a:r>
          </a:p>
          <a:p>
            <a:pPr algn="ctr">
              <a:spcBef>
                <a:spcPts val="200"/>
              </a:spcBef>
              <a:defRPr sz="1000" b="1">
                <a:solidFill>
                  <a:srgbClr val="0F172A"/>
                </a:solidFill>
                <a:latin typeface="Arial"/>
              </a:defRPr>
            </a:pPr>
            <a:r>
              <a:t>Unvalidated Clients</a:t>
            </a:r>
          </a:p>
          <a:p>
            <a:pPr algn="ctr">
              <a:spcBef>
                <a:spcPts val="200"/>
              </a:spcBef>
              <a:defRPr sz="850">
                <a:solidFill>
                  <a:srgbClr val="64748B"/>
                </a:solidFill>
                <a:latin typeface="Arial"/>
              </a:defRPr>
            </a:pPr>
            <a:r>
              <a:t>Zero static metadata validation</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4 Attack Vectors</a:t>
            </a:r>
          </a:p>
          <a:p>
            <a:pPr algn="ctr">
              <a:spcBef>
                <a:spcPts val="200"/>
              </a:spcBef>
              <a:defRPr sz="1000" b="1">
                <a:solidFill>
                  <a:srgbClr val="0F172A"/>
                </a:solidFill>
                <a:latin typeface="Arial"/>
              </a:defRPr>
            </a:pPr>
            <a:r>
              <a:t>Empirical Evaluation</a:t>
            </a:r>
          </a:p>
          <a:p>
            <a:pPr algn="ctr">
              <a:spcBef>
                <a:spcPts val="200"/>
              </a:spcBef>
              <a:defRPr sz="850">
                <a:solidFill>
                  <a:srgbClr val="64748B"/>
                </a:solidFill>
                <a:latin typeface="Arial"/>
              </a:defRPr>
            </a:pPr>
            <a:r>
              <a:t>Files, Logging, Phish, RCE</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Threat Modeling &amp; Attack Methodology</a:t>
            </a:r>
          </a:p>
          <a:p>
            <a:pPr>
              <a:spcBef>
                <a:spcPts val="500"/>
              </a:spcBef>
              <a:defRPr sz="950">
                <a:latin typeface="Arial"/>
              </a:defRPr>
            </a:pPr>
            <a:r>
              <a:rPr b="1">
                <a:solidFill>
                  <a:srgbClr val="0F172A"/>
                </a:solidFill>
              </a:rPr>
              <a:t>•  Scope: </a:t>
            </a:r>
            <a:r>
              <a:rPr>
                <a:solidFill>
                  <a:srgbClr val="334155"/>
                </a:solidFill>
              </a:rPr>
              <a:t>Evaluated 5 MCP components: Host+Client, LLM, MCP Server, External Stores, and Authorization Server.</a:t>
            </a:r>
          </a:p>
          <a:p>
            <a:pPr>
              <a:spcBef>
                <a:spcPts val="500"/>
              </a:spcBef>
              <a:defRPr sz="950">
                <a:latin typeface="Arial"/>
              </a:defRPr>
            </a:pPr>
            <a:r>
              <a:rPr b="1">
                <a:solidFill>
                  <a:srgbClr val="0F172A"/>
                </a:solidFill>
              </a:rPr>
              <a:t>•  Highest Risk Vector: </a:t>
            </a:r>
            <a:r>
              <a:rPr>
                <a:solidFill>
                  <a:srgbClr val="334155"/>
                </a:solidFill>
              </a:rPr>
              <a:t>Tool poisoning (embedding malicious prompts in tool descriptions/metadata) emerged as the most critical client vulnerability.</a:t>
            </a:r>
          </a:p>
          <a:p>
            <a:pPr>
              <a:spcBef>
                <a:spcPts val="500"/>
              </a:spcBef>
              <a:defRPr sz="950">
                <a:latin typeface="Arial"/>
              </a:defRPr>
            </a:pPr>
            <a:r>
              <a:rPr b="1">
                <a:solidFill>
                  <a:srgbClr val="0F172A"/>
                </a:solidFill>
              </a:rPr>
              <a:t>•  4 Exploit Scenarios: </a:t>
            </a:r>
            <a:r>
              <a:rPr>
                <a:solidFill>
                  <a:srgbClr val="334155"/>
                </a:solidFill>
              </a:rPr>
              <a:t>1) Reading sensitive files (.env / credentials); 2) Silently logging tool activity; 3) Injecting phishing links; 4) Remote Code Execution (RCE).</a:t>
            </a:r>
          </a:p>
          <a:p>
            <a:pPr>
              <a:spcBef>
                <a:spcPts val="500"/>
              </a:spcBef>
              <a:defRPr sz="950">
                <a:latin typeface="Arial"/>
              </a:defRPr>
            </a:pPr>
            <a:r>
              <a:rPr b="1">
                <a:solidFill>
                  <a:srgbClr val="0F172A"/>
                </a:solidFill>
              </a:rPr>
              <a:t>•  Client Testbed: </a:t>
            </a:r>
            <a:r>
              <a:rPr>
                <a:solidFill>
                  <a:srgbClr val="334155"/>
                </a:solidFill>
              </a:rPr>
              <a:t>Tested Claude Desktop, Cursor IDE, Cline, Continue, Gemini CLI, Claude Code, and Langflow in isolated Docker environments.</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Empirical Findings &amp; Architectural Divide</a:t>
            </a:r>
          </a:p>
          <a:p>
            <a:pPr>
              <a:spcBef>
                <a:spcPts val="500"/>
              </a:spcBef>
              <a:defRPr sz="950">
                <a:latin typeface="Arial"/>
              </a:defRPr>
            </a:pPr>
            <a:r>
              <a:rPr b="1">
                <a:solidFill>
                  <a:srgbClr val="0F172A"/>
                </a:solidFill>
              </a:rPr>
              <a:t>•  The Security Divide: </a:t>
            </a:r>
            <a:r>
              <a:rPr>
                <a:solidFill>
                  <a:srgbClr val="334155"/>
                </a:solidFill>
              </a:rPr>
              <a:t>Claude Desktop proved highly robust (Safe on 3/4 vectors). In contrast, Cursor was 100% Unsafe across all 4 attack categories.</a:t>
            </a:r>
          </a:p>
          <a:p>
            <a:pPr>
              <a:spcBef>
                <a:spcPts val="500"/>
              </a:spcBef>
              <a:defRPr sz="950">
                <a:latin typeface="Arial"/>
              </a:defRPr>
            </a:pPr>
            <a:r>
              <a:rPr b="1">
                <a:solidFill>
                  <a:srgbClr val="0F172A"/>
                </a:solidFill>
              </a:rPr>
              <a:t>•  Human-in-the-Loop Illusion: </a:t>
            </a:r>
            <a:r>
              <a:rPr>
                <a:solidFill>
                  <a:srgbClr val="334155"/>
                </a:solidFill>
              </a:rPr>
              <a:t>Clients with approval dialogs suffer from UI truncation (parameters hidden past horizontal view) and severe developer approval fatigue.</a:t>
            </a:r>
          </a:p>
          <a:p>
            <a:pPr>
              <a:spcBef>
                <a:spcPts val="500"/>
              </a:spcBef>
              <a:defRPr sz="950">
                <a:latin typeface="Arial"/>
              </a:defRPr>
            </a:pPr>
            <a:r>
              <a:rPr b="1">
                <a:solidFill>
                  <a:srgbClr val="0F172A"/>
                </a:solidFill>
              </a:rPr>
              <a:t>•  Lack of Static Guardrails: </a:t>
            </a:r>
            <a:r>
              <a:rPr>
                <a:solidFill>
                  <a:srgbClr val="334155"/>
                </a:solidFill>
              </a:rPr>
              <a:t>5 of 7 clients blindly ingest tool definitions without schema bounds checking or prompt-injection scanning.</a:t>
            </a:r>
          </a:p>
          <a:p>
            <a:pPr>
              <a:spcBef>
                <a:spcPts val="500"/>
              </a:spcBef>
              <a:defRPr sz="950">
                <a:latin typeface="Arial"/>
              </a:defRPr>
            </a:pPr>
            <a:r>
              <a:rPr b="1">
                <a:solidFill>
                  <a:srgbClr val="0F172A"/>
                </a:solidFill>
              </a:rPr>
              <a:t>•  Key Limitation: </a:t>
            </a:r>
            <a:r>
              <a:rPr>
                <a:solidFill>
                  <a:srgbClr val="334155"/>
                </a:solidFill>
              </a:rPr>
              <a:t>Evaluated controlled local versions; live production deployments and multi-server compositions remain open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2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Semantic Supply-Chain Attacks on Agent Skill Registries</a:t>
            </a:r>
          </a:p>
          <a:p>
            <a:pPr>
              <a:spcBef>
                <a:spcPts val="300"/>
              </a:spcBef>
              <a:defRPr sz="1050">
                <a:solidFill>
                  <a:srgbClr val="64748B"/>
                </a:solidFill>
                <a:latin typeface="Arial"/>
              </a:defRPr>
            </a:pPr>
            <a:r>
              <a:t>Saha et al. (UMD) — arXiv:2605.11418 | Manipulating the Pre-Execution Lifecycle: Discovery, Selection, Governance</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6 of 22</a:t>
            </a:r>
          </a:p>
        </p:txBody>
      </p:sp>
      <p:sp>
        <p:nvSpPr>
          <p:cNvPr id="7" name="Rounded Rectangle 6"/>
          <p:cNvSpPr/>
          <p:nvPr/>
        </p:nvSpPr>
        <p:spPr>
          <a:xfrm>
            <a:off x="7315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3236976" cy="905256"/>
          </a:xfrm>
          <a:prstGeom prst="rect">
            <a:avLst/>
          </a:prstGeom>
          <a:noFill/>
        </p:spPr>
        <p:txBody>
          <a:bodyPr wrap="square" tIns="0" lIns="0" rIns="0" bIns="0">
            <a:spAutoFit/>
          </a:bodyPr>
          <a:lstStyle/>
          <a:p>
            <a:pPr algn="ctr">
              <a:defRPr sz="2100" b="1">
                <a:solidFill>
                  <a:srgbClr val="2563EB"/>
                </a:solidFill>
                <a:latin typeface="Arial"/>
              </a:defRPr>
            </a:pPr>
            <a:r>
              <a:t>86.14%</a:t>
            </a:r>
          </a:p>
          <a:p>
            <a:pPr algn="ctr">
              <a:spcBef>
                <a:spcPts val="200"/>
              </a:spcBef>
              <a:defRPr sz="1000" b="1">
                <a:solidFill>
                  <a:srgbClr val="0F172A"/>
                </a:solidFill>
                <a:latin typeface="Arial"/>
              </a:defRPr>
            </a:pPr>
            <a:r>
              <a:t>Discovery Win-Rate</a:t>
            </a:r>
          </a:p>
          <a:p>
            <a:pPr algn="ctr">
              <a:spcBef>
                <a:spcPts val="200"/>
              </a:spcBef>
              <a:defRPr sz="850">
                <a:solidFill>
                  <a:srgbClr val="64748B"/>
                </a:solidFill>
                <a:latin typeface="Arial"/>
              </a:defRPr>
            </a:pPr>
            <a:r>
              <a:t>Manipulating OpenAI embedding retrieval</a:t>
            </a:r>
          </a:p>
        </p:txBody>
      </p:sp>
      <p:sp>
        <p:nvSpPr>
          <p:cNvPr id="9" name="Rounded Rectangle 8"/>
          <p:cNvSpPr/>
          <p:nvPr/>
        </p:nvSpPr>
        <p:spPr>
          <a:xfrm>
            <a:off x="43891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2" y="1719072"/>
            <a:ext cx="3236976" cy="905256"/>
          </a:xfrm>
          <a:prstGeom prst="rect">
            <a:avLst/>
          </a:prstGeom>
          <a:noFill/>
        </p:spPr>
        <p:txBody>
          <a:bodyPr wrap="square" tIns="0" lIns="0" rIns="0" bIns="0">
            <a:spAutoFit/>
          </a:bodyPr>
          <a:lstStyle/>
          <a:p>
            <a:pPr algn="ctr">
              <a:defRPr sz="2100" b="1">
                <a:solidFill>
                  <a:srgbClr val="D97706"/>
                </a:solidFill>
                <a:latin typeface="Arial"/>
              </a:defRPr>
            </a:pPr>
            <a:r>
              <a:t>77.6%</a:t>
            </a:r>
          </a:p>
          <a:p>
            <a:pPr algn="ctr">
              <a:spcBef>
                <a:spcPts val="200"/>
              </a:spcBef>
              <a:defRPr sz="1000" b="1">
                <a:solidFill>
                  <a:srgbClr val="0F172A"/>
                </a:solidFill>
                <a:latin typeface="Arial"/>
              </a:defRPr>
            </a:pPr>
            <a:r>
              <a:t>Selection Bias</a:t>
            </a:r>
          </a:p>
          <a:p>
            <a:pPr algn="ctr">
              <a:spcBef>
                <a:spcPts val="200"/>
              </a:spcBef>
              <a:defRPr sz="850">
                <a:solidFill>
                  <a:srgbClr val="64748B"/>
                </a:solidFill>
                <a:latin typeface="Arial"/>
              </a:defRPr>
            </a:pPr>
            <a:r>
              <a:t>Agents pick attacker variant over benign</a:t>
            </a:r>
          </a:p>
        </p:txBody>
      </p:sp>
      <p:sp>
        <p:nvSpPr>
          <p:cNvPr id="11" name="Rounded Rectangle 10"/>
          <p:cNvSpPr/>
          <p:nvPr/>
        </p:nvSpPr>
        <p:spPr>
          <a:xfrm>
            <a:off x="80467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1719072"/>
            <a:ext cx="3236976" cy="905256"/>
          </a:xfrm>
          <a:prstGeom prst="rect">
            <a:avLst/>
          </a:prstGeom>
          <a:noFill/>
        </p:spPr>
        <p:txBody>
          <a:bodyPr wrap="square" tIns="0" lIns="0" rIns="0" bIns="0">
            <a:spAutoFit/>
          </a:bodyPr>
          <a:lstStyle/>
          <a:p>
            <a:pPr algn="ctr">
              <a:defRPr sz="2100" b="1">
                <a:solidFill>
                  <a:srgbClr val="DC2626"/>
                </a:solidFill>
                <a:latin typeface="Arial"/>
              </a:defRPr>
            </a:pPr>
            <a:r>
              <a:t>100%</a:t>
            </a:r>
          </a:p>
          <a:p>
            <a:pPr algn="ctr">
              <a:spcBef>
                <a:spcPts val="200"/>
              </a:spcBef>
              <a:defRPr sz="1000" b="1">
                <a:solidFill>
                  <a:srgbClr val="0F172A"/>
                </a:solidFill>
                <a:latin typeface="Arial"/>
              </a:defRPr>
            </a:pPr>
            <a:r>
              <a:t>Governance Bypass</a:t>
            </a:r>
          </a:p>
          <a:p>
            <a:pPr algn="ctr">
              <a:spcBef>
                <a:spcPts val="200"/>
              </a:spcBef>
              <a:defRPr sz="850">
                <a:solidFill>
                  <a:srgbClr val="64748B"/>
                </a:solidFill>
                <a:latin typeface="Arial"/>
              </a:defRPr>
            </a:pPr>
            <a:r>
              <a:t>Context overflow evades ClawScan</a:t>
            </a:r>
          </a:p>
        </p:txBody>
      </p:sp>
      <p:sp>
        <p:nvSpPr>
          <p:cNvPr id="13" name="Rounded Rectangle 12"/>
          <p:cNvSpPr/>
          <p:nvPr/>
        </p:nvSpPr>
        <p:spPr>
          <a:xfrm>
            <a:off x="731520" y="2880360"/>
            <a:ext cx="33832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50">
                <a:solidFill>
                  <a:srgbClr val="2563EB"/>
                </a:solidFill>
              </a:defRPr>
            </a:pPr>
            <a:r>
              <a:t>1. Discovery Manipulation</a:t>
            </a:r>
          </a:p>
          <a:p>
            <a:pPr>
              <a:spcBef>
                <a:spcPts val="500"/>
              </a:spcBef>
              <a:defRPr sz="900">
                <a:latin typeface="Arial"/>
              </a:defRPr>
            </a:pPr>
            <a:r>
              <a:rPr b="1">
                <a:solidFill>
                  <a:srgbClr val="0F172A"/>
                </a:solidFill>
              </a:rPr>
              <a:t>•  Mechanism: </a:t>
            </a:r>
            <a:r>
              <a:rPr>
                <a:solidFill>
                  <a:srgbClr val="334155"/>
                </a:solidFill>
              </a:rPr>
              <a:t>Appending short, optimized textual triggers to benign SKILL.md files to manipulate vector retrieval spaces.</a:t>
            </a:r>
          </a:p>
          <a:p>
            <a:pPr>
              <a:spcBef>
                <a:spcPts val="500"/>
              </a:spcBef>
              <a:defRPr sz="900">
                <a:latin typeface="Arial"/>
              </a:defRPr>
            </a:pPr>
            <a:r>
              <a:rPr b="1">
                <a:solidFill>
                  <a:srgbClr val="0F172A"/>
                </a:solidFill>
              </a:rPr>
              <a:t>•  Performance: </a:t>
            </a:r>
            <a:r>
              <a:rPr>
                <a:solidFill>
                  <a:srgbClr val="334155"/>
                </a:solidFill>
              </a:rPr>
              <a:t>86.14% win-rate and 80% Top-10 placement under OpenAI text-embedding-3-small.</a:t>
            </a:r>
          </a:p>
          <a:p>
            <a:pPr>
              <a:spcBef>
                <a:spcPts val="500"/>
              </a:spcBef>
              <a:defRPr sz="900">
                <a:latin typeface="Arial"/>
              </a:defRPr>
            </a:pPr>
            <a:r>
              <a:rPr b="1">
                <a:solidFill>
                  <a:srgbClr val="0F172A"/>
                </a:solidFill>
              </a:rPr>
              <a:t>•  Real-World Impact: </a:t>
            </a:r>
            <a:r>
              <a:rPr>
                <a:solidFill>
                  <a:srgbClr val="334155"/>
                </a:solidFill>
              </a:rPr>
              <a:t>In ClawHub realistic ranking (vector + BM25 + popularity), modified skills won 74.14% of trials.</a:t>
            </a:r>
          </a:p>
        </p:txBody>
      </p:sp>
      <p:sp>
        <p:nvSpPr>
          <p:cNvPr id="14" name="Rounded Rectangle 13"/>
          <p:cNvSpPr/>
          <p:nvPr/>
        </p:nvSpPr>
        <p:spPr>
          <a:xfrm>
            <a:off x="4389120" y="2880360"/>
            <a:ext cx="33832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50">
                <a:solidFill>
                  <a:srgbClr val="D97706"/>
                </a:solidFill>
              </a:defRPr>
            </a:pPr>
            <a:r>
              <a:t>2. Selection Manipulation</a:t>
            </a:r>
          </a:p>
          <a:p>
            <a:pPr>
              <a:spcBef>
                <a:spcPts val="500"/>
              </a:spcBef>
              <a:defRPr sz="900">
                <a:latin typeface="Arial"/>
              </a:defRPr>
            </a:pPr>
            <a:r>
              <a:rPr b="1">
                <a:solidFill>
                  <a:srgbClr val="0F172A"/>
                </a:solidFill>
              </a:rPr>
              <a:t>•  Mechanism: </a:t>
            </a:r>
            <a:r>
              <a:rPr>
                <a:solidFill>
                  <a:srgbClr val="334155"/>
                </a:solidFill>
              </a:rPr>
              <a:t>Appending natural-language framing (assertive cues, false advertising) to description fields without altering functionality.</a:t>
            </a:r>
          </a:p>
          <a:p>
            <a:pPr>
              <a:spcBef>
                <a:spcPts val="500"/>
              </a:spcBef>
              <a:defRPr sz="900">
                <a:latin typeface="Arial"/>
              </a:defRPr>
            </a:pPr>
            <a:r>
              <a:rPr b="1">
                <a:solidFill>
                  <a:srgbClr val="0F172A"/>
                </a:solidFill>
              </a:rPr>
              <a:t>•  Agent Preference: </a:t>
            </a:r>
            <a:r>
              <a:rPr>
                <a:solidFill>
                  <a:srgbClr val="334155"/>
                </a:solidFill>
              </a:rPr>
              <a:t>Agents selected adversarial variants in 77.6% of paired trials across 100 ClawHub skills.</a:t>
            </a:r>
          </a:p>
          <a:p>
            <a:pPr>
              <a:spcBef>
                <a:spcPts val="500"/>
              </a:spcBef>
              <a:defRPr sz="900">
                <a:latin typeface="Arial"/>
              </a:defRPr>
            </a:pPr>
            <a:r>
              <a:rPr b="1">
                <a:solidFill>
                  <a:srgbClr val="0F172A"/>
                </a:solidFill>
              </a:rPr>
              <a:t>•  Model Breakdown: </a:t>
            </a:r>
            <a:r>
              <a:rPr>
                <a:solidFill>
                  <a:srgbClr val="334155"/>
                </a:solidFill>
              </a:rPr>
              <a:t>Qwen3-235B: 86.6%, Gemma-4-31B: 84.3%, GPT-5: 71.4%, GPT-4.1-mini: 68.2%.</a:t>
            </a:r>
          </a:p>
        </p:txBody>
      </p:sp>
      <p:sp>
        <p:nvSpPr>
          <p:cNvPr id="15" name="Rounded Rectangle 14"/>
          <p:cNvSpPr/>
          <p:nvPr/>
        </p:nvSpPr>
        <p:spPr>
          <a:xfrm>
            <a:off x="8046720" y="2880360"/>
            <a:ext cx="33832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50">
                <a:solidFill>
                  <a:srgbClr val="DC2626"/>
                </a:solidFill>
              </a:defRPr>
            </a:pPr>
            <a:r>
              <a:t>3. Governance Evasion</a:t>
            </a:r>
          </a:p>
          <a:p>
            <a:pPr>
              <a:spcBef>
                <a:spcPts val="500"/>
              </a:spcBef>
              <a:defRPr sz="900">
                <a:latin typeface="Arial"/>
              </a:defRPr>
            </a:pPr>
            <a:r>
              <a:rPr b="1">
                <a:solidFill>
                  <a:srgbClr val="0F172A"/>
                </a:solidFill>
              </a:rPr>
              <a:t>•  Baseline: </a:t>
            </a:r>
            <a:r>
              <a:rPr>
                <a:solidFill>
                  <a:srgbClr val="334155"/>
                </a:solidFill>
              </a:rPr>
              <a:t>Static rules + ClawScan LLM + VirusTotal caught 100% of direct malicious insertions.</a:t>
            </a:r>
          </a:p>
          <a:p>
            <a:pPr>
              <a:spcBef>
                <a:spcPts val="500"/>
              </a:spcBef>
              <a:defRPr sz="900">
                <a:latin typeface="Arial"/>
              </a:defRPr>
            </a:pPr>
            <a:r>
              <a:rPr b="1">
                <a:solidFill>
                  <a:srgbClr val="0F172A"/>
                </a:solidFill>
              </a:rPr>
              <a:t>•  Semantic Evasion: </a:t>
            </a:r>
            <a:r>
              <a:rPr>
                <a:solidFill>
                  <a:srgbClr val="334155"/>
                </a:solidFill>
              </a:rPr>
              <a:t>Paraphrasing allowed 73.9% of variants to avoid malicious blocks; Definition-of-Done (DoD) checklists avoided 66.3%.</a:t>
            </a:r>
          </a:p>
          <a:p>
            <a:pPr>
              <a:spcBef>
                <a:spcPts val="500"/>
              </a:spcBef>
              <a:defRPr sz="900">
                <a:latin typeface="Arial"/>
              </a:defRPr>
            </a:pPr>
            <a:r>
              <a:rPr b="1">
                <a:solidFill>
                  <a:srgbClr val="0F172A"/>
                </a:solidFill>
              </a:rPr>
              <a:t>•  Window Overflow: </a:t>
            </a:r>
            <a:r>
              <a:rPr>
                <a:solidFill>
                  <a:srgbClr val="334155"/>
                </a:solidFill>
              </a:rPr>
              <a:t>Placing instructions past the 10k character review truncation window yielded a 100% non-blocked bypass.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3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SkillJect: Automated Two-Channel Skill-Based Injection</a:t>
            </a:r>
          </a:p>
          <a:p>
            <a:pPr>
              <a:spcBef>
                <a:spcPts val="300"/>
              </a:spcBef>
              <a:defRPr sz="1050">
                <a:solidFill>
                  <a:srgbClr val="64748B"/>
                </a:solidFill>
                <a:latin typeface="Arial"/>
              </a:defRPr>
            </a:pPr>
            <a:r>
              <a:t>Jia et al. (NTU, Oxford, et al.) — arXiv:2602.14211 | Decoupled Channels &amp; Execution-Trace Optimization</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7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059669"/>
                </a:solidFill>
                <a:latin typeface="Arial"/>
              </a:defRPr>
            </a:pPr>
            <a:r>
              <a:t>0.0%</a:t>
            </a:r>
          </a:p>
          <a:p>
            <a:pPr algn="ctr">
              <a:spcBef>
                <a:spcPts val="200"/>
              </a:spcBef>
              <a:defRPr sz="1000" b="1">
                <a:solidFill>
                  <a:srgbClr val="0F172A"/>
                </a:solidFill>
                <a:latin typeface="Arial"/>
              </a:defRPr>
            </a:pPr>
            <a:r>
              <a:t>Naive Injection ASR</a:t>
            </a:r>
          </a:p>
          <a:p>
            <a:pPr algn="ctr">
              <a:spcBef>
                <a:spcPts val="200"/>
              </a:spcBef>
              <a:defRPr sz="850">
                <a:solidFill>
                  <a:srgbClr val="64748B"/>
                </a:solidFill>
                <a:latin typeface="Arial"/>
              </a:defRPr>
            </a:pPr>
            <a:r>
              <a:t>Direct prompt insertion fails</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80.7%</a:t>
            </a:r>
          </a:p>
          <a:p>
            <a:pPr algn="ctr">
              <a:spcBef>
                <a:spcPts val="200"/>
              </a:spcBef>
              <a:defRPr sz="1000" b="1">
                <a:solidFill>
                  <a:srgbClr val="0F172A"/>
                </a:solidFill>
                <a:latin typeface="Arial"/>
              </a:defRPr>
            </a:pPr>
            <a:r>
              <a:t>SkillJect ASR</a:t>
            </a:r>
          </a:p>
          <a:p>
            <a:pPr algn="ctr">
              <a:spcBef>
                <a:spcPts val="200"/>
              </a:spcBef>
              <a:defRPr sz="850">
                <a:solidFill>
                  <a:srgbClr val="64748B"/>
                </a:solidFill>
                <a:latin typeface="Arial"/>
              </a:defRPr>
            </a:pPr>
            <a:r>
              <a:t>Claude Code average across backends</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80.5%</a:t>
            </a:r>
          </a:p>
          <a:p>
            <a:pPr algn="ctr">
              <a:spcBef>
                <a:spcPts val="200"/>
              </a:spcBef>
              <a:defRPr sz="1000" b="1">
                <a:solidFill>
                  <a:srgbClr val="0F172A"/>
                </a:solidFill>
                <a:latin typeface="Arial"/>
              </a:defRPr>
            </a:pPr>
            <a:r>
              <a:t>OpenClaw ASR</a:t>
            </a:r>
          </a:p>
          <a:p>
            <a:pPr algn="ctr">
              <a:spcBef>
                <a:spcPts val="200"/>
              </a:spcBef>
              <a:defRPr sz="850">
                <a:solidFill>
                  <a:srgbClr val="64748B"/>
                </a:solidFill>
                <a:latin typeface="Arial"/>
              </a:defRPr>
            </a:pPr>
            <a:r>
              <a:t>Consistent cross-platform exploit</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4 Categories</a:t>
            </a:r>
          </a:p>
          <a:p>
            <a:pPr algn="ctr">
              <a:spcBef>
                <a:spcPts val="200"/>
              </a:spcBef>
              <a:defRPr sz="1000" b="1">
                <a:solidFill>
                  <a:srgbClr val="0F172A"/>
                </a:solidFill>
                <a:latin typeface="Arial"/>
              </a:defRPr>
            </a:pPr>
            <a:r>
              <a:t>Evaluated Behaviors</a:t>
            </a:r>
          </a:p>
          <a:p>
            <a:pPr algn="ctr">
              <a:spcBef>
                <a:spcPts val="200"/>
              </a:spcBef>
              <a:defRPr sz="850">
                <a:solidFill>
                  <a:srgbClr val="64748B"/>
                </a:solidFill>
                <a:latin typeface="Arial"/>
              </a:defRPr>
            </a:pPr>
            <a:r>
              <a:t>InfoDisc, PrivEsc, Write, Backdoor</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Two-Channel Decoupled Architecture</a:t>
            </a:r>
          </a:p>
          <a:p>
            <a:pPr>
              <a:spcBef>
                <a:spcPts val="500"/>
              </a:spcBef>
              <a:defRPr sz="950">
                <a:latin typeface="Arial"/>
              </a:defRPr>
            </a:pPr>
            <a:r>
              <a:rPr b="1">
                <a:solidFill>
                  <a:srgbClr val="0F172A"/>
                </a:solidFill>
              </a:rPr>
              <a:t>•  The Core Dilemma: </a:t>
            </a:r>
            <a:r>
              <a:rPr>
                <a:solidFill>
                  <a:srgbClr val="334155"/>
                </a:solidFill>
              </a:rPr>
              <a:t>Direct injection in SKILL.md is easily detected by safety filters or ignored by agents during task execution (0.0% ASR).</a:t>
            </a:r>
          </a:p>
          <a:p>
            <a:pPr>
              <a:spcBef>
                <a:spcPts val="500"/>
              </a:spcBef>
              <a:defRPr sz="950">
                <a:latin typeface="Arial"/>
              </a:defRPr>
            </a:pPr>
            <a:r>
              <a:rPr b="1">
                <a:solidFill>
                  <a:srgbClr val="0F172A"/>
                </a:solidFill>
              </a:rPr>
              <a:t>•  Artifact Channel: </a:t>
            </a:r>
            <a:r>
              <a:rPr>
                <a:solidFill>
                  <a:srgbClr val="334155"/>
                </a:solidFill>
              </a:rPr>
              <a:t>The actual malicious payload is concealed inside an auxiliary helper script (e.g. scripts/helper.py).</a:t>
            </a:r>
          </a:p>
          <a:p>
            <a:pPr>
              <a:spcBef>
                <a:spcPts val="500"/>
              </a:spcBef>
              <a:defRPr sz="950">
                <a:latin typeface="Arial"/>
              </a:defRPr>
            </a:pPr>
            <a:r>
              <a:rPr b="1">
                <a:solidFill>
                  <a:srgbClr val="0F172A"/>
                </a:solidFill>
              </a:rPr>
              <a:t>•  Instruction Channel: </a:t>
            </a:r>
            <a:r>
              <a:rPr>
                <a:solidFill>
                  <a:srgbClr val="334155"/>
                </a:solidFill>
              </a:rPr>
              <a:t>SKILL.md is rewritten with front-loaded inducement, framing script execution as an essential setup requirement with example commands.</a:t>
            </a:r>
          </a:p>
          <a:p>
            <a:pPr>
              <a:spcBef>
                <a:spcPts val="500"/>
              </a:spcBef>
              <a:defRPr sz="950">
                <a:latin typeface="Arial"/>
              </a:defRPr>
            </a:pPr>
            <a:r>
              <a:rPr b="1">
                <a:solidFill>
                  <a:srgbClr val="0F172A"/>
                </a:solidFill>
              </a:rPr>
              <a:t>•  Confused Deputy Trigger: </a:t>
            </a:r>
            <a:r>
              <a:rPr>
                <a:solidFill>
                  <a:srgbClr val="334155"/>
                </a:solidFill>
              </a:rPr>
              <a:t>The victim agent treats the script execution as a legitimate prerequisite before proceeding to the user task.</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Closed-Loop Multi-Agent Refinement</a:t>
            </a:r>
          </a:p>
          <a:p>
            <a:pPr>
              <a:spcBef>
                <a:spcPts val="500"/>
              </a:spcBef>
              <a:defRPr sz="950">
                <a:latin typeface="Arial"/>
              </a:defRPr>
            </a:pPr>
            <a:r>
              <a:rPr b="1">
                <a:solidFill>
                  <a:srgbClr val="0F172A"/>
                </a:solidFill>
              </a:rPr>
              <a:t>•  Tri-Agent Loop: </a:t>
            </a:r>
            <a:r>
              <a:rPr>
                <a:solidFill>
                  <a:srgbClr val="334155"/>
                </a:solidFill>
              </a:rPr>
              <a:t>Attack Agent (GPT-3.5-Turbo) generates skills -&gt; Sandboxed Victim Agent executes tasks -&gt; Evaluate Agent inspects execution traces.</a:t>
            </a:r>
          </a:p>
          <a:p>
            <a:pPr>
              <a:spcBef>
                <a:spcPts val="500"/>
              </a:spcBef>
              <a:defRPr sz="950">
                <a:latin typeface="Arial"/>
              </a:defRPr>
            </a:pPr>
            <a:r>
              <a:rPr b="1">
                <a:solidFill>
                  <a:srgbClr val="0F172A"/>
                </a:solidFill>
              </a:rPr>
              <a:t>•  Trace-Based Feedback: </a:t>
            </a:r>
            <a:r>
              <a:rPr>
                <a:solidFill>
                  <a:srgbClr val="334155"/>
                </a:solidFill>
              </a:rPr>
              <a:t>Refines the inducement wording whenever the agent skips or rejects the script, boosting ASR by over 16.7% across iterations.</a:t>
            </a:r>
          </a:p>
          <a:p>
            <a:pPr>
              <a:spcBef>
                <a:spcPts val="500"/>
              </a:spcBef>
              <a:defRPr sz="950">
                <a:latin typeface="Arial"/>
              </a:defRPr>
            </a:pPr>
            <a:r>
              <a:rPr b="1">
                <a:solidFill>
                  <a:srgbClr val="0F172A"/>
                </a:solidFill>
              </a:rPr>
              <a:t>•  Backend Susceptibility: </a:t>
            </a:r>
            <a:r>
              <a:rPr>
                <a:solidFill>
                  <a:srgbClr val="334155"/>
                </a:solidFill>
              </a:rPr>
              <a:t>GLM-4.7: 97.2%, MiniMax-M2.1: 94.7%, GPT-5-mini: 83.8%, Claude-Sonnet-4.6: 47.0% (most resistant but still compromised).</a:t>
            </a:r>
          </a:p>
          <a:p>
            <a:pPr>
              <a:spcBef>
                <a:spcPts val="500"/>
              </a:spcBef>
              <a:defRPr sz="950">
                <a:latin typeface="Arial"/>
              </a:defRPr>
            </a:pPr>
            <a:r>
              <a:rPr b="1">
                <a:solidFill>
                  <a:srgbClr val="0F172A"/>
                </a:solidFill>
              </a:rPr>
              <a:t>•  Frontier Transfer: </a:t>
            </a:r>
            <a:r>
              <a:rPr>
                <a:solidFill>
                  <a:srgbClr val="334155"/>
                </a:solidFill>
              </a:rPr>
              <a:t>Successfully compromised GPT-5.4, GLM-5.1, MiniMax-M2.7, and DeepSeek-V4-flash.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657600"/>
          </a:xfrm>
          <a:prstGeom prst="rect">
            <a:avLst/>
          </a:prstGeom>
          <a:noFill/>
        </p:spPr>
        <p:txBody>
          <a:bodyPr wrap="square">
            <a:spAutoFit/>
          </a:bodyPr>
          <a:lstStyle/>
          <a:p>
            <a:pPr>
              <a:defRPr sz="1300" b="1">
                <a:solidFill>
                  <a:srgbClr val="F87171"/>
                </a:solidFill>
                <a:latin typeface="Arial"/>
              </a:defRPr>
            </a:pPr>
            <a:r>
              <a:t>THEME 2: REAL-WORLD ECOSYSTEM AUDITS &amp; IN-THE-WILD ATTACKS (PART 2)</a:t>
            </a:r>
          </a:p>
          <a:p>
            <a:pPr>
              <a:spcBef>
                <a:spcPts val="1000"/>
              </a:spcBef>
              <a:defRPr sz="2800" b="1">
                <a:solidFill>
                  <a:srgbClr val="FFFFFF"/>
                </a:solidFill>
                <a:latin typeface="Arial"/>
              </a:defRPr>
            </a:pPr>
            <a:r>
              <a:t>Empirical Audits at Scale, Benchmark Foundations, and Camouflage Poisoning</a:t>
            </a:r>
          </a:p>
          <a:p>
            <a:pPr>
              <a:spcBef>
                <a:spcPts val="1000"/>
              </a:spcBef>
              <a:defRPr sz="1300">
                <a:solidFill>
                  <a:srgbClr val="CBD5E1"/>
                </a:solidFill>
                <a:latin typeface="Arial"/>
              </a:defRPr>
            </a:pPr>
            <a:r>
              <a:t>Moving from lab-crafted attacks to large-scale audits: measuring 31k–98k real-world skills, benchmark vulnerabilities, stealth DDIPE poisoning, and scanner bias.</a:t>
            </a:r>
          </a:p>
        </p:txBody>
      </p:sp>
      <p:sp>
        <p:nvSpPr>
          <p:cNvPr id="4" name="Rounded Rectangle 3"/>
          <p:cNvSpPr/>
          <p:nvPr/>
        </p:nvSpPr>
        <p:spPr>
          <a:xfrm>
            <a:off x="914400" y="4114800"/>
            <a:ext cx="192024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b="1" sz="950">
                <a:solidFill>
                  <a:srgbClr val="FECACA"/>
                </a:solidFill>
              </a:defRPr>
            </a:pPr>
            <a:r>
              <a:t>Paper 4: Wild Scale</a:t>
            </a:r>
          </a:p>
          <a:p>
            <a:pPr>
              <a:defRPr sz="800">
                <a:solidFill>
                  <a:srgbClr val="E2E8F0"/>
                </a:solidFill>
              </a:defRPr>
            </a:pPr>
            <a:r>
              <a:t>Liu et al. (2026)</a:t>
            </a:r>
            <a:br/>
            <a:r>
              <a:t>31,132 skills audit;</a:t>
            </a:r>
            <a:br/>
            <a:r>
              <a:t>26.1% vuln rate.</a:t>
            </a:r>
          </a:p>
        </p:txBody>
      </p:sp>
      <p:sp>
        <p:nvSpPr>
          <p:cNvPr id="5" name="Rounded Rectangle 4"/>
          <p:cNvSpPr/>
          <p:nvPr/>
        </p:nvSpPr>
        <p:spPr>
          <a:xfrm>
            <a:off x="2971800" y="4114800"/>
            <a:ext cx="192024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b="1" sz="950">
                <a:solidFill>
                  <a:srgbClr val="FECACA"/>
                </a:solidFill>
              </a:defRPr>
            </a:pPr>
            <a:r>
              <a:t>Paper 5: SKILL-INJECT</a:t>
            </a:r>
          </a:p>
          <a:p>
            <a:pPr>
              <a:defRPr sz="800">
                <a:solidFill>
                  <a:srgbClr val="E2E8F0"/>
                </a:solidFill>
              </a:defRPr>
            </a:pPr>
            <a:r>
              <a:t>Schmotz et al. (2026)</a:t>
            </a:r>
            <a:br/>
            <a:r>
              <a:t>202 attack pairs;</a:t>
            </a:r>
            <a:br/>
            <a:r>
              <a:t>frontier LLMs benchmark.</a:t>
            </a:r>
          </a:p>
        </p:txBody>
      </p:sp>
      <p:sp>
        <p:nvSpPr>
          <p:cNvPr id="6" name="Rounded Rectangle 5"/>
          <p:cNvSpPr/>
          <p:nvPr/>
        </p:nvSpPr>
        <p:spPr>
          <a:xfrm>
            <a:off x="5029200" y="4114800"/>
            <a:ext cx="192024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b="1" sz="950">
                <a:solidFill>
                  <a:srgbClr val="FECACA"/>
                </a:solidFill>
              </a:defRPr>
            </a:pPr>
            <a:r>
              <a:t>Paper 6: DDIPE Poisoning</a:t>
            </a:r>
          </a:p>
          <a:p>
            <a:pPr>
              <a:defRPr sz="800">
                <a:solidFill>
                  <a:srgbClr val="E2E8F0"/>
                </a:solidFill>
              </a:defRPr>
            </a:pPr>
            <a:r>
              <a:t>Qu et al. (2026)</a:t>
            </a:r>
            <a:br/>
            <a:r>
              <a:t>PoisonedSkills; 4 CVEs;</a:t>
            </a:r>
            <a:br/>
            <a:r>
              <a:t>stealth doc camouflage.</a:t>
            </a:r>
          </a:p>
        </p:txBody>
      </p:sp>
      <p:sp>
        <p:nvSpPr>
          <p:cNvPr id="7" name="Rounded Rectangle 6"/>
          <p:cNvSpPr/>
          <p:nvPr/>
        </p:nvSpPr>
        <p:spPr>
          <a:xfrm>
            <a:off x="7086600" y="4114800"/>
            <a:ext cx="192024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b="1" sz="950">
                <a:solidFill>
                  <a:srgbClr val="FECACA"/>
                </a:solidFill>
              </a:defRPr>
            </a:pPr>
            <a:r>
              <a:t>Paper 7: In-the-Wild</a:t>
            </a:r>
          </a:p>
          <a:p>
            <a:pPr>
              <a:defRPr sz="800">
                <a:solidFill>
                  <a:srgbClr val="E2E8F0"/>
                </a:solidFill>
              </a:defRPr>
            </a:pPr>
            <a:r>
              <a:t>Liu, Chen et al. (2026)</a:t>
            </a:r>
            <a:br/>
            <a:r>
              <a:t>98k skills; 157 malicious;</a:t>
            </a:r>
            <a:br/>
            <a:r>
              <a:t>two attack archetypes.</a:t>
            </a:r>
          </a:p>
        </p:txBody>
      </p:sp>
      <p:sp>
        <p:nvSpPr>
          <p:cNvPr id="8" name="Rounded Rectangle 7"/>
          <p:cNvSpPr/>
          <p:nvPr/>
        </p:nvSpPr>
        <p:spPr>
          <a:xfrm>
            <a:off x="9144000" y="4114800"/>
            <a:ext cx="192024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b="1" sz="950">
                <a:solidFill>
                  <a:srgbClr val="FECACA"/>
                </a:solidFill>
              </a:defRPr>
            </a:pPr>
            <a:r>
              <a:t>Paper 8: Safety in Every Lang</a:t>
            </a:r>
          </a:p>
          <a:p>
            <a:pPr>
              <a:defRPr sz="800">
                <a:solidFill>
                  <a:srgbClr val="E2E8F0"/>
                </a:solidFill>
              </a:defRPr>
            </a:pPr>
            <a:r>
              <a:t>Anonymous (2026)</a:t>
            </a:r>
            <a:br/>
            <a:r>
              <a:t>3,656 skills in 8 langs;</a:t>
            </a:r>
            <a:br/>
            <a:r>
              <a:t>scanner calibration gap.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4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Agent Skills in the Wild: Security Vulnerabilities at Scale</a:t>
            </a:r>
          </a:p>
          <a:p>
            <a:pPr>
              <a:spcBef>
                <a:spcPts val="300"/>
              </a:spcBef>
              <a:defRPr sz="1050">
                <a:solidFill>
                  <a:srgbClr val="64748B"/>
                </a:solidFill>
                <a:latin typeface="Arial"/>
              </a:defRPr>
            </a:pPr>
            <a:r>
              <a:t>Liu et al. — arXiv:2601.10338 | First Large-Scale Audit of 31,132 Unique Skills from skills.rest &amp; skillsmp.com</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9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31,132</a:t>
            </a:r>
          </a:p>
          <a:p>
            <a:pPr algn="ctr">
              <a:spcBef>
                <a:spcPts val="200"/>
              </a:spcBef>
              <a:defRPr sz="1000" b="1">
                <a:solidFill>
                  <a:srgbClr val="0F172A"/>
                </a:solidFill>
                <a:latin typeface="Arial"/>
              </a:defRPr>
            </a:pPr>
            <a:r>
              <a:t>Analyzed Skills</a:t>
            </a:r>
          </a:p>
          <a:p>
            <a:pPr algn="ctr">
              <a:spcBef>
                <a:spcPts val="200"/>
              </a:spcBef>
              <a:defRPr sz="850">
                <a:solidFill>
                  <a:srgbClr val="64748B"/>
                </a:solidFill>
                <a:latin typeface="Arial"/>
              </a:defRPr>
            </a:pPr>
            <a:r>
              <a:t>Full dataset from 2 registries</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26.1%</a:t>
            </a:r>
          </a:p>
          <a:p>
            <a:pPr algn="ctr">
              <a:spcBef>
                <a:spcPts val="200"/>
              </a:spcBef>
              <a:defRPr sz="1000" b="1">
                <a:solidFill>
                  <a:srgbClr val="0F172A"/>
                </a:solidFill>
                <a:latin typeface="Arial"/>
              </a:defRPr>
            </a:pPr>
            <a:r>
              <a:t>Vulnerability Rate</a:t>
            </a:r>
          </a:p>
          <a:p>
            <a:pPr algn="ctr">
              <a:spcBef>
                <a:spcPts val="200"/>
              </a:spcBef>
              <a:defRPr sz="850">
                <a:solidFill>
                  <a:srgbClr val="64748B"/>
                </a:solidFill>
                <a:latin typeface="Arial"/>
              </a:defRPr>
            </a:pPr>
            <a:r>
              <a:t>1,489 confirmed vulnerable skills</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97706"/>
                </a:solidFill>
                <a:latin typeface="Arial"/>
              </a:defRPr>
            </a:pPr>
            <a:r>
              <a:t>14.1%</a:t>
            </a:r>
          </a:p>
          <a:p>
            <a:pPr algn="ctr">
              <a:spcBef>
                <a:spcPts val="200"/>
              </a:spcBef>
              <a:defRPr sz="1000" b="1">
                <a:solidFill>
                  <a:srgbClr val="0F172A"/>
                </a:solidFill>
                <a:latin typeface="Arial"/>
              </a:defRPr>
            </a:pPr>
            <a:r>
              <a:t>Suspicious Authors</a:t>
            </a:r>
          </a:p>
          <a:p>
            <a:pPr algn="ctr">
              <a:spcBef>
                <a:spcPts val="200"/>
              </a:spcBef>
              <a:defRPr sz="850">
                <a:solidFill>
                  <a:srgbClr val="64748B"/>
                </a:solidFill>
                <a:latin typeface="Arial"/>
              </a:defRPr>
            </a:pPr>
            <a:r>
              <a:t>753 authors contributing high-risk code</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4 Categories</a:t>
            </a:r>
          </a:p>
          <a:p>
            <a:pPr algn="ctr">
              <a:spcBef>
                <a:spcPts val="200"/>
              </a:spcBef>
              <a:defRPr sz="1000" b="1">
                <a:solidFill>
                  <a:srgbClr val="0F172A"/>
                </a:solidFill>
                <a:latin typeface="Arial"/>
              </a:defRPr>
            </a:pPr>
            <a:r>
              <a:t>Vulnerability Taxonomy</a:t>
            </a:r>
          </a:p>
          <a:p>
            <a:pPr algn="ctr">
              <a:spcBef>
                <a:spcPts val="200"/>
              </a:spcBef>
              <a:defRPr sz="850">
                <a:solidFill>
                  <a:srgbClr val="64748B"/>
                </a:solidFill>
                <a:latin typeface="Arial"/>
              </a:defRPr>
            </a:pPr>
            <a:r>
              <a:t>Injection, Exfiltration, PrivEsc, Exec</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Methodology &amp; Vulnerability Taxonomy</a:t>
            </a:r>
          </a:p>
          <a:p>
            <a:pPr>
              <a:spcBef>
                <a:spcPts val="500"/>
              </a:spcBef>
              <a:defRPr sz="950">
                <a:latin typeface="Arial"/>
              </a:defRPr>
            </a:pPr>
            <a:r>
              <a:rPr b="1">
                <a:solidFill>
                  <a:srgbClr val="0F172A"/>
                </a:solidFill>
              </a:rPr>
              <a:t>•  Corpus: </a:t>
            </a:r>
            <a:r>
              <a:rPr>
                <a:solidFill>
                  <a:srgbClr val="334155"/>
                </a:solidFill>
              </a:rPr>
              <a:t>Crawled 31,132 skills (20,048 skills.rest, 11,084 skillsmp.com); 11.5% bundle executable scripts (Python, Bash, JS).</a:t>
            </a:r>
          </a:p>
          <a:p>
            <a:pPr>
              <a:spcBef>
                <a:spcPts val="500"/>
              </a:spcBef>
              <a:defRPr sz="950">
                <a:latin typeface="Arial"/>
              </a:defRPr>
            </a:pPr>
            <a:r>
              <a:rPr b="1">
                <a:solidFill>
                  <a:srgbClr val="0F172A"/>
                </a:solidFill>
              </a:rPr>
              <a:t>•  Prompt Injection: </a:t>
            </a:r>
            <a:r>
              <a:rPr>
                <a:solidFill>
                  <a:srgbClr val="334155"/>
                </a:solidFill>
              </a:rPr>
              <a:t>Identified hidden Markdown comments (`[//]: #`) instructing models to exfiltrate project trees silently.</a:t>
            </a:r>
          </a:p>
          <a:p>
            <a:pPr>
              <a:spcBef>
                <a:spcPts val="500"/>
              </a:spcBef>
              <a:defRPr sz="950">
                <a:latin typeface="Arial"/>
              </a:defRPr>
            </a:pPr>
            <a:r>
              <a:rPr b="1">
                <a:solidFill>
                  <a:srgbClr val="0F172A"/>
                </a:solidFill>
              </a:rPr>
              <a:t>•  Data Exfiltration: </a:t>
            </a:r>
            <a:r>
              <a:rPr>
                <a:solidFill>
                  <a:srgbClr val="334155"/>
                </a:solidFill>
              </a:rPr>
              <a:t>127 skills harvest environment variables (API keys, passwords); 89 skills transmit data to hardcoded URLs without consent.</a:t>
            </a:r>
          </a:p>
          <a:p>
            <a:pPr>
              <a:spcBef>
                <a:spcPts val="500"/>
              </a:spcBef>
              <a:defRPr sz="950">
                <a:latin typeface="Arial"/>
              </a:defRPr>
            </a:pPr>
            <a:r>
              <a:rPr b="1">
                <a:solidFill>
                  <a:srgbClr val="0F172A"/>
                </a:solidFill>
              </a:rPr>
              <a:t>•  Dual-Use Dilemma: </a:t>
            </a:r>
            <a:r>
              <a:rPr>
                <a:solidFill>
                  <a:srgbClr val="334155"/>
                </a:solidFill>
              </a:rPr>
              <a:t>Red-team and penetration testing tools intentionally escalate privileges, complicating automated static triage.</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Ecosystem Comparison &amp; Structural Gaps</a:t>
            </a:r>
          </a:p>
          <a:p>
            <a:pPr>
              <a:spcBef>
                <a:spcPts val="500"/>
              </a:spcBef>
              <a:defRPr sz="950">
                <a:latin typeface="Arial"/>
              </a:defRPr>
            </a:pPr>
            <a:r>
              <a:rPr b="1">
                <a:solidFill>
                  <a:srgbClr val="0F172A"/>
                </a:solidFill>
              </a:rPr>
              <a:t>•  No Security Sandbox: </a:t>
            </a:r>
            <a:r>
              <a:rPr>
                <a:solidFill>
                  <a:srgbClr val="334155"/>
                </a:solidFill>
              </a:rPr>
              <a:t>Browser extensions (Manifest V3) and IDE plugins enforce API restrictions; agent skills execute with full user privileges.</a:t>
            </a:r>
          </a:p>
          <a:p>
            <a:pPr>
              <a:spcBef>
                <a:spcPts val="500"/>
              </a:spcBef>
              <a:defRPr sz="950">
                <a:latin typeface="Arial"/>
              </a:defRPr>
            </a:pPr>
            <a:r>
              <a:rPr b="1">
                <a:solidFill>
                  <a:srgbClr val="0F172A"/>
                </a:solidFill>
              </a:rPr>
              <a:t>•  Missing Controls: </a:t>
            </a:r>
            <a:r>
              <a:rPr>
                <a:solidFill>
                  <a:srgbClr val="334155"/>
                </a:solidFill>
              </a:rPr>
              <a:t>Zero mandatory review, zero code signing, and zero permission scoping across all current public skill marketplaces.</a:t>
            </a:r>
          </a:p>
          <a:p>
            <a:pPr>
              <a:spcBef>
                <a:spcPts val="500"/>
              </a:spcBef>
              <a:defRPr sz="950">
                <a:latin typeface="Arial"/>
              </a:defRPr>
            </a:pPr>
            <a:r>
              <a:rPr b="1">
                <a:solidFill>
                  <a:srgbClr val="0F172A"/>
                </a:solidFill>
              </a:rPr>
              <a:t>•  Author Distribution: </a:t>
            </a:r>
            <a:r>
              <a:rPr>
                <a:solidFill>
                  <a:srgbClr val="334155"/>
                </a:solidFill>
              </a:rPr>
              <a:t>Identified two author profiles: established developers exhibiting security negligence, and new accounts with concentrated risk.</a:t>
            </a:r>
          </a:p>
          <a:p>
            <a:pPr>
              <a:spcBef>
                <a:spcPts val="500"/>
              </a:spcBef>
              <a:defRPr sz="950">
                <a:latin typeface="Arial"/>
              </a:defRPr>
            </a:pPr>
            <a:r>
              <a:rPr b="1">
                <a:solidFill>
                  <a:srgbClr val="0F172A"/>
                </a:solidFill>
              </a:rPr>
              <a:t>•  Key Limitation: </a:t>
            </a:r>
            <a:r>
              <a:rPr>
                <a:solidFill>
                  <a:srgbClr val="334155"/>
                </a:solidFill>
              </a:rPr>
              <a:t>Static analysis misses dynamic skill chaining or runtime context-sharing across multi-tenant agents.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5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SKILL-INJECT: Measuring Agent Vulnerability to Skill Files</a:t>
            </a:r>
          </a:p>
          <a:p>
            <a:pPr>
              <a:spcBef>
                <a:spcPts val="300"/>
              </a:spcBef>
              <a:defRPr sz="1050">
                <a:solidFill>
                  <a:srgbClr val="64748B"/>
                </a:solidFill>
                <a:latin typeface="Arial"/>
              </a:defRPr>
            </a:pPr>
            <a:r>
              <a:t>Schmotz, Beurer-Kellner, Abdelnabi, Andriushchenko — arXiv:2602.20156 | 202 Task Pairs across Frontier LLMs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10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202 Pairs</a:t>
            </a:r>
          </a:p>
          <a:p>
            <a:pPr algn="ctr">
              <a:spcBef>
                <a:spcPts val="200"/>
              </a:spcBef>
              <a:defRPr sz="1000" b="1">
                <a:solidFill>
                  <a:srgbClr val="0F172A"/>
                </a:solidFill>
                <a:latin typeface="Arial"/>
              </a:defRPr>
            </a:pPr>
            <a:r>
              <a:t>Benchmark Tasks</a:t>
            </a:r>
          </a:p>
          <a:p>
            <a:pPr algn="ctr">
              <a:spcBef>
                <a:spcPts val="200"/>
              </a:spcBef>
              <a:defRPr sz="850">
                <a:solidFill>
                  <a:srgbClr val="64748B"/>
                </a:solidFill>
                <a:latin typeface="Arial"/>
              </a:defRPr>
            </a:pPr>
            <a:r>
              <a:t>23 skills, 8 attack categories</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77.8%</a:t>
            </a:r>
          </a:p>
          <a:p>
            <a:pPr algn="ctr">
              <a:spcBef>
                <a:spcPts val="200"/>
              </a:spcBef>
              <a:defRPr sz="1000" b="1">
                <a:solidFill>
                  <a:srgbClr val="0F172A"/>
                </a:solidFill>
                <a:latin typeface="Arial"/>
              </a:defRPr>
            </a:pPr>
            <a:r>
              <a:t>Peak BoN ASR</a:t>
            </a:r>
          </a:p>
          <a:p>
            <a:pPr algn="ctr">
              <a:spcBef>
                <a:spcPts val="200"/>
              </a:spcBef>
              <a:defRPr sz="850">
                <a:solidFill>
                  <a:srgbClr val="64748B"/>
                </a:solidFill>
                <a:latin typeface="Arial"/>
              </a:defRPr>
            </a:pPr>
            <a:r>
              <a:t>GPT-5.1-Codex-Mini exploit rate</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3 Policies</a:t>
            </a:r>
          </a:p>
          <a:p>
            <a:pPr algn="ctr">
              <a:spcBef>
                <a:spcPts val="200"/>
              </a:spcBef>
              <a:defRPr sz="1000" b="1">
                <a:solidFill>
                  <a:srgbClr val="0F172A"/>
                </a:solidFill>
                <a:latin typeface="Arial"/>
              </a:defRPr>
            </a:pPr>
            <a:r>
              <a:t>Security Conditions</a:t>
            </a:r>
          </a:p>
          <a:p>
            <a:pPr algn="ctr">
              <a:spcBef>
                <a:spcPts val="200"/>
              </a:spcBef>
              <a:defRPr sz="850">
                <a:solidFill>
                  <a:srgbClr val="64748B"/>
                </a:solidFill>
                <a:latin typeface="Arial"/>
              </a:defRPr>
            </a:pPr>
            <a:r>
              <a:t>Normal, Legitimizing, Warning</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D97706"/>
                </a:solidFill>
                <a:latin typeface="Arial"/>
              </a:defRPr>
            </a:pPr>
            <a:r>
              <a:t>High Refusals</a:t>
            </a:r>
          </a:p>
          <a:p>
            <a:pPr algn="ctr">
              <a:spcBef>
                <a:spcPts val="200"/>
              </a:spcBef>
              <a:defRPr sz="1000" b="1">
                <a:solidFill>
                  <a:srgbClr val="0F172A"/>
                </a:solidFill>
                <a:latin typeface="Arial"/>
              </a:defRPr>
            </a:pPr>
            <a:r>
              <a:t>LLM Screener Flaw</a:t>
            </a:r>
          </a:p>
          <a:p>
            <a:pPr algn="ctr">
              <a:spcBef>
                <a:spcPts val="200"/>
              </a:spcBef>
              <a:defRPr sz="850">
                <a:solidFill>
                  <a:srgbClr val="64748B"/>
                </a:solidFill>
                <a:latin typeface="Arial"/>
              </a:defRPr>
            </a:pPr>
            <a:r>
              <a:t>False-positives on benign tasks</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Benchmark Architecture &amp; Models</a:t>
            </a:r>
          </a:p>
          <a:p>
            <a:pPr>
              <a:spcBef>
                <a:spcPts val="500"/>
              </a:spcBef>
              <a:defRPr sz="950">
                <a:latin typeface="Arial"/>
              </a:defRPr>
            </a:pPr>
            <a:r>
              <a:rPr b="1">
                <a:solidFill>
                  <a:srgbClr val="0F172A"/>
                </a:solidFill>
              </a:rPr>
              <a:t>•  Dual Attack Design: </a:t>
            </a:r>
            <a:r>
              <a:rPr>
                <a:solidFill>
                  <a:srgbClr val="334155"/>
                </a:solidFill>
              </a:rPr>
              <a:t>30 obvious injections (ransomware, filesystem wiping) and 41 contextual injections (looks benign without security context).</a:t>
            </a:r>
          </a:p>
          <a:p>
            <a:pPr>
              <a:spcBef>
                <a:spcPts val="500"/>
              </a:spcBef>
              <a:defRPr sz="950">
                <a:latin typeface="Arial"/>
              </a:defRPr>
            </a:pPr>
            <a:r>
              <a:rPr b="1">
                <a:solidFill>
                  <a:srgbClr val="0F172A"/>
                </a:solidFill>
              </a:rPr>
              <a:t>•  Tested Frontier Models: </a:t>
            </a:r>
            <a:r>
              <a:rPr>
                <a:solidFill>
                  <a:srgbClr val="334155"/>
                </a:solidFill>
              </a:rPr>
              <a:t>Gemini 2.5/3 (Flash/Pro), GPT-5.1/5.2 (Codex/Standard), and Claude 4.5 (Sonnet, Opus, Haiku).</a:t>
            </a:r>
          </a:p>
          <a:p>
            <a:pPr>
              <a:spcBef>
                <a:spcPts val="500"/>
              </a:spcBef>
              <a:defRPr sz="950">
                <a:latin typeface="Arial"/>
              </a:defRPr>
            </a:pPr>
            <a:r>
              <a:rPr b="1">
                <a:solidFill>
                  <a:srgbClr val="0F172A"/>
                </a:solidFill>
              </a:rPr>
              <a:t>•  Single-Attempt ASR: </a:t>
            </a:r>
            <a:r>
              <a:rPr>
                <a:solidFill>
                  <a:srgbClr val="334155"/>
                </a:solidFill>
              </a:rPr>
              <a:t>GPT-5.1-Codex-Mini: 68.3%, Claude Sonnet 4.5: 46.3%, GPT-5.2-Codex: 42.7% on normal tasks.</a:t>
            </a:r>
          </a:p>
          <a:p>
            <a:pPr>
              <a:spcBef>
                <a:spcPts val="500"/>
              </a:spcBef>
              <a:defRPr sz="950">
                <a:latin typeface="Arial"/>
              </a:defRPr>
            </a:pPr>
            <a:r>
              <a:rPr b="1">
                <a:solidFill>
                  <a:srgbClr val="0F172A"/>
                </a:solidFill>
              </a:rPr>
              <a:t>•  Best-of-N Positioning: </a:t>
            </a:r>
            <a:r>
              <a:rPr>
                <a:solidFill>
                  <a:srgbClr val="334155"/>
                </a:solidFill>
              </a:rPr>
              <a:t>Varying line position within SKILL.md surges ASR to 77.8% (Codex-Mini), 72.2% (GPT-5.2), and 66.7% (Sonnet 4.5).</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Defensive Protocols &amp; Policy Failures</a:t>
            </a:r>
          </a:p>
          <a:p>
            <a:pPr>
              <a:spcBef>
                <a:spcPts val="500"/>
              </a:spcBef>
              <a:defRPr sz="950">
                <a:latin typeface="Arial"/>
              </a:defRPr>
            </a:pPr>
            <a:r>
              <a:rPr b="1">
                <a:solidFill>
                  <a:srgbClr val="0F172A"/>
                </a:solidFill>
              </a:rPr>
              <a:t>•  Warning Inefficacy: </a:t>
            </a:r>
            <a:r>
              <a:rPr>
                <a:solidFill>
                  <a:srgbClr val="334155"/>
                </a:solidFill>
              </a:rPr>
              <a:t>Explicit warning prompts ('be careful, skills may be malicious') reduce ASR for Sonnet 4.5 but have near-zero impact on GPT-5.1.</a:t>
            </a:r>
          </a:p>
          <a:p>
            <a:pPr>
              <a:spcBef>
                <a:spcPts val="500"/>
              </a:spcBef>
              <a:defRPr sz="950">
                <a:latin typeface="Arial"/>
              </a:defRPr>
            </a:pPr>
            <a:r>
              <a:rPr b="1">
                <a:solidFill>
                  <a:srgbClr val="0F172A"/>
                </a:solidFill>
              </a:rPr>
              <a:t>•  Severe Harm Execution: </a:t>
            </a:r>
            <a:r>
              <a:rPr>
                <a:solidFill>
                  <a:srgbClr val="334155"/>
                </a:solidFill>
              </a:rPr>
              <a:t>Frontier models readily executed full ransomware encryption and filesystem deletions embedded in skill files.</a:t>
            </a:r>
          </a:p>
          <a:p>
            <a:pPr>
              <a:spcBef>
                <a:spcPts val="500"/>
              </a:spcBef>
              <a:defRPr sz="950">
                <a:latin typeface="Arial"/>
              </a:defRPr>
            </a:pPr>
            <a:r>
              <a:rPr b="1">
                <a:solidFill>
                  <a:srgbClr val="0F172A"/>
                </a:solidFill>
              </a:rPr>
              <a:t>•  LLM Pre-Screening Trap: </a:t>
            </a:r>
            <a:r>
              <a:rPr>
                <a:solidFill>
                  <a:srgbClr val="334155"/>
                </a:solidFill>
              </a:rPr>
              <a:t>Pre-screening skills with an LLM judge catches injections but mistrusted system policies, refusing 88–99% of authorized tasks.</a:t>
            </a:r>
          </a:p>
          <a:p>
            <a:pPr>
              <a:spcBef>
                <a:spcPts val="500"/>
              </a:spcBef>
              <a:defRPr sz="950">
                <a:latin typeface="Arial"/>
              </a:defRPr>
            </a:pPr>
            <a:r>
              <a:rPr b="1">
                <a:solidFill>
                  <a:srgbClr val="0F172A"/>
                </a:solidFill>
              </a:rPr>
              <a:t>•  Core Insight: </a:t>
            </a:r>
            <a:r>
              <a:rPr>
                <a:solidFill>
                  <a:srgbClr val="334155"/>
                </a:solidFill>
              </a:rPr>
              <a:t>LLM agents lack a grounded, context-aware authorization model; warnings cannot compensate for structural control-data conflation.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6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PoisonedSkills: Document-Driven Implicit Payload Execution</a:t>
            </a:r>
          </a:p>
          <a:p>
            <a:pPr>
              <a:spcBef>
                <a:spcPts val="300"/>
              </a:spcBef>
              <a:defRPr sz="1050">
                <a:solidFill>
                  <a:srgbClr val="64748B"/>
                </a:solidFill>
                <a:latin typeface="Arial"/>
              </a:defRPr>
            </a:pPr>
            <a:r>
              <a:t>Qu et al. — arXiv:2604.03081 | 1,070 Adversarial Skills across 4 Frameworks &amp; 5 Models, Disclosing 4 Production CVEs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11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1,070</a:t>
            </a:r>
          </a:p>
          <a:p>
            <a:pPr algn="ctr">
              <a:spcBef>
                <a:spcPts val="200"/>
              </a:spcBef>
              <a:defRPr sz="1000" b="1">
                <a:solidFill>
                  <a:srgbClr val="0F172A"/>
                </a:solidFill>
                <a:latin typeface="Arial"/>
              </a:defRPr>
            </a:pPr>
            <a:r>
              <a:t>Adversarial Skills</a:t>
            </a:r>
          </a:p>
          <a:p>
            <a:pPr algn="ctr">
              <a:spcBef>
                <a:spcPts val="200"/>
              </a:spcBef>
              <a:defRPr sz="850">
                <a:solidFill>
                  <a:srgbClr val="64748B"/>
                </a:solidFill>
                <a:latin typeface="Arial"/>
              </a:defRPr>
            </a:pPr>
            <a:r>
              <a:t>Generated via Claude Opus 4.6</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059669"/>
                </a:solidFill>
                <a:latin typeface="Arial"/>
              </a:defRPr>
            </a:pPr>
            <a:r>
              <a:t>0 Lexical Flags</a:t>
            </a:r>
          </a:p>
          <a:p>
            <a:pPr algn="ctr">
              <a:spcBef>
                <a:spcPts val="200"/>
              </a:spcBef>
              <a:defRPr sz="1000" b="1">
                <a:solidFill>
                  <a:srgbClr val="0F172A"/>
                </a:solidFill>
                <a:latin typeface="Arial"/>
              </a:defRPr>
            </a:pPr>
            <a:r>
              <a:t>Stealth Camouflage</a:t>
            </a:r>
          </a:p>
          <a:p>
            <a:pPr algn="ctr">
              <a:spcBef>
                <a:spcPts val="200"/>
              </a:spcBef>
              <a:defRPr sz="850">
                <a:solidFill>
                  <a:srgbClr val="64748B"/>
                </a:solidFill>
                <a:latin typeface="Arial"/>
              </a:defRPr>
            </a:pPr>
            <a:r>
              <a:t>Zero offensive keywords used</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2.4% -&gt; 27.1%</a:t>
            </a:r>
          </a:p>
          <a:p>
            <a:pPr algn="ctr">
              <a:spcBef>
                <a:spcPts val="200"/>
              </a:spcBef>
              <a:defRPr sz="1000" b="1">
                <a:solidFill>
                  <a:srgbClr val="0F172A"/>
                </a:solidFill>
                <a:latin typeface="Arial"/>
              </a:defRPr>
            </a:pPr>
            <a:r>
              <a:t>Guardrail Amplification</a:t>
            </a:r>
          </a:p>
          <a:p>
            <a:pPr algn="ctr">
              <a:spcBef>
                <a:spcPts val="200"/>
              </a:spcBef>
              <a:defRPr sz="850">
                <a:solidFill>
                  <a:srgbClr val="64748B"/>
                </a:solidFill>
                <a:latin typeface="Arial"/>
              </a:defRPr>
            </a:pPr>
            <a:r>
              <a:t>Weak models rely on scaffolding</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1.6%</a:t>
            </a:r>
          </a:p>
          <a:p>
            <a:pPr algn="ctr">
              <a:spcBef>
                <a:spcPts val="200"/>
              </a:spcBef>
              <a:defRPr sz="1000" b="1">
                <a:solidFill>
                  <a:srgbClr val="0F172A"/>
                </a:solidFill>
                <a:latin typeface="Arial"/>
              </a:defRPr>
            </a:pPr>
            <a:r>
              <a:t>Universal Penetration</a:t>
            </a:r>
          </a:p>
          <a:p>
            <a:pPr algn="ctr">
              <a:spcBef>
                <a:spcPts val="200"/>
              </a:spcBef>
              <a:defRPr sz="850">
                <a:solidFill>
                  <a:srgbClr val="64748B"/>
                </a:solidFill>
                <a:latin typeface="Arial"/>
              </a:defRPr>
            </a:pPr>
            <a:r>
              <a:t>Only 1.6% bypass all models</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DDIPE Attack Mechanism &amp; CVEs</a:t>
            </a:r>
          </a:p>
          <a:p>
            <a:pPr>
              <a:spcBef>
                <a:spcPts val="500"/>
              </a:spcBef>
              <a:defRPr sz="950">
                <a:latin typeface="Arial"/>
              </a:defRPr>
            </a:pPr>
            <a:r>
              <a:rPr b="1">
                <a:solidFill>
                  <a:srgbClr val="0F172A"/>
                </a:solidFill>
              </a:rPr>
              <a:t>•  Document-Driven Execution: </a:t>
            </a:r>
            <a:r>
              <a:rPr>
                <a:solidFill>
                  <a:srgbClr val="334155"/>
                </a:solidFill>
              </a:rPr>
              <a:t>Camouflages malicious instructions as standard documentation (compliance reports, config writes, DevOps hooks).</a:t>
            </a:r>
          </a:p>
          <a:p>
            <a:pPr>
              <a:spcBef>
                <a:spcPts val="500"/>
              </a:spcBef>
              <a:defRPr sz="950">
                <a:latin typeface="Arial"/>
              </a:defRPr>
            </a:pPr>
            <a:r>
              <a:rPr b="1">
                <a:solidFill>
                  <a:srgbClr val="0F172A"/>
                </a:solidFill>
              </a:rPr>
              <a:t>•  Lexical Invisibility: </a:t>
            </a:r>
            <a:r>
              <a:rPr>
                <a:solidFill>
                  <a:srgbClr val="334155"/>
                </a:solidFill>
              </a:rPr>
              <a:t>Bypasses SkillScan and keyword scanners because payloads use routine operational phrasing without attack triggers.</a:t>
            </a:r>
          </a:p>
          <a:p>
            <a:pPr>
              <a:spcBef>
                <a:spcPts val="500"/>
              </a:spcBef>
              <a:defRPr sz="950">
                <a:latin typeface="Arial"/>
              </a:defRPr>
            </a:pPr>
            <a:r>
              <a:rPr b="1">
                <a:solidFill>
                  <a:srgbClr val="0F172A"/>
                </a:solidFill>
              </a:rPr>
              <a:t>•  Framework Testbed: </a:t>
            </a:r>
            <a:r>
              <a:rPr>
                <a:solidFill>
                  <a:srgbClr val="334155"/>
                </a:solidFill>
              </a:rPr>
              <a:t>Evaluated Claude Code, OpenHands, Codex CLI, and Gemini CLI using Sonnet 4.6, GLM-4.7, MiniMax-M2.5, GPT-5.4, Gemini 2.5 Pro.</a:t>
            </a:r>
          </a:p>
          <a:p>
            <a:pPr>
              <a:spcBef>
                <a:spcPts val="500"/>
              </a:spcBef>
              <a:defRPr sz="950">
                <a:latin typeface="Arial"/>
              </a:defRPr>
            </a:pPr>
            <a:r>
              <a:rPr b="1">
                <a:solidFill>
                  <a:srgbClr val="0F172A"/>
                </a:solidFill>
              </a:rPr>
              <a:t>•  Responsible Disclosure: </a:t>
            </a:r>
            <a:r>
              <a:rPr>
                <a:solidFill>
                  <a:srgbClr val="334155"/>
                </a:solidFill>
              </a:rPr>
              <a:t>Disclosed 4 production vulnerabilities in agent platforms where project configuration files enabled silent RCE.</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Alignment vs. Architecture Interaction</a:t>
            </a:r>
          </a:p>
          <a:p>
            <a:pPr>
              <a:spcBef>
                <a:spcPts val="500"/>
              </a:spcBef>
              <a:defRPr sz="950">
                <a:latin typeface="Arial"/>
              </a:defRPr>
            </a:pPr>
            <a:r>
              <a:rPr b="1">
                <a:solidFill>
                  <a:srgbClr val="0F172A"/>
                </a:solidFill>
              </a:rPr>
              <a:t>•  Asymmetric Dependency: </a:t>
            </a:r>
            <a:r>
              <a:rPr>
                <a:solidFill>
                  <a:srgbClr val="334155"/>
                </a:solidFill>
              </a:rPr>
              <a:t>Removing architectural guardrails causes execution to surge from 2.4% to 27.1% on GLM-4.7, but has near-zero effect on Sonnet 4.6.</a:t>
            </a:r>
          </a:p>
          <a:p>
            <a:pPr>
              <a:spcBef>
                <a:spcPts val="500"/>
              </a:spcBef>
              <a:defRPr sz="950">
                <a:latin typeface="Arial"/>
              </a:defRPr>
            </a:pPr>
            <a:r>
              <a:rPr b="1">
                <a:solidFill>
                  <a:srgbClr val="0F172A"/>
                </a:solidFill>
              </a:rPr>
              <a:t>•  Weak vs. Strong Alignment: </a:t>
            </a:r>
            <a:r>
              <a:rPr>
                <a:solidFill>
                  <a:srgbClr val="334155"/>
                </a:solidFill>
              </a:rPr>
              <a:t>Weakly aligned models rely entirely on system scaffolding; strongly aligned models rely on internal refusal boundaries.</a:t>
            </a:r>
          </a:p>
          <a:p>
            <a:pPr>
              <a:spcBef>
                <a:spcPts val="500"/>
              </a:spcBef>
              <a:defRPr sz="950">
                <a:latin typeface="Arial"/>
              </a:defRPr>
            </a:pPr>
            <a:r>
              <a:rPr b="1">
                <a:solidFill>
                  <a:srgbClr val="0F172A"/>
                </a:solidFill>
              </a:rPr>
              <a:t>•  Multi-Model Defense: </a:t>
            </a:r>
            <a:r>
              <a:rPr>
                <a:solidFill>
                  <a:srgbClr val="334155"/>
                </a:solidFill>
              </a:rPr>
              <a:t>Because only 1.6% of camouflaged payloads penetrated all models simultaneously, multi-model ensemble verification is highly effective.</a:t>
            </a:r>
          </a:p>
          <a:p>
            <a:pPr>
              <a:spcBef>
                <a:spcPts val="500"/>
              </a:spcBef>
              <a:defRPr sz="950">
                <a:latin typeface="Arial"/>
              </a:defRPr>
            </a:pPr>
            <a:r>
              <a:rPr b="1">
                <a:solidFill>
                  <a:srgbClr val="0F172A"/>
                </a:solidFill>
              </a:rPr>
              <a:t>•  Key Takeaway: </a:t>
            </a:r>
            <a:r>
              <a:rPr>
                <a:solidFill>
                  <a:srgbClr val="334155"/>
                </a:solidFill>
              </a:rPr>
              <a:t>Neither model safety nor framework guardrails are sufficient alone; systems require calibrated defense-in-depth.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7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“Do Not Mention This to the User”: Malicious Skills in the Wild</a:t>
            </a:r>
          </a:p>
          <a:p>
            <a:pPr>
              <a:spcBef>
                <a:spcPts val="300"/>
              </a:spcBef>
              <a:defRPr sz="1050">
                <a:solidFill>
                  <a:srgbClr val="64748B"/>
                </a:solidFill>
                <a:latin typeface="Arial"/>
              </a:defRPr>
            </a:pPr>
            <a:r>
              <a:t>Liu, Chen, Zhang et al. — arXiv:2602.06547 | 98,380 Skills Audited, 157 Behaviorally Verified Malicious Skills (100% Removed)</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12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98,380</a:t>
            </a:r>
          </a:p>
          <a:p>
            <a:pPr algn="ctr">
              <a:spcBef>
                <a:spcPts val="200"/>
              </a:spcBef>
              <a:defRPr sz="1000" b="1">
                <a:solidFill>
                  <a:srgbClr val="0F172A"/>
                </a:solidFill>
                <a:latin typeface="Arial"/>
              </a:defRPr>
            </a:pPr>
            <a:r>
              <a:t>Total Skills Crawled</a:t>
            </a:r>
          </a:p>
          <a:p>
            <a:pPr algn="ctr">
              <a:spcBef>
                <a:spcPts val="200"/>
              </a:spcBef>
              <a:defRPr sz="850">
                <a:solidFill>
                  <a:srgbClr val="64748B"/>
                </a:solidFill>
                <a:latin typeface="Arial"/>
              </a:defRPr>
            </a:pPr>
            <a:r>
              <a:t>January 2026 registry snapshot</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157 Skills</a:t>
            </a:r>
          </a:p>
          <a:p>
            <a:pPr algn="ctr">
              <a:spcBef>
                <a:spcPts val="200"/>
              </a:spcBef>
              <a:defRPr sz="1000" b="1">
                <a:solidFill>
                  <a:srgbClr val="0F172A"/>
                </a:solidFill>
                <a:latin typeface="Arial"/>
              </a:defRPr>
            </a:pPr>
            <a:r>
              <a:t>Confirmed Malicious</a:t>
            </a:r>
          </a:p>
          <a:p>
            <a:pPr algn="ctr">
              <a:spcBef>
                <a:spcPts val="200"/>
              </a:spcBef>
              <a:defRPr sz="850">
                <a:solidFill>
                  <a:srgbClr val="64748B"/>
                </a:solidFill>
                <a:latin typeface="Arial"/>
              </a:defRPr>
            </a:pPr>
            <a:r>
              <a:t>632 distinct vulnerabilities</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97706"/>
                </a:solidFill>
                <a:latin typeface="Arial"/>
              </a:defRPr>
            </a:pPr>
            <a:r>
              <a:t>54.1%</a:t>
            </a:r>
          </a:p>
          <a:p>
            <a:pPr algn="ctr">
              <a:spcBef>
                <a:spcPts val="200"/>
              </a:spcBef>
              <a:defRPr sz="1000" b="1">
                <a:solidFill>
                  <a:srgbClr val="0F172A"/>
                </a:solidFill>
                <a:latin typeface="Arial"/>
              </a:defRPr>
            </a:pPr>
            <a:r>
              <a:t>Single Threat Actor</a:t>
            </a:r>
          </a:p>
          <a:p>
            <a:pPr algn="ctr">
              <a:spcBef>
                <a:spcPts val="200"/>
              </a:spcBef>
              <a:defRPr sz="850">
                <a:solidFill>
                  <a:srgbClr val="64748B"/>
                </a:solidFill>
                <a:latin typeface="Arial"/>
              </a:defRPr>
            </a:pPr>
            <a:r>
              <a:t>smp_170 brand impersonation</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059669"/>
                </a:solidFill>
                <a:latin typeface="Arial"/>
              </a:defRPr>
            </a:pPr>
            <a:r>
              <a:t>100%</a:t>
            </a:r>
          </a:p>
          <a:p>
            <a:pPr algn="ctr">
              <a:spcBef>
                <a:spcPts val="200"/>
              </a:spcBef>
              <a:defRPr sz="1000" b="1">
                <a:solidFill>
                  <a:srgbClr val="0F172A"/>
                </a:solidFill>
                <a:latin typeface="Arial"/>
              </a:defRPr>
            </a:pPr>
            <a:r>
              <a:t>Registry Removal</a:t>
            </a:r>
          </a:p>
          <a:p>
            <a:pPr algn="ctr">
              <a:spcBef>
                <a:spcPts val="200"/>
              </a:spcBef>
              <a:defRPr sz="850">
                <a:solidFill>
                  <a:srgbClr val="64748B"/>
                </a:solidFill>
                <a:latin typeface="Arial"/>
              </a:defRPr>
            </a:pPr>
            <a:r>
              <a:t>Responsible disclosure success</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Two Bifurcated Attack Archetypes</a:t>
            </a:r>
          </a:p>
          <a:p>
            <a:pPr>
              <a:spcBef>
                <a:spcPts val="500"/>
              </a:spcBef>
              <a:defRPr sz="950">
                <a:latin typeface="Arial"/>
              </a:defRPr>
            </a:pPr>
            <a:r>
              <a:rPr b="1">
                <a:solidFill>
                  <a:srgbClr val="0F172A"/>
                </a:solidFill>
              </a:rPr>
              <a:t>•  Archetype 1: Data Thieves: </a:t>
            </a:r>
            <a:r>
              <a:rPr>
                <a:solidFill>
                  <a:srgbClr val="334155"/>
                </a:solidFill>
              </a:rPr>
              <a:t>Rely on bundled scripts and code execution to harvest SSH keys, AWS credentials, and environment variables.</a:t>
            </a:r>
          </a:p>
          <a:p>
            <a:pPr>
              <a:spcBef>
                <a:spcPts val="500"/>
              </a:spcBef>
              <a:defRPr sz="950">
                <a:latin typeface="Arial"/>
              </a:defRPr>
            </a:pPr>
            <a:r>
              <a:rPr b="1">
                <a:solidFill>
                  <a:srgbClr val="0F172A"/>
                </a:solidFill>
              </a:rPr>
              <a:t>•  Archetype 2: Agent Hijackers: </a:t>
            </a:r>
            <a:r>
              <a:rPr>
                <a:solidFill>
                  <a:srgbClr val="334155"/>
                </a:solidFill>
              </a:rPr>
              <a:t>Rely on instructional directives ('NON-NEGOTIABLE', 'Do not mention to user') to manipulate agent behavior covertly.</a:t>
            </a:r>
          </a:p>
          <a:p>
            <a:pPr>
              <a:spcBef>
                <a:spcPts val="500"/>
              </a:spcBef>
              <a:defRPr sz="950">
                <a:latin typeface="Arial"/>
              </a:defRPr>
            </a:pPr>
            <a:r>
              <a:rPr b="1">
                <a:solidFill>
                  <a:srgbClr val="0F172A"/>
                </a:solidFill>
              </a:rPr>
              <a:t>•  Negative Correlation (OR=0.11): </a:t>
            </a:r>
            <a:r>
              <a:rPr>
                <a:solidFill>
                  <a:srgbClr val="334155"/>
                </a:solidFill>
              </a:rPr>
              <a:t>The two archetypes rarely co-occur; a code scanner misses Agent Hijackers, while a semantic scanner misses Data Thieves.</a:t>
            </a:r>
          </a:p>
          <a:p>
            <a:pPr>
              <a:spcBef>
                <a:spcPts val="500"/>
              </a:spcBef>
              <a:defRPr sz="950">
                <a:latin typeface="Arial"/>
              </a:defRPr>
            </a:pPr>
            <a:r>
              <a:rPr b="1">
                <a:solidFill>
                  <a:srgbClr val="0F172A"/>
                </a:solidFill>
              </a:rPr>
              <a:t>•  Parallel Pipelines Required: </a:t>
            </a:r>
            <a:r>
              <a:rPr>
                <a:solidFill>
                  <a:srgbClr val="334155"/>
                </a:solidFill>
              </a:rPr>
              <a:t>Registries must deploy parallel detection pipelines: dynamic behavioral sandboxes and semantic instruction parsers.</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Platform-Native Weaponization</a:t>
            </a:r>
          </a:p>
          <a:p>
            <a:pPr>
              <a:spcBef>
                <a:spcPts val="500"/>
              </a:spcBef>
              <a:defRPr sz="950">
                <a:latin typeface="Arial"/>
              </a:defRPr>
            </a:pPr>
            <a:r>
              <a:rPr b="1">
                <a:solidFill>
                  <a:srgbClr val="0F172A"/>
                </a:solidFill>
              </a:rPr>
              <a:t>•  Permission Flag Abuse: </a:t>
            </a:r>
            <a:r>
              <a:rPr>
                <a:solidFill>
                  <a:srgbClr val="334155"/>
                </a:solidFill>
              </a:rPr>
              <a:t>Skills instruct agents to run with `--dangerously-skip-permissions` to disable confirmation prompts permanently.</a:t>
            </a:r>
          </a:p>
          <a:p>
            <a:pPr>
              <a:spcBef>
                <a:spcPts val="500"/>
              </a:spcBef>
              <a:defRPr sz="950">
                <a:latin typeface="Arial"/>
              </a:defRPr>
            </a:pPr>
            <a:r>
              <a:rPr b="1">
                <a:solidFill>
                  <a:srgbClr val="0F172A"/>
                </a:solidFill>
              </a:rPr>
              <a:t>•  MCP Hijacking via .mcp.json: </a:t>
            </a:r>
            <a:r>
              <a:rPr>
                <a:solidFill>
                  <a:srgbClr val="334155"/>
                </a:solidFill>
              </a:rPr>
              <a:t>Shipping malicious `.mcp.json` configs that silently redirect tool calls to attacker-controlled external servers.</a:t>
            </a:r>
          </a:p>
          <a:p>
            <a:pPr>
              <a:spcBef>
                <a:spcPts val="500"/>
              </a:spcBef>
              <a:defRPr sz="950">
                <a:latin typeface="Arial"/>
              </a:defRPr>
            </a:pPr>
            <a:r>
              <a:rPr b="1">
                <a:solidFill>
                  <a:srgbClr val="0F172A"/>
                </a:solidFill>
              </a:rPr>
              <a:t>•  Hook-Based Interception: </a:t>
            </a:r>
            <a:r>
              <a:rPr>
                <a:solidFill>
                  <a:srgbClr val="334155"/>
                </a:solidFill>
              </a:rPr>
              <a:t>Weaponizing Claude Code tool hooks to intercept every file read/write and bcc exfiltrated context externally.</a:t>
            </a:r>
          </a:p>
          <a:p>
            <a:pPr>
              <a:spcBef>
                <a:spcPts val="500"/>
              </a:spcBef>
              <a:defRPr sz="950">
                <a:latin typeface="Arial"/>
              </a:defRPr>
            </a:pPr>
            <a:r>
              <a:rPr b="1">
                <a:solidFill>
                  <a:srgbClr val="0F172A"/>
                </a:solidFill>
              </a:rPr>
              <a:t>•  Industrialized Publisher: </a:t>
            </a:r>
            <a:r>
              <a:rPr>
                <a:solidFill>
                  <a:srgbClr val="334155"/>
                </a:solidFill>
              </a:rPr>
              <a:t>A single actor (`smp_170`) generated 58.5% of all vulnerabilities across hundreds of impersonated utility skills.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8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Do Agent Skills Speak Safety in Every Language?</a:t>
            </a:r>
          </a:p>
          <a:p>
            <a:pPr>
              <a:spcBef>
                <a:spcPts val="300"/>
              </a:spcBef>
              <a:defRPr sz="1050">
                <a:solidFill>
                  <a:srgbClr val="64748B"/>
                </a:solidFill>
                <a:latin typeface="Arial"/>
              </a:defRPr>
            </a:pPr>
            <a:r>
              <a:t>Anonymous — Agent Skills ’26 (May 2026) | First Cross-Lingual Security Analysis of 3,656 Skills across 8 Languages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13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3,656</a:t>
            </a:r>
          </a:p>
          <a:p>
            <a:pPr algn="ctr">
              <a:spcBef>
                <a:spcPts val="200"/>
              </a:spcBef>
              <a:defRPr sz="1000" b="1">
                <a:solidFill>
                  <a:srgbClr val="0F172A"/>
                </a:solidFill>
                <a:latin typeface="Arial"/>
              </a:defRPr>
            </a:pPr>
            <a:r>
              <a:t>Audited Skills</a:t>
            </a:r>
          </a:p>
          <a:p>
            <a:pPr algn="ctr">
              <a:spcBef>
                <a:spcPts val="200"/>
              </a:spcBef>
              <a:defRPr sz="850">
                <a:solidFill>
                  <a:srgbClr val="64748B"/>
                </a:solidFill>
                <a:latin typeface="Arial"/>
              </a:defRPr>
            </a:pPr>
            <a:r>
              <a:t>8 languages represented</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2.3%</a:t>
            </a:r>
          </a:p>
          <a:p>
            <a:pPr algn="ctr">
              <a:spcBef>
                <a:spcPts val="200"/>
              </a:spcBef>
              <a:defRPr sz="1000" b="1">
                <a:solidFill>
                  <a:srgbClr val="0F172A"/>
                </a:solidFill>
                <a:latin typeface="Arial"/>
              </a:defRPr>
            </a:pPr>
            <a:r>
              <a:t>Code Vulnerabilities</a:t>
            </a:r>
          </a:p>
          <a:p>
            <a:pPr algn="ctr">
              <a:spcBef>
                <a:spcPts val="200"/>
              </a:spcBef>
              <a:defRPr sz="850">
                <a:solidFill>
                  <a:srgbClr val="64748B"/>
                </a:solidFill>
                <a:latin typeface="Arial"/>
              </a:defRPr>
            </a:pPr>
            <a:r>
              <a:t>Language-invariant rate (p&gt;0.05)</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3 - 5x Higher</a:t>
            </a:r>
          </a:p>
          <a:p>
            <a:pPr algn="ctr">
              <a:spcBef>
                <a:spcPts val="200"/>
              </a:spcBef>
              <a:defRPr sz="1000" b="1">
                <a:solidFill>
                  <a:srgbClr val="0F172A"/>
                </a:solidFill>
                <a:latin typeface="Arial"/>
              </a:defRPr>
            </a:pPr>
            <a:r>
              <a:t>Non-English Flags</a:t>
            </a:r>
          </a:p>
          <a:p>
            <a:pPr algn="ctr">
              <a:spcBef>
                <a:spcPts val="200"/>
              </a:spcBef>
              <a:defRPr sz="850">
                <a:solidFill>
                  <a:srgbClr val="64748B"/>
                </a:solidFill>
                <a:latin typeface="Arial"/>
              </a:defRPr>
            </a:pPr>
            <a:r>
              <a:t>Severe behavioral false-positive bias</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D97706"/>
                </a:solidFill>
                <a:latin typeface="Arial"/>
              </a:defRPr>
            </a:pPr>
            <a:r>
              <a:t>0% Precision</a:t>
            </a:r>
          </a:p>
          <a:p>
            <a:pPr algn="ctr">
              <a:spcBef>
                <a:spcPts val="200"/>
              </a:spcBef>
              <a:defRPr sz="1000" b="1">
                <a:solidFill>
                  <a:srgbClr val="0F172A"/>
                </a:solidFill>
                <a:latin typeface="Arial"/>
              </a:defRPr>
            </a:pPr>
            <a:r>
              <a:t>Japanese Behavioral</a:t>
            </a:r>
          </a:p>
          <a:p>
            <a:pPr algn="ctr">
              <a:spcBef>
                <a:spcPts val="200"/>
              </a:spcBef>
              <a:defRPr sz="850">
                <a:solidFill>
                  <a:srgbClr val="64748B"/>
                </a:solidFill>
                <a:latin typeface="Arial"/>
              </a:defRPr>
            </a:pPr>
            <a:r>
              <a:t>Near 100% false-positive rate</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Multilingual Dataset &amp; Findings</a:t>
            </a:r>
          </a:p>
          <a:p>
            <a:pPr>
              <a:spcBef>
                <a:spcPts val="500"/>
              </a:spcBef>
              <a:defRPr sz="950">
                <a:latin typeface="Arial"/>
              </a:defRPr>
            </a:pPr>
            <a:r>
              <a:rPr b="1">
                <a:solidFill>
                  <a:srgbClr val="0F172A"/>
                </a:solidFill>
              </a:rPr>
              <a:t>•  Multilingual Corpus: </a:t>
            </a:r>
            <a:r>
              <a:rPr>
                <a:solidFill>
                  <a:srgbClr val="334155"/>
                </a:solidFill>
              </a:rPr>
              <a:t>Scanned 3,656 real-world skills: English (2,367), Chinese (542), Japanese (321), Korean (187), Spanish (113), Portuguese, German.</a:t>
            </a:r>
          </a:p>
          <a:p>
            <a:pPr>
              <a:spcBef>
                <a:spcPts val="500"/>
              </a:spcBef>
              <a:defRPr sz="950">
                <a:latin typeface="Arial"/>
              </a:defRPr>
            </a:pPr>
            <a:r>
              <a:rPr b="1">
                <a:solidFill>
                  <a:srgbClr val="0F172A"/>
                </a:solidFill>
              </a:rPr>
              <a:t>•  Scanner Evaluated: </a:t>
            </a:r>
            <a:r>
              <a:rPr>
                <a:solidFill>
                  <a:srgbClr val="334155"/>
                </a:solidFill>
              </a:rPr>
              <a:t>Cisco Skill Scanner v2.0.9 (YARA signatures, dataflow analysis, pipeline taint tracking) vs. general SAST (Semgrep).</a:t>
            </a:r>
          </a:p>
          <a:p>
            <a:pPr>
              <a:spcBef>
                <a:spcPts val="500"/>
              </a:spcBef>
              <a:defRPr sz="950">
                <a:latin typeface="Arial"/>
              </a:defRPr>
            </a:pPr>
            <a:r>
              <a:rPr b="1">
                <a:solidFill>
                  <a:srgbClr val="0F172A"/>
                </a:solidFill>
              </a:rPr>
              <a:t>•  Code-Level Equivalence: </a:t>
            </a:r>
            <a:r>
              <a:rPr>
                <a:solidFill>
                  <a:srgbClr val="334155"/>
                </a:solidFill>
              </a:rPr>
              <a:t>True code-level vulnerabilities affect only 2.3% of skills and show NO significant difference across languages (p &gt; 0.05).</a:t>
            </a:r>
          </a:p>
          <a:p>
            <a:pPr>
              <a:spcBef>
                <a:spcPts val="500"/>
              </a:spcBef>
              <a:defRPr sz="950">
                <a:latin typeface="Arial"/>
              </a:defRPr>
            </a:pPr>
            <a:r>
              <a:rPr b="1">
                <a:solidFill>
                  <a:srgbClr val="0F172A"/>
                </a:solidFill>
              </a:rPr>
              <a:t>•  License Deficit: </a:t>
            </a:r>
            <a:r>
              <a:rPr>
                <a:solidFill>
                  <a:srgbClr val="334155"/>
                </a:solidFill>
              </a:rPr>
              <a:t>87% of all skills across registries lack any license declaration, creating legal and operational ambiguity.</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The English Calibration Gap in Security Tooling</a:t>
            </a:r>
          </a:p>
          <a:p>
            <a:pPr>
              <a:spcBef>
                <a:spcPts val="500"/>
              </a:spcBef>
              <a:defRPr sz="950">
                <a:latin typeface="Arial"/>
              </a:defRPr>
            </a:pPr>
            <a:r>
              <a:rPr b="1">
                <a:solidFill>
                  <a:srgbClr val="0F172A"/>
                </a:solidFill>
              </a:rPr>
              <a:t>•  Heuristic Calibration Bias: </a:t>
            </a:r>
            <a:r>
              <a:rPr>
                <a:solidFill>
                  <a:srgbClr val="334155"/>
                </a:solidFill>
              </a:rPr>
              <a:t>Behavioral rules designed for English syntax misinterpret benign operational text in Asian languages as 'social engineering'.</a:t>
            </a:r>
          </a:p>
          <a:p>
            <a:pPr>
              <a:spcBef>
                <a:spcPts val="500"/>
              </a:spcBef>
              <a:defRPr sz="950">
                <a:latin typeface="Arial"/>
              </a:defRPr>
            </a:pPr>
            <a:r>
              <a:rPr b="1">
                <a:solidFill>
                  <a:srgbClr val="0F172A"/>
                </a:solidFill>
              </a:rPr>
              <a:t>•  False-Positive Explosion: </a:t>
            </a:r>
            <a:r>
              <a:rPr>
                <a:solidFill>
                  <a:srgbClr val="334155"/>
                </a:solidFill>
              </a:rPr>
              <a:t>Behavioral flags are 3–5x higher in non-English skills (Japanese 10.9% vs English 1.8%, p &lt; 0.001).</a:t>
            </a:r>
          </a:p>
          <a:p>
            <a:pPr>
              <a:spcBef>
                <a:spcPts val="500"/>
              </a:spcBef>
              <a:defRPr sz="950">
                <a:latin typeface="Arial"/>
              </a:defRPr>
            </a:pPr>
            <a:r>
              <a:rPr b="1">
                <a:solidFill>
                  <a:srgbClr val="0F172A"/>
                </a:solidFill>
              </a:rPr>
              <a:t>•  Zero Precision on Japanese: </a:t>
            </a:r>
            <a:r>
              <a:rPr>
                <a:solidFill>
                  <a:srgbClr val="334155"/>
                </a:solidFill>
              </a:rPr>
              <a:t>Manual ground-truth annotation revealed 0% precision on flagged Japanese skills vs. 10% on English.</a:t>
            </a:r>
          </a:p>
          <a:p>
            <a:pPr>
              <a:spcBef>
                <a:spcPts val="500"/>
              </a:spcBef>
              <a:defRPr sz="950">
                <a:latin typeface="Arial"/>
              </a:defRPr>
            </a:pPr>
            <a:r>
              <a:rPr b="1">
                <a:solidFill>
                  <a:srgbClr val="0F172A"/>
                </a:solidFill>
              </a:rPr>
              <a:t>•  The Multilingual Bridge: </a:t>
            </a:r>
            <a:r>
              <a:rPr>
                <a:solidFill>
                  <a:srgbClr val="334155"/>
                </a:solidFill>
              </a:rPr>
              <a:t>Proves that security tooling itself suffers from the same multilingual alignment blindspots as the underlying LLMs.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THEME 1 &amp; 2 SYNTHESIS</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Unified Supply-Chain Threat Model: From Registry to Host Execution</a:t>
            </a:r>
          </a:p>
          <a:p>
            <a:pPr>
              <a:spcBef>
                <a:spcPts val="300"/>
              </a:spcBef>
              <a:defRPr sz="1050">
                <a:solidFill>
                  <a:srgbClr val="64748B"/>
                </a:solidFill>
                <a:latin typeface="Arial"/>
              </a:defRPr>
            </a:pPr>
            <a:r>
              <a:t>Synthesizing attack mechanisms (Part 1) and in-the-wild realities (Part 2) into an end-to-end compromise lifecycle</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14 of 22</a:t>
            </a:r>
          </a:p>
        </p:txBody>
      </p:sp>
      <p:sp>
        <p:nvSpPr>
          <p:cNvPr id="7" name="Rounded Rectangle 6"/>
          <p:cNvSpPr/>
          <p:nvPr/>
        </p:nvSpPr>
        <p:spPr>
          <a:xfrm>
            <a:off x="731520" y="1645920"/>
            <a:ext cx="24688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2563EB"/>
                </a:solidFill>
              </a:defRPr>
            </a:pPr>
            <a:r>
              <a:t>1. Registry Seeding</a:t>
            </a:r>
          </a:p>
          <a:p>
            <a:pPr>
              <a:spcBef>
                <a:spcPts val="500"/>
              </a:spcBef>
              <a:defRPr sz="900">
                <a:latin typeface="Arial"/>
              </a:defRPr>
            </a:pPr>
            <a:r>
              <a:rPr b="1">
                <a:solidFill>
                  <a:srgbClr val="0F172A"/>
                </a:solidFill>
              </a:rPr>
              <a:t>•  Technique: </a:t>
            </a:r>
            <a:r>
              <a:rPr>
                <a:solidFill>
                  <a:srgbClr val="334155"/>
                </a:solidFill>
              </a:rPr>
              <a:t>Optimized vector triggers &amp; DoD evasion wrappers.</a:t>
            </a:r>
          </a:p>
          <a:p>
            <a:pPr>
              <a:spcBef>
                <a:spcPts val="500"/>
              </a:spcBef>
              <a:defRPr sz="900">
                <a:latin typeface="Arial"/>
              </a:defRPr>
            </a:pPr>
            <a:r>
              <a:rPr b="1">
                <a:solidFill>
                  <a:srgbClr val="0F172A"/>
                </a:solidFill>
              </a:rPr>
              <a:t>•  Evidence: </a:t>
            </a:r>
            <a:r>
              <a:rPr>
                <a:solidFill>
                  <a:srgbClr val="334155"/>
                </a:solidFill>
              </a:rPr>
              <a:t>Saha et al. (86% win rate); Liu et al. (98k skills crawled).</a:t>
            </a:r>
          </a:p>
          <a:p>
            <a:pPr>
              <a:spcBef>
                <a:spcPts val="500"/>
              </a:spcBef>
              <a:defRPr sz="900">
                <a:latin typeface="Arial"/>
              </a:defRPr>
            </a:pPr>
            <a:r>
              <a:rPr b="1">
                <a:solidFill>
                  <a:srgbClr val="0F172A"/>
                </a:solidFill>
              </a:rPr>
              <a:t>•  Outcome: </a:t>
            </a:r>
            <a:r>
              <a:rPr>
                <a:solidFill>
                  <a:srgbClr val="334155"/>
                </a:solidFill>
              </a:rPr>
              <a:t>Skill placed in Top-3; scanner checks bypassed.</a:t>
            </a:r>
          </a:p>
        </p:txBody>
      </p:sp>
      <p:sp>
        <p:nvSpPr>
          <p:cNvPr id="8" name="Rounded Rectangle 7"/>
          <p:cNvSpPr/>
          <p:nvPr/>
        </p:nvSpPr>
        <p:spPr>
          <a:xfrm>
            <a:off x="3474720" y="1645920"/>
            <a:ext cx="24688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D97706"/>
                </a:solidFill>
              </a:defRPr>
            </a:pPr>
            <a:r>
              <a:t>2. Agent Selection</a:t>
            </a:r>
          </a:p>
          <a:p>
            <a:pPr>
              <a:spcBef>
                <a:spcPts val="500"/>
              </a:spcBef>
              <a:defRPr sz="900">
                <a:latin typeface="Arial"/>
              </a:defRPr>
            </a:pPr>
            <a:r>
              <a:rPr b="1">
                <a:solidFill>
                  <a:srgbClr val="0F172A"/>
                </a:solidFill>
              </a:rPr>
              <a:t>•  Technique: </a:t>
            </a:r>
            <a:r>
              <a:rPr>
                <a:solidFill>
                  <a:srgbClr val="334155"/>
                </a:solidFill>
              </a:rPr>
              <a:t>Assertive framing in description; brand impersonation.</a:t>
            </a:r>
          </a:p>
          <a:p>
            <a:pPr>
              <a:spcBef>
                <a:spcPts val="500"/>
              </a:spcBef>
              <a:defRPr sz="900">
                <a:latin typeface="Arial"/>
              </a:defRPr>
            </a:pPr>
            <a:r>
              <a:rPr b="1">
                <a:solidFill>
                  <a:srgbClr val="0F172A"/>
                </a:solidFill>
              </a:rPr>
              <a:t>•  Evidence: </a:t>
            </a:r>
            <a:r>
              <a:rPr>
                <a:solidFill>
                  <a:srgbClr val="334155"/>
                </a:solidFill>
              </a:rPr>
              <a:t>Saha et al. (77.6% selection bias); smp_170 publisher.</a:t>
            </a:r>
          </a:p>
          <a:p>
            <a:pPr>
              <a:spcBef>
                <a:spcPts val="500"/>
              </a:spcBef>
              <a:defRPr sz="900">
                <a:latin typeface="Arial"/>
              </a:defRPr>
            </a:pPr>
            <a:r>
              <a:rPr b="1">
                <a:solidFill>
                  <a:srgbClr val="0F172A"/>
                </a:solidFill>
              </a:rPr>
              <a:t>•  Outcome: </a:t>
            </a:r>
            <a:r>
              <a:rPr>
                <a:solidFill>
                  <a:srgbClr val="334155"/>
                </a:solidFill>
              </a:rPr>
              <a:t>Agent selects poisoned skill over benign alternative.</a:t>
            </a:r>
          </a:p>
        </p:txBody>
      </p:sp>
      <p:sp>
        <p:nvSpPr>
          <p:cNvPr id="9" name="Rounded Rectangle 8"/>
          <p:cNvSpPr/>
          <p:nvPr/>
        </p:nvSpPr>
        <p:spPr>
          <a:xfrm>
            <a:off x="6217920" y="1645920"/>
            <a:ext cx="24688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DC2626"/>
                </a:solidFill>
              </a:defRPr>
            </a:pPr>
            <a:r>
              <a:t>3. In-Context Inducement</a:t>
            </a:r>
          </a:p>
          <a:p>
            <a:pPr>
              <a:spcBef>
                <a:spcPts val="500"/>
              </a:spcBef>
              <a:defRPr sz="900">
                <a:latin typeface="Arial"/>
              </a:defRPr>
            </a:pPr>
            <a:r>
              <a:rPr b="1">
                <a:solidFill>
                  <a:srgbClr val="0F172A"/>
                </a:solidFill>
              </a:rPr>
              <a:t>•  Technique: </a:t>
            </a:r>
            <a:r>
              <a:rPr>
                <a:solidFill>
                  <a:srgbClr val="334155"/>
                </a:solidFill>
              </a:rPr>
              <a:t>Decoupled helper script setup; DDIPE doc camouflage.</a:t>
            </a:r>
          </a:p>
          <a:p>
            <a:pPr>
              <a:spcBef>
                <a:spcPts val="500"/>
              </a:spcBef>
              <a:defRPr sz="900">
                <a:latin typeface="Arial"/>
              </a:defRPr>
            </a:pPr>
            <a:r>
              <a:rPr b="1">
                <a:solidFill>
                  <a:srgbClr val="0F172A"/>
                </a:solidFill>
              </a:rPr>
              <a:t>•  Evidence: </a:t>
            </a:r>
            <a:r>
              <a:rPr>
                <a:solidFill>
                  <a:srgbClr val="334155"/>
                </a:solidFill>
              </a:rPr>
              <a:t>SkillJect (80.7% ASR); PoisonedSkills (0 lexical flags).</a:t>
            </a:r>
          </a:p>
          <a:p>
            <a:pPr>
              <a:spcBef>
                <a:spcPts val="500"/>
              </a:spcBef>
              <a:defRPr sz="900">
                <a:latin typeface="Arial"/>
              </a:defRPr>
            </a:pPr>
            <a:r>
              <a:rPr b="1">
                <a:solidFill>
                  <a:srgbClr val="0F172A"/>
                </a:solidFill>
              </a:rPr>
              <a:t>•  Outcome: </a:t>
            </a:r>
            <a:r>
              <a:rPr>
                <a:solidFill>
                  <a:srgbClr val="334155"/>
                </a:solidFill>
              </a:rPr>
              <a:t>Agent ReAct loop treats script as mandatory prerequisite.</a:t>
            </a:r>
          </a:p>
        </p:txBody>
      </p:sp>
      <p:sp>
        <p:nvSpPr>
          <p:cNvPr id="10" name="Rounded Rectangle 9"/>
          <p:cNvSpPr/>
          <p:nvPr/>
        </p:nvSpPr>
        <p:spPr>
          <a:xfrm>
            <a:off x="8961120" y="1645920"/>
            <a:ext cx="24688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0F172A"/>
                </a:solidFill>
              </a:defRPr>
            </a:pPr>
            <a:r>
              <a:t>4. Host Exploitation</a:t>
            </a:r>
          </a:p>
          <a:p>
            <a:pPr>
              <a:spcBef>
                <a:spcPts val="500"/>
              </a:spcBef>
              <a:defRPr sz="900">
                <a:latin typeface="Arial"/>
              </a:defRPr>
            </a:pPr>
            <a:r>
              <a:rPr b="1">
                <a:solidFill>
                  <a:srgbClr val="0F172A"/>
                </a:solidFill>
              </a:rPr>
              <a:t>•  Technique: </a:t>
            </a:r>
            <a:r>
              <a:rPr>
                <a:solidFill>
                  <a:srgbClr val="334155"/>
                </a:solidFill>
              </a:rPr>
              <a:t>Tool poisoning; .mcp.json hijack; --skip-permissions.</a:t>
            </a:r>
          </a:p>
          <a:p>
            <a:pPr>
              <a:spcBef>
                <a:spcPts val="500"/>
              </a:spcBef>
              <a:defRPr sz="900">
                <a:latin typeface="Arial"/>
              </a:defRPr>
            </a:pPr>
            <a:r>
              <a:rPr b="1">
                <a:solidFill>
                  <a:srgbClr val="0F172A"/>
                </a:solidFill>
              </a:rPr>
              <a:t>•  Evidence: </a:t>
            </a:r>
            <a:r>
              <a:rPr>
                <a:solidFill>
                  <a:srgbClr val="334155"/>
                </a:solidFill>
              </a:rPr>
              <a:t>Huang et al. (Cursor 100% unsafe); Liu, Chen et al. (157 skills).</a:t>
            </a:r>
          </a:p>
          <a:p>
            <a:pPr>
              <a:spcBef>
                <a:spcPts val="500"/>
              </a:spcBef>
              <a:defRPr sz="900">
                <a:latin typeface="Arial"/>
              </a:defRPr>
            </a:pPr>
            <a:r>
              <a:rPr b="1">
                <a:solidFill>
                  <a:srgbClr val="0F172A"/>
                </a:solidFill>
              </a:rPr>
              <a:t>•  Outcome: </a:t>
            </a:r>
            <a:r>
              <a:rPr>
                <a:solidFill>
                  <a:srgbClr val="334155"/>
                </a:solidFill>
              </a:rPr>
              <a:t>Full host RCE, credential exfiltration, approval bypassed.</a:t>
            </a:r>
          </a:p>
        </p:txBody>
      </p:sp>
      <p:sp>
        <p:nvSpPr>
          <p:cNvPr id="11" name="Rounded Rectangle 10"/>
          <p:cNvSpPr/>
          <p:nvPr/>
        </p:nvSpPr>
        <p:spPr>
          <a:xfrm>
            <a:off x="731520" y="5029200"/>
            <a:ext cx="10728655" cy="11887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150">
                <a:solidFill>
                  <a:srgbClr val="DC2626"/>
                </a:solidFill>
              </a:defRPr>
            </a:pPr>
            <a:r>
              <a:t>Core Takeaway: The Failure of Fragmented and Heuristic Defenses</a:t>
            </a:r>
          </a:p>
          <a:p>
            <a:pPr>
              <a:spcBef>
                <a:spcPts val="300"/>
              </a:spcBef>
              <a:defRPr sz="950">
                <a:solidFill>
                  <a:srgbClr val="334155"/>
                </a:solidFill>
              </a:defRPr>
            </a:pPr>
            <a:r>
              <a:t>Public registries treat agent skills with the implicit trust of curated libraries, yet skills run with full user permissions. Prompt warnings fail, static keyword scanners miss camouflaged DDIPE payloads, and approval dialogs fail from UI truncation and user fatigue. Robust security requires deterministic execution sandboxing, capability tokens, and cross-artifact taint tracking.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657600"/>
          </a:xfrm>
          <a:prstGeom prst="rect">
            <a:avLst/>
          </a:prstGeom>
          <a:noFill/>
        </p:spPr>
        <p:txBody>
          <a:bodyPr wrap="square">
            <a:spAutoFit/>
          </a:bodyPr>
          <a:lstStyle/>
          <a:p>
            <a:pPr>
              <a:defRPr sz="1300" b="1">
                <a:solidFill>
                  <a:srgbClr val="34D399"/>
                </a:solidFill>
                <a:latin typeface="Arial"/>
              </a:defRPr>
            </a:pPr>
            <a:r>
              <a:t>THEME 3: MULTILINGUAL SAFETY ALIGNMENT &amp; JAILBREAKING</a:t>
            </a:r>
          </a:p>
          <a:p>
            <a:pPr>
              <a:spcBef>
                <a:spcPts val="1000"/>
              </a:spcBef>
              <a:defRPr sz="2800" b="1">
                <a:solidFill>
                  <a:srgbClr val="FFFFFF"/>
                </a:solidFill>
                <a:latin typeface="Arial"/>
              </a:defRPr>
            </a:pPr>
            <a:r>
              <a:t>Cross-Lingual Generalization, Resource Disparities, and Multi-Turn Exploits</a:t>
            </a:r>
          </a:p>
          <a:p>
            <a:pPr>
              <a:spcBef>
                <a:spcPts val="1000"/>
              </a:spcBef>
              <a:defRPr sz="1300">
                <a:solidFill>
                  <a:srgbClr val="CBD5E1"/>
                </a:solidFill>
                <a:latin typeface="Arial"/>
              </a:defRPr>
            </a:pPr>
            <a:r>
              <a:t>Examining how safety alignment breaks across language resource tiers, uncovering the high-resource vulnerability paradox, and exposing the translation quality fallacy.</a:t>
            </a:r>
          </a:p>
        </p:txBody>
      </p:sp>
      <p:sp>
        <p:nvSpPr>
          <p:cNvPr id="4" name="Rounded Rectangle 3"/>
          <p:cNvSpPr/>
          <p:nvPr/>
        </p:nvSpPr>
        <p:spPr>
          <a:xfrm>
            <a:off x="1097280" y="4114800"/>
            <a:ext cx="475488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a:lstStyle/>
          <a:p>
            <a:pPr algn="ctr">
              <a:defRPr b="1" sz="1050">
                <a:solidFill>
                  <a:srgbClr val="A7F3D0"/>
                </a:solidFill>
              </a:defRPr>
            </a:pPr>
            <a:r>
              <a:t>Paper 9: Cross-Lingual Generalization of Jailbreaks</a:t>
            </a:r>
          </a:p>
          <a:p>
            <a:pPr>
              <a:defRPr sz="900">
                <a:solidFill>
                  <a:srgbClr val="E2E8F0"/>
                </a:solidFill>
              </a:defRPr>
            </a:pPr>
            <a:r>
              <a:t>Atil et al. (2025)</a:t>
            </a:r>
            <a:br/>
            <a:r>
              <a:t>Evaluating 10 languages (High/Med/Low), 6 LLMs, Logic vs. Adversarial Suffixes, and Defense Classifiers on HarmBench &amp; AdvBench.</a:t>
            </a:r>
          </a:p>
        </p:txBody>
      </p:sp>
      <p:sp>
        <p:nvSpPr>
          <p:cNvPr id="5" name="Rounded Rectangle 4"/>
          <p:cNvSpPr/>
          <p:nvPr/>
        </p:nvSpPr>
        <p:spPr>
          <a:xfrm>
            <a:off x="6217920" y="4114800"/>
            <a:ext cx="484632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a:lstStyle/>
          <a:p>
            <a:pPr algn="ctr">
              <a:defRPr b="1" sz="1050">
                <a:solidFill>
                  <a:srgbClr val="A7F3D0"/>
                </a:solidFill>
              </a:defRPr>
            </a:pPr>
            <a:r>
              <a:t>Paper 10: Low-Resource African Language Multi-Turn Attacks</a:t>
            </a:r>
          </a:p>
          <a:p>
            <a:pPr>
              <a:defRPr sz="900">
                <a:solidFill>
                  <a:srgbClr val="E2E8F0"/>
                </a:solidFill>
              </a:defRPr>
            </a:pPr>
            <a:r>
              <a:t>Marx &amp; Dunaiski (2026)</a:t>
            </a:r>
            <a:br/>
            <a:r>
              <a:t>Evaluating Afrikaans, Kiswahili, isiZulu, and isiXhosa on 7 commercial LLMs; uncovering the Translation Quality Fallacy via human red-teaming.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9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Cross-Lingual Generalization of Jailbreaks and Defenses</a:t>
            </a:r>
          </a:p>
          <a:p>
            <a:pPr>
              <a:spcBef>
                <a:spcPts val="300"/>
              </a:spcBef>
              <a:defRPr sz="1050">
                <a:solidFill>
                  <a:srgbClr val="64748B"/>
                </a:solidFill>
                <a:latin typeface="Arial"/>
              </a:defRPr>
            </a:pPr>
            <a:r>
              <a:t>Atil, Passonneau, Morstatter (Penn State &amp; USC) — arXiv:2511.00689 | 10 Languages, 6 LLMs, HarmBench &amp; AdvBench</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16 of 22</a:t>
            </a:r>
          </a:p>
        </p:txBody>
      </p:sp>
      <p:sp>
        <p:nvSpPr>
          <p:cNvPr id="7" name="Rounded Rectangle 6"/>
          <p:cNvSpPr/>
          <p:nvPr/>
        </p:nvSpPr>
        <p:spPr>
          <a:xfrm>
            <a:off x="7315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3236976" cy="905256"/>
          </a:xfrm>
          <a:prstGeom prst="rect">
            <a:avLst/>
          </a:prstGeom>
          <a:noFill/>
        </p:spPr>
        <p:txBody>
          <a:bodyPr wrap="square" tIns="0" lIns="0" rIns="0" bIns="0">
            <a:spAutoFit/>
          </a:bodyPr>
          <a:lstStyle/>
          <a:p>
            <a:pPr algn="ctr">
              <a:defRPr sz="2100" b="1">
                <a:solidFill>
                  <a:srgbClr val="1E3A8A"/>
                </a:solidFill>
                <a:latin typeface="Arial"/>
              </a:defRPr>
            </a:pPr>
            <a:r>
              <a:t>10 Languages</a:t>
            </a:r>
          </a:p>
          <a:p>
            <a:pPr algn="ctr">
              <a:spcBef>
                <a:spcPts val="200"/>
              </a:spcBef>
              <a:defRPr sz="1000" b="1">
                <a:solidFill>
                  <a:srgbClr val="0F172A"/>
                </a:solidFill>
                <a:latin typeface="Arial"/>
              </a:defRPr>
            </a:pPr>
            <a:r>
              <a:t>High, Med, Low Tiers</a:t>
            </a:r>
          </a:p>
          <a:p>
            <a:pPr algn="ctr">
              <a:spcBef>
                <a:spcPts val="200"/>
              </a:spcBef>
              <a:defRPr sz="850">
                <a:solidFill>
                  <a:srgbClr val="64748B"/>
                </a:solidFill>
                <a:latin typeface="Arial"/>
              </a:defRPr>
            </a:pPr>
            <a:r>
              <a:t>En, Spa, Ger, Ch, Tr, Ar, Kor, Ben, Tel, Swa</a:t>
            </a:r>
          </a:p>
        </p:txBody>
      </p:sp>
      <p:sp>
        <p:nvSpPr>
          <p:cNvPr id="9" name="Rounded Rectangle 8"/>
          <p:cNvSpPr/>
          <p:nvPr/>
        </p:nvSpPr>
        <p:spPr>
          <a:xfrm>
            <a:off x="43891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2" y="1719072"/>
            <a:ext cx="3236976" cy="905256"/>
          </a:xfrm>
          <a:prstGeom prst="rect">
            <a:avLst/>
          </a:prstGeom>
          <a:noFill/>
        </p:spPr>
        <p:txBody>
          <a:bodyPr wrap="square" tIns="0" lIns="0" rIns="0" bIns="0">
            <a:spAutoFit/>
          </a:bodyPr>
          <a:lstStyle/>
          <a:p>
            <a:pPr algn="ctr">
              <a:defRPr sz="2100" b="1">
                <a:solidFill>
                  <a:srgbClr val="DC2626"/>
                </a:solidFill>
                <a:latin typeface="Arial"/>
              </a:defRPr>
            </a:pPr>
            <a:r>
              <a:t>99.5%</a:t>
            </a:r>
          </a:p>
          <a:p>
            <a:pPr algn="ctr">
              <a:spcBef>
                <a:spcPts val="200"/>
              </a:spcBef>
              <a:defRPr sz="1000" b="1">
                <a:solidFill>
                  <a:srgbClr val="0F172A"/>
                </a:solidFill>
                <a:latin typeface="Arial"/>
              </a:defRPr>
            </a:pPr>
            <a:r>
              <a:t>Peak Adversarial ASR</a:t>
            </a:r>
          </a:p>
          <a:p>
            <a:pPr algn="ctr">
              <a:spcBef>
                <a:spcPts val="200"/>
              </a:spcBef>
              <a:defRPr sz="850">
                <a:solidFill>
                  <a:srgbClr val="64748B"/>
                </a:solidFill>
                <a:latin typeface="Arial"/>
              </a:defRPr>
            </a:pPr>
            <a:r>
              <a:t>Andrius25 suffix on Qwen14b (English)</a:t>
            </a:r>
          </a:p>
        </p:txBody>
      </p:sp>
      <p:sp>
        <p:nvSpPr>
          <p:cNvPr id="11" name="Rounded Rectangle 10"/>
          <p:cNvSpPr/>
          <p:nvPr/>
        </p:nvSpPr>
        <p:spPr>
          <a:xfrm>
            <a:off x="8046720" y="1645920"/>
            <a:ext cx="33832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1719072"/>
            <a:ext cx="3236976" cy="905256"/>
          </a:xfrm>
          <a:prstGeom prst="rect">
            <a:avLst/>
          </a:prstGeom>
          <a:noFill/>
        </p:spPr>
        <p:txBody>
          <a:bodyPr wrap="square" tIns="0" lIns="0" rIns="0" bIns="0">
            <a:spAutoFit/>
          </a:bodyPr>
          <a:lstStyle/>
          <a:p>
            <a:pPr algn="ctr">
              <a:defRPr sz="2100" b="1">
                <a:solidFill>
                  <a:srgbClr val="D97706"/>
                </a:solidFill>
                <a:latin typeface="Arial"/>
              </a:defRPr>
            </a:pPr>
            <a:r>
              <a:t>&gt;50% Gap</a:t>
            </a:r>
          </a:p>
          <a:p>
            <a:pPr algn="ctr">
              <a:spcBef>
                <a:spcPts val="200"/>
              </a:spcBef>
              <a:defRPr sz="1000" b="1">
                <a:solidFill>
                  <a:srgbClr val="0F172A"/>
                </a:solidFill>
                <a:latin typeface="Arial"/>
              </a:defRPr>
            </a:pPr>
            <a:r>
              <a:t>Cross-Lingual Variance</a:t>
            </a:r>
          </a:p>
          <a:p>
            <a:pPr algn="ctr">
              <a:spcBef>
                <a:spcPts val="200"/>
              </a:spcBef>
              <a:defRPr sz="850">
                <a:solidFill>
                  <a:srgbClr val="64748B"/>
                </a:solidFill>
                <a:latin typeface="Arial"/>
              </a:defRPr>
            </a:pPr>
            <a:r>
              <a:t>Same model unsafe rates vary by language</a:t>
            </a:r>
          </a:p>
        </p:txBody>
      </p:sp>
      <p:sp>
        <p:nvSpPr>
          <p:cNvPr id="13" name="Rounded Rectangle 12"/>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The High vs. Low Resource Paradox</a:t>
            </a:r>
          </a:p>
          <a:p>
            <a:pPr>
              <a:spcBef>
                <a:spcPts val="500"/>
              </a:spcBef>
              <a:defRPr sz="950">
                <a:latin typeface="Arial"/>
              </a:defRPr>
            </a:pPr>
            <a:r>
              <a:rPr b="1">
                <a:solidFill>
                  <a:srgbClr val="0F172A"/>
                </a:solidFill>
              </a:rPr>
              <a:t>•  Standard Harmful Queries: </a:t>
            </a:r>
            <a:r>
              <a:rPr>
                <a:solidFill>
                  <a:srgbClr val="334155"/>
                </a:solidFill>
              </a:rPr>
              <a:t>High-resource languages (En, Ger, Spa) exhibit strong safety alignment (GPT-4o En: 4.0%). Low-resource languages show high baseline unsafe rates (up to 45% on Llama8b).</a:t>
            </a:r>
          </a:p>
          <a:p>
            <a:pPr>
              <a:spcBef>
                <a:spcPts val="500"/>
              </a:spcBef>
              <a:defRPr sz="950">
                <a:latin typeface="Arial"/>
              </a:defRPr>
            </a:pPr>
            <a:r>
              <a:rPr b="1">
                <a:solidFill>
                  <a:srgbClr val="0F172A"/>
                </a:solidFill>
              </a:rPr>
              <a:t>•  Adversarial Suffix Attack (Andrius25): </a:t>
            </a:r>
            <a:r>
              <a:rPr>
                <a:solidFill>
                  <a:srgbClr val="334155"/>
                </a:solidFill>
              </a:rPr>
              <a:t>High-resource languages become hyper-vulnerable (94%–99.5% on open LLMs), whereas low-resource languages resist English-optimized suffixes.</a:t>
            </a:r>
          </a:p>
          <a:p>
            <a:pPr>
              <a:spcBef>
                <a:spcPts val="500"/>
              </a:spcBef>
              <a:defRPr sz="950">
                <a:latin typeface="Arial"/>
              </a:defRPr>
            </a:pPr>
            <a:r>
              <a:rPr b="1">
                <a:solidFill>
                  <a:srgbClr val="0F172A"/>
                </a:solidFill>
              </a:rPr>
              <a:t>•  The Root Cause: </a:t>
            </a:r>
            <a:r>
              <a:rPr>
                <a:solidFill>
                  <a:srgbClr val="334155"/>
                </a:solidFill>
              </a:rPr>
              <a:t>Adversarial suffixes rely on dense token probability manipulation. In low-resource languages, fragmented subword tokenization degrades suffix optimization transfer.</a:t>
            </a:r>
          </a:p>
          <a:p>
            <a:pPr>
              <a:spcBef>
                <a:spcPts val="500"/>
              </a:spcBef>
              <a:defRPr sz="950">
                <a:latin typeface="Arial"/>
              </a:defRPr>
            </a:pPr>
            <a:r>
              <a:rPr b="1">
                <a:solidFill>
                  <a:srgbClr val="0F172A"/>
                </a:solidFill>
              </a:rPr>
              <a:t>•  Proficiency Paradox: </a:t>
            </a:r>
            <a:r>
              <a:rPr>
                <a:solidFill>
                  <a:srgbClr val="334155"/>
                </a:solidFill>
              </a:rPr>
              <a:t>Linguistic proficiency actually amplifies susceptibility to gradient-based or prompt-optimized adversarial attacks.</a:t>
            </a:r>
          </a:p>
        </p:txBody>
      </p:sp>
      <p:sp>
        <p:nvSpPr>
          <p:cNvPr id="14" name="Rounded Rectangle 13"/>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Logic Jailbreaks &amp; Defense Robustness</a:t>
            </a:r>
          </a:p>
          <a:p>
            <a:pPr>
              <a:spcBef>
                <a:spcPts val="500"/>
              </a:spcBef>
              <a:defRPr sz="950">
                <a:latin typeface="Arial"/>
              </a:defRPr>
            </a:pPr>
            <a:r>
              <a:rPr b="1">
                <a:solidFill>
                  <a:srgbClr val="0F172A"/>
                </a:solidFill>
              </a:rPr>
              <a:t>•  Formal Logic Exploits: </a:t>
            </a:r>
            <a:r>
              <a:rPr>
                <a:solidFill>
                  <a:srgbClr val="334155"/>
                </a:solidFill>
              </a:rPr>
              <a:t>Converting queries to logical predicates and translating predicate names achieves up to 80% unsafe responses on Qwen7b and 74% on Llama8b.</a:t>
            </a:r>
          </a:p>
          <a:p>
            <a:pPr>
              <a:spcBef>
                <a:spcPts val="500"/>
              </a:spcBef>
              <a:defRPr sz="950">
                <a:latin typeface="Arial"/>
              </a:defRPr>
            </a:pPr>
            <a:r>
              <a:rPr b="1">
                <a:solidFill>
                  <a:srgbClr val="0F172A"/>
                </a:solidFill>
              </a:rPr>
              <a:t>•  Evaluation Methodology: </a:t>
            </a:r>
            <a:r>
              <a:rPr>
                <a:solidFill>
                  <a:srgbClr val="334155"/>
                </a:solidFill>
              </a:rPr>
              <a:t>Used GPT-4o LLM-as-judge without translating back to English; validated by native speakers across all 10 languages (Krippendorff alpha &gt; 0.70).</a:t>
            </a:r>
          </a:p>
          <a:p>
            <a:pPr>
              <a:spcBef>
                <a:spcPts val="500"/>
              </a:spcBef>
              <a:defRPr sz="950">
                <a:latin typeface="Arial"/>
              </a:defRPr>
            </a:pPr>
            <a:r>
              <a:rPr b="1">
                <a:solidFill>
                  <a:srgbClr val="0F172A"/>
                </a:solidFill>
              </a:rPr>
              <a:t>•  Self-Guard Defense: </a:t>
            </a:r>
            <a:r>
              <a:rPr>
                <a:solidFill>
                  <a:srgbClr val="334155"/>
                </a:solidFill>
              </a:rPr>
              <a:t>Prompt-based self-verification reduces unsafe rates for some models but exhibits severe instability across non-English languages.</a:t>
            </a:r>
          </a:p>
          <a:p>
            <a:pPr>
              <a:spcBef>
                <a:spcPts val="500"/>
              </a:spcBef>
              <a:defRPr sz="950">
                <a:latin typeface="Arial"/>
              </a:defRPr>
            </a:pPr>
            <a:r>
              <a:rPr b="1">
                <a:solidFill>
                  <a:srgbClr val="0F172A"/>
                </a:solidFill>
              </a:rPr>
              <a:t>•  Classifier Filters: </a:t>
            </a:r>
            <a:r>
              <a:rPr>
                <a:solidFill>
                  <a:srgbClr val="334155"/>
                </a:solidFill>
              </a:rPr>
              <a:t>Lightweight response classifiers require combining multilingual embeddings with emotion and NLI features to remain robust across languages.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PAPER 10 DEEP DIVE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Multilingual Jailbreaking in Low-Resource African Languages</a:t>
            </a:r>
          </a:p>
          <a:p>
            <a:pPr>
              <a:spcBef>
                <a:spcPts val="300"/>
              </a:spcBef>
              <a:defRPr sz="1050">
                <a:solidFill>
                  <a:srgbClr val="64748B"/>
                </a:solidFill>
                <a:latin typeface="Arial"/>
              </a:defRPr>
            </a:pPr>
            <a:r>
              <a:t>Marx &amp; Dunaiski (Stellenbosch Univ.) — arXiv:2605.18239 | Multi-Turn Attacks, Translation Fallacy &amp; Human Red-Teaming</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17 of 22</a:t>
            </a:r>
          </a:p>
        </p:txBody>
      </p:sp>
      <p:sp>
        <p:nvSpPr>
          <p:cNvPr id="7" name="Rounded Rectangle 6"/>
          <p:cNvSpPr/>
          <p:nvPr/>
        </p:nvSpPr>
        <p:spPr>
          <a:xfrm>
            <a:off x="7315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19072"/>
            <a:ext cx="2322576" cy="905256"/>
          </a:xfrm>
          <a:prstGeom prst="rect">
            <a:avLst/>
          </a:prstGeom>
          <a:noFill/>
        </p:spPr>
        <p:txBody>
          <a:bodyPr wrap="square" tIns="0" lIns="0" rIns="0" bIns="0">
            <a:spAutoFit/>
          </a:bodyPr>
          <a:lstStyle/>
          <a:p>
            <a:pPr algn="ctr">
              <a:defRPr sz="2100" b="1">
                <a:solidFill>
                  <a:srgbClr val="1E3A8A"/>
                </a:solidFill>
                <a:latin typeface="Arial"/>
              </a:defRPr>
            </a:pPr>
            <a:r>
              <a:t>4 Languages</a:t>
            </a:r>
          </a:p>
          <a:p>
            <a:pPr algn="ctr">
              <a:spcBef>
                <a:spcPts val="200"/>
              </a:spcBef>
              <a:defRPr sz="1000" b="1">
                <a:solidFill>
                  <a:srgbClr val="0F172A"/>
                </a:solidFill>
                <a:latin typeface="Arial"/>
              </a:defRPr>
            </a:pPr>
            <a:r>
              <a:t>African Focus</a:t>
            </a:r>
          </a:p>
          <a:p>
            <a:pPr algn="ctr">
              <a:spcBef>
                <a:spcPts val="200"/>
              </a:spcBef>
              <a:defRPr sz="850">
                <a:solidFill>
                  <a:srgbClr val="64748B"/>
                </a:solidFill>
                <a:latin typeface="Arial"/>
              </a:defRPr>
            </a:pPr>
            <a:r>
              <a:t>Afrikaans, Kiswahili, isiZulu, isiXhosa</a:t>
            </a:r>
          </a:p>
        </p:txBody>
      </p:sp>
      <p:sp>
        <p:nvSpPr>
          <p:cNvPr id="9" name="Rounded Rectangle 8"/>
          <p:cNvSpPr/>
          <p:nvPr/>
        </p:nvSpPr>
        <p:spPr>
          <a:xfrm>
            <a:off x="34747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719072"/>
            <a:ext cx="2322576" cy="905256"/>
          </a:xfrm>
          <a:prstGeom prst="rect">
            <a:avLst/>
          </a:prstGeom>
          <a:noFill/>
        </p:spPr>
        <p:txBody>
          <a:bodyPr wrap="square" tIns="0" lIns="0" rIns="0" bIns="0">
            <a:spAutoFit/>
          </a:bodyPr>
          <a:lstStyle/>
          <a:p>
            <a:pPr algn="ctr">
              <a:defRPr sz="2100" b="1">
                <a:solidFill>
                  <a:srgbClr val="2563EB"/>
                </a:solidFill>
                <a:latin typeface="Arial"/>
              </a:defRPr>
            </a:pPr>
            <a:r>
              <a:t>r = 0.92</a:t>
            </a:r>
          </a:p>
          <a:p>
            <a:pPr algn="ctr">
              <a:spcBef>
                <a:spcPts val="200"/>
              </a:spcBef>
              <a:defRPr sz="1000" b="1">
                <a:solidFill>
                  <a:srgbClr val="0F172A"/>
                </a:solidFill>
                <a:latin typeface="Arial"/>
              </a:defRPr>
            </a:pPr>
            <a:r>
              <a:t>BLEU Correlation</a:t>
            </a:r>
          </a:p>
          <a:p>
            <a:pPr algn="ctr">
              <a:spcBef>
                <a:spcPts val="200"/>
              </a:spcBef>
              <a:defRPr sz="850">
                <a:solidFill>
                  <a:srgbClr val="64748B"/>
                </a:solidFill>
                <a:latin typeface="Arial"/>
              </a:defRPr>
            </a:pPr>
            <a:r>
              <a:t>Translation quality dictates jailbreak rate</a:t>
            </a:r>
          </a:p>
        </p:txBody>
      </p:sp>
      <p:sp>
        <p:nvSpPr>
          <p:cNvPr id="11" name="Rounded Rectangle 10"/>
          <p:cNvSpPr/>
          <p:nvPr/>
        </p:nvSpPr>
        <p:spPr>
          <a:xfrm>
            <a:off x="62179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+16.0%</a:t>
            </a:r>
          </a:p>
          <a:p>
            <a:pPr algn="ctr">
              <a:spcBef>
                <a:spcPts val="200"/>
              </a:spcBef>
              <a:defRPr sz="1000" b="1">
                <a:solidFill>
                  <a:srgbClr val="0F172A"/>
                </a:solidFill>
                <a:latin typeface="Arial"/>
              </a:defRPr>
            </a:pPr>
            <a:r>
              <a:t>Human Surge</a:t>
            </a:r>
          </a:p>
          <a:p>
            <a:pPr algn="ctr">
              <a:spcBef>
                <a:spcPts val="200"/>
              </a:spcBef>
              <a:defRPr sz="850">
                <a:solidFill>
                  <a:srgbClr val="64748B"/>
                </a:solidFill>
                <a:latin typeface="Arial"/>
              </a:defRPr>
            </a:pPr>
            <a:r>
              <a:t>Overall jump from automated to red-team</a:t>
            </a:r>
          </a:p>
        </p:txBody>
      </p:sp>
      <p:sp>
        <p:nvSpPr>
          <p:cNvPr id="13" name="Rounded Rectangle 12"/>
          <p:cNvSpPr/>
          <p:nvPr/>
        </p:nvSpPr>
        <p:spPr>
          <a:xfrm>
            <a:off x="8961120" y="1645920"/>
            <a:ext cx="24688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719072"/>
            <a:ext cx="2322576" cy="905256"/>
          </a:xfrm>
          <a:prstGeom prst="rect">
            <a:avLst/>
          </a:prstGeom>
          <a:noFill/>
        </p:spPr>
        <p:txBody>
          <a:bodyPr wrap="square" tIns="0" lIns="0" rIns="0" bIns="0">
            <a:spAutoFit/>
          </a:bodyPr>
          <a:lstStyle/>
          <a:p>
            <a:pPr algn="ctr">
              <a:defRPr sz="2100" b="1">
                <a:solidFill>
                  <a:srgbClr val="DC2626"/>
                </a:solidFill>
                <a:latin typeface="Arial"/>
              </a:defRPr>
            </a:pPr>
            <a:r>
              <a:t>89.39%</a:t>
            </a:r>
          </a:p>
          <a:p>
            <a:pPr algn="ctr">
              <a:spcBef>
                <a:spcPts val="200"/>
              </a:spcBef>
              <a:defRPr sz="1000" b="1">
                <a:solidFill>
                  <a:srgbClr val="0F172A"/>
                </a:solidFill>
                <a:latin typeface="Arial"/>
              </a:defRPr>
            </a:pPr>
            <a:r>
              <a:t>Peak Red-Team ASR</a:t>
            </a:r>
          </a:p>
          <a:p>
            <a:pPr algn="ctr">
              <a:spcBef>
                <a:spcPts val="200"/>
              </a:spcBef>
              <a:defRPr sz="850">
                <a:solidFill>
                  <a:srgbClr val="64748B"/>
                </a:solidFill>
                <a:latin typeface="Arial"/>
              </a:defRPr>
            </a:pPr>
            <a:r>
              <a:t>Afrikaans human red-teaming rate</a:t>
            </a:r>
          </a:p>
        </p:txBody>
      </p:sp>
      <p:sp>
        <p:nvSpPr>
          <p:cNvPr id="15" name="Rounded Rectangle 14"/>
          <p:cNvSpPr/>
          <p:nvPr/>
        </p:nvSpPr>
        <p:spPr>
          <a:xfrm>
            <a:off x="7315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Single-Turn Failure vs. Multi-Turn Potency</a:t>
            </a:r>
          </a:p>
          <a:p>
            <a:pPr>
              <a:spcBef>
                <a:spcPts val="500"/>
              </a:spcBef>
              <a:defRPr sz="950">
                <a:latin typeface="Arial"/>
              </a:defRPr>
            </a:pPr>
            <a:r>
              <a:rPr b="1">
                <a:solidFill>
                  <a:srgbClr val="0F172A"/>
                </a:solidFill>
              </a:rPr>
              <a:t>•  Single-Turn Demise: </a:t>
            </a:r>
            <a:r>
              <a:rPr>
                <a:solidFill>
                  <a:srgbClr val="334155"/>
                </a:solidFill>
              </a:rPr>
              <a:t>Simply translating harmful prompts into low-resource languages is now largely neutralized by modern safety filters across commercial LLMs.</a:t>
            </a:r>
          </a:p>
          <a:p>
            <a:pPr>
              <a:spcBef>
                <a:spcPts val="500"/>
              </a:spcBef>
              <a:defRPr sz="950">
                <a:latin typeface="Arial"/>
              </a:defRPr>
            </a:pPr>
            <a:r>
              <a:rPr b="1">
                <a:solidFill>
                  <a:srgbClr val="0F172A"/>
                </a:solidFill>
              </a:rPr>
              <a:t>•  Multi-Turn Escalation: </a:t>
            </a:r>
            <a:r>
              <a:rPr>
                <a:solidFill>
                  <a:srgbClr val="334155"/>
                </a:solidFill>
              </a:rPr>
              <a:t>Distributing harmful intent across sequential conversation turns achieves 52.7%–83.6% in English, 60.0%–78.2% in Afrikaans, and 41.8%–70.9% in Kiswahili.</a:t>
            </a:r>
          </a:p>
          <a:p>
            <a:pPr>
              <a:spcBef>
                <a:spcPts val="500"/>
              </a:spcBef>
              <a:defRPr sz="950">
                <a:latin typeface="Arial"/>
              </a:defRPr>
            </a:pPr>
            <a:r>
              <a:rPr b="1">
                <a:solidFill>
                  <a:srgbClr val="0F172A"/>
                </a:solidFill>
              </a:rPr>
              <a:t>•  Evaluated Models: </a:t>
            </a:r>
            <a:r>
              <a:rPr>
                <a:solidFill>
                  <a:srgbClr val="334155"/>
                </a:solidFill>
              </a:rPr>
              <a:t>Tested 7 commercial LLMs: GPT-4o-mini, GPT-4o, Claude-3.5-Haiku, Gemini-2.0-Flash, Gemini-Flash-Lite, DeepSeek-V3, and Grok-3-mini.</a:t>
            </a:r>
          </a:p>
          <a:p>
            <a:pPr>
              <a:spcBef>
                <a:spcPts val="500"/>
              </a:spcBef>
              <a:defRPr sz="950">
                <a:latin typeface="Arial"/>
              </a:defRPr>
            </a:pPr>
            <a:r>
              <a:rPr b="1">
                <a:solidFill>
                  <a:srgbClr val="0F172A"/>
                </a:solidFill>
              </a:rPr>
              <a:t>•  Model Resilience Divide: </a:t>
            </a:r>
            <a:r>
              <a:rPr>
                <a:solidFill>
                  <a:srgbClr val="334155"/>
                </a:solidFill>
              </a:rPr>
              <a:t>Claude-3.5-Haiku demonstrated the strongest guardrails across all languages, while DeepSeek-V3 and GPT-4o-mini were the most vulnerable (&gt;70% ASR).</a:t>
            </a:r>
          </a:p>
        </p:txBody>
      </p:sp>
      <p:sp>
        <p:nvSpPr>
          <p:cNvPr id="16" name="Rounded Rectangle 15"/>
          <p:cNvSpPr/>
          <p:nvPr/>
        </p:nvSpPr>
        <p:spPr>
          <a:xfrm>
            <a:off x="6217920" y="2880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F172A"/>
                </a:solidFill>
              </a:defRPr>
            </a:pPr>
            <a:r>
              <a:t>The Translation Quality Fallacy Exposed</a:t>
            </a:r>
          </a:p>
          <a:p>
            <a:pPr>
              <a:spcBef>
                <a:spcPts val="500"/>
              </a:spcBef>
              <a:defRPr sz="950">
                <a:latin typeface="Arial"/>
              </a:defRPr>
            </a:pPr>
            <a:r>
              <a:rPr b="1">
                <a:solidFill>
                  <a:srgbClr val="0F172A"/>
                </a:solidFill>
              </a:rPr>
              <a:t>•  The False Safety Illusion: </a:t>
            </a:r>
            <a:r>
              <a:rPr>
                <a:solidFill>
                  <a:srgbClr val="334155"/>
                </a:solidFill>
              </a:rPr>
              <a:t>Automated tests suggested isiXhosa (45.7%) and isiZulu (49.1%) were 'safer' than English (72.7%).</a:t>
            </a:r>
          </a:p>
          <a:p>
            <a:pPr>
              <a:spcBef>
                <a:spcPts val="500"/>
              </a:spcBef>
              <a:defRPr sz="950">
                <a:latin typeface="Arial"/>
              </a:defRPr>
            </a:pPr>
            <a:r>
              <a:rPr b="1">
                <a:solidFill>
                  <a:srgbClr val="0F172A"/>
                </a:solidFill>
              </a:rPr>
              <a:t>•  Root Cause Analysis: </a:t>
            </a:r>
            <a:r>
              <a:rPr>
                <a:solidFill>
                  <a:srgbClr val="334155"/>
                </a:solidFill>
              </a:rPr>
              <a:t>Machine translation produced gibberish or altered semantic meaning (CommonCrawl ratio &lt;0.001%). Translation quality metrics correlated massively with success (BLEU r=0.92, METEOR r=0.91).</a:t>
            </a:r>
          </a:p>
          <a:p>
            <a:pPr>
              <a:spcBef>
                <a:spcPts val="500"/>
              </a:spcBef>
              <a:defRPr sz="950">
                <a:latin typeface="Arial"/>
              </a:defRPr>
            </a:pPr>
            <a:r>
              <a:rPr b="1">
                <a:solidFill>
                  <a:srgbClr val="0F172A"/>
                </a:solidFill>
              </a:rPr>
              <a:t>•  Human Red-Teaming Surge: </a:t>
            </a:r>
            <a:r>
              <a:rPr>
                <a:solidFill>
                  <a:srgbClr val="334155"/>
                </a:solidFill>
              </a:rPr>
              <a:t>When native speakers refined prompts, jailbreak rates jumped to 58.0% for isiXhosa (+12.3%), 61.7% for isiZulu (+12.7%), and 89.4% for Afrikaans (+20.0%).</a:t>
            </a:r>
          </a:p>
          <a:p>
            <a:pPr>
              <a:spcBef>
                <a:spcPts val="500"/>
              </a:spcBef>
              <a:defRPr sz="950">
                <a:latin typeface="Arial"/>
              </a:defRPr>
            </a:pPr>
            <a:r>
              <a:rPr b="1">
                <a:solidFill>
                  <a:srgbClr val="0F172A"/>
                </a:solidFill>
              </a:rPr>
              <a:t>•  Critical Finding: </a:t>
            </a:r>
            <a:r>
              <a:rPr>
                <a:solidFill>
                  <a:srgbClr val="334155"/>
                </a:solidFill>
              </a:rPr>
              <a:t>Low automated jailbreak rates reflect translation breakdown, NOT robust safety alignment. LLMs remain fundamentally unprotected in low-resource tongues.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THEME 3 SYNTHESIS</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Cross-Lingual Alignment Fragility &amp; Tool Calibration Gaps</a:t>
            </a:r>
          </a:p>
          <a:p>
            <a:pPr>
              <a:spcBef>
                <a:spcPts val="300"/>
              </a:spcBef>
              <a:defRPr sz="1050">
                <a:solidFill>
                  <a:srgbClr val="64748B"/>
                </a:solidFill>
                <a:latin typeface="Arial"/>
              </a:defRPr>
            </a:pPr>
            <a:r>
              <a:t>Connecting Atil et al. (Paper 9), Marx &amp; Dunaiski (Paper 10), and the Cross-Lingual Skills Audit (Paper 8)</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18 of 22</a:t>
            </a:r>
          </a:p>
        </p:txBody>
      </p:sp>
      <p:sp>
        <p:nvSpPr>
          <p:cNvPr id="7" name="Rounded Rectangle 6"/>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2563EB"/>
                </a:solidFill>
              </a:defRPr>
            </a:pPr>
            <a:r>
              <a:t>1. Attack Evolution</a:t>
            </a:r>
          </a:p>
          <a:p>
            <a:pPr>
              <a:spcBef>
                <a:spcPts val="500"/>
              </a:spcBef>
              <a:defRPr sz="950">
                <a:latin typeface="Arial"/>
              </a:defRPr>
            </a:pPr>
            <a:r>
              <a:rPr b="1">
                <a:solidFill>
                  <a:srgbClr val="0F172A"/>
                </a:solidFill>
              </a:rPr>
              <a:t>•  Single-Turn Ineffective: </a:t>
            </a:r>
            <a:r>
              <a:rPr>
                <a:solidFill>
                  <a:srgbClr val="334155"/>
                </a:solidFill>
              </a:rPr>
              <a:t>Direct machine translation of harmful prompts is caught by modern frontier safety classifiers.</a:t>
            </a:r>
          </a:p>
          <a:p>
            <a:pPr>
              <a:spcBef>
                <a:spcPts val="500"/>
              </a:spcBef>
              <a:defRPr sz="950">
                <a:latin typeface="Arial"/>
              </a:defRPr>
            </a:pPr>
            <a:r>
              <a:rPr b="1">
                <a:solidFill>
                  <a:srgbClr val="0F172A"/>
                </a:solidFill>
              </a:rPr>
              <a:t>•  Logic Disguise: </a:t>
            </a:r>
            <a:r>
              <a:rPr>
                <a:solidFill>
                  <a:srgbClr val="334155"/>
                </a:solidFill>
              </a:rPr>
              <a:t>Formal logic predicates bypass safety filters in high/medium resource tiers (Atil et al.).</a:t>
            </a:r>
          </a:p>
          <a:p>
            <a:pPr>
              <a:spcBef>
                <a:spcPts val="500"/>
              </a:spcBef>
              <a:defRPr sz="950">
                <a:latin typeface="Arial"/>
              </a:defRPr>
            </a:pPr>
            <a:r>
              <a:rPr b="1">
                <a:solidFill>
                  <a:srgbClr val="0F172A"/>
                </a:solidFill>
              </a:rPr>
              <a:t>•  Multi-Turn Pacing: </a:t>
            </a:r>
            <a:r>
              <a:rPr>
                <a:solidFill>
                  <a:srgbClr val="334155"/>
                </a:solidFill>
              </a:rPr>
              <a:t>Spreading malicious objectives across seemingly benign conversation turns evades safety filters (Marx &amp; Dunaiski).</a:t>
            </a:r>
          </a:p>
          <a:p>
            <a:pPr>
              <a:spcBef>
                <a:spcPts val="500"/>
              </a:spcBef>
              <a:defRPr sz="950">
                <a:latin typeface="Arial"/>
              </a:defRPr>
            </a:pPr>
            <a:r>
              <a:rPr b="1">
                <a:solidFill>
                  <a:srgbClr val="0F172A"/>
                </a:solidFill>
              </a:rPr>
              <a:t>•  Native Human Exploit: </a:t>
            </a:r>
            <a:r>
              <a:rPr>
                <a:solidFill>
                  <a:srgbClr val="334155"/>
                </a:solidFill>
              </a:rPr>
              <a:t>Context-aware prompters achieve 89.4% ASR by exploiting cultural and idiomatic nuances.</a:t>
            </a:r>
          </a:p>
        </p:txBody>
      </p:sp>
      <p:sp>
        <p:nvSpPr>
          <p:cNvPr id="8" name="Rounded Rectangle 7"/>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C2626"/>
                </a:solidFill>
              </a:defRPr>
            </a:pPr>
            <a:r>
              <a:t>2. Resource Asymmetry</a:t>
            </a:r>
          </a:p>
          <a:p>
            <a:pPr>
              <a:spcBef>
                <a:spcPts val="500"/>
              </a:spcBef>
              <a:defRPr sz="950">
                <a:latin typeface="Arial"/>
              </a:defRPr>
            </a:pPr>
            <a:r>
              <a:rPr b="1">
                <a:solidFill>
                  <a:srgbClr val="0F172A"/>
                </a:solidFill>
              </a:rPr>
              <a:t>•  High-Resource Vulnerability: </a:t>
            </a:r>
            <a:r>
              <a:rPr>
                <a:solidFill>
                  <a:srgbClr val="334155"/>
                </a:solidFill>
              </a:rPr>
              <a:t>Extensive alignment suppresses direct harm, but high linguistic fluency enables token-level adversarial suffix exploits.</a:t>
            </a:r>
          </a:p>
          <a:p>
            <a:pPr>
              <a:spcBef>
                <a:spcPts val="500"/>
              </a:spcBef>
              <a:defRPr sz="950">
                <a:latin typeface="Arial"/>
              </a:defRPr>
            </a:pPr>
            <a:r>
              <a:rPr b="1">
                <a:solidFill>
                  <a:srgbClr val="0F172A"/>
                </a:solidFill>
              </a:rPr>
              <a:t>•  Low-Resource Blindspot: </a:t>
            </a:r>
            <a:r>
              <a:rPr>
                <a:solidFill>
                  <a:srgbClr val="334155"/>
                </a:solidFill>
              </a:rPr>
              <a:t>Shallow alignment makes models vulnerable to direct harm, but subword tokenization degrades English suffix attacks.</a:t>
            </a:r>
          </a:p>
          <a:p>
            <a:pPr>
              <a:spcBef>
                <a:spcPts val="500"/>
              </a:spcBef>
              <a:defRPr sz="950">
                <a:latin typeface="Arial"/>
              </a:defRPr>
            </a:pPr>
            <a:r>
              <a:rPr b="1">
                <a:solidFill>
                  <a:srgbClr val="0F172A"/>
                </a:solidFill>
              </a:rPr>
              <a:t>•  The Translation Illusion: </a:t>
            </a:r>
            <a:r>
              <a:rPr>
                <a:solidFill>
                  <a:srgbClr val="334155"/>
                </a:solidFill>
              </a:rPr>
              <a:t>Evaluating safety with Google Translate yields false negatives; models appear robust only because prompts are garbled.</a:t>
            </a:r>
          </a:p>
          <a:p>
            <a:pPr>
              <a:spcBef>
                <a:spcPts val="500"/>
              </a:spcBef>
              <a:defRPr sz="950">
                <a:latin typeface="Arial"/>
              </a:defRPr>
            </a:pPr>
            <a:r>
              <a:rPr b="1">
                <a:solidFill>
                  <a:srgbClr val="0F172A"/>
                </a:solidFill>
              </a:rPr>
              <a:t>•  Alignment Inequity: </a:t>
            </a:r>
            <a:r>
              <a:rPr>
                <a:solidFill>
                  <a:srgbClr val="334155"/>
                </a:solidFill>
              </a:rPr>
              <a:t>Safety alignment remains overwhelmingly English-centric across all commercial models.</a:t>
            </a:r>
          </a:p>
        </p:txBody>
      </p:sp>
      <p:sp>
        <p:nvSpPr>
          <p:cNvPr id="9" name="Rounded Rectangle 8"/>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59669"/>
                </a:solidFill>
              </a:defRPr>
            </a:pPr>
            <a:r>
              <a:t>3. Security Tool Bias</a:t>
            </a:r>
          </a:p>
          <a:p>
            <a:pPr>
              <a:spcBef>
                <a:spcPts val="500"/>
              </a:spcBef>
              <a:defRPr sz="950">
                <a:latin typeface="Arial"/>
              </a:defRPr>
            </a:pPr>
            <a:r>
              <a:rPr b="1">
                <a:solidFill>
                  <a:srgbClr val="0F172A"/>
                </a:solidFill>
              </a:rPr>
              <a:t>•  Tooling Calibration Gap: </a:t>
            </a:r>
            <a:r>
              <a:rPr>
                <a:solidFill>
                  <a:srgbClr val="334155"/>
                </a:solidFill>
              </a:rPr>
              <a:t>The multilingual blindspot affects not only LLMs, but also automated security scanners (Paper 8).</a:t>
            </a:r>
          </a:p>
          <a:p>
            <a:pPr>
              <a:spcBef>
                <a:spcPts val="500"/>
              </a:spcBef>
              <a:defRPr sz="950">
                <a:latin typeface="Arial"/>
              </a:defRPr>
            </a:pPr>
            <a:r>
              <a:rPr b="1">
                <a:solidFill>
                  <a:srgbClr val="0F172A"/>
                </a:solidFill>
              </a:rPr>
              <a:t>•  3–5x False Positives: </a:t>
            </a:r>
            <a:r>
              <a:rPr>
                <a:solidFill>
                  <a:srgbClr val="334155"/>
                </a:solidFill>
              </a:rPr>
              <a:t>Scanners flag benign non-English skills as 'social engineering' due to English-calibrated heuristics.</a:t>
            </a:r>
          </a:p>
          <a:p>
            <a:pPr>
              <a:spcBef>
                <a:spcPts val="500"/>
              </a:spcBef>
              <a:defRPr sz="950">
                <a:latin typeface="Arial"/>
              </a:defRPr>
            </a:pPr>
            <a:r>
              <a:rPr b="1">
                <a:solidFill>
                  <a:srgbClr val="0F172A"/>
                </a:solidFill>
              </a:rPr>
              <a:t>•  0% Japanese Precision: </a:t>
            </a:r>
            <a:r>
              <a:rPr>
                <a:solidFill>
                  <a:srgbClr val="334155"/>
                </a:solidFill>
              </a:rPr>
              <a:t>Near-zero precision in Asian languages means non-English developers face systemic exclusion at registry gates.</a:t>
            </a:r>
          </a:p>
          <a:p>
            <a:pPr>
              <a:spcBef>
                <a:spcPts val="500"/>
              </a:spcBef>
              <a:defRPr sz="950">
                <a:latin typeface="Arial"/>
              </a:defRPr>
            </a:pPr>
            <a:r>
              <a:rPr b="1">
                <a:solidFill>
                  <a:srgbClr val="0F172A"/>
                </a:solidFill>
              </a:rPr>
              <a:t>•  The Dual Hazard: </a:t>
            </a:r>
            <a:r>
              <a:rPr>
                <a:solidFill>
                  <a:srgbClr val="334155"/>
                </a:solidFill>
              </a:rPr>
              <a:t>Models are undefended against multilingual jailbreaks, while registries unfairly reject benign multilingual skills.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COMPREHENSIVE COMPARISON</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Master Technical Matrix across All 10 Papers</a:t>
            </a:r>
          </a:p>
          <a:p>
            <a:pPr>
              <a:spcBef>
                <a:spcPts val="300"/>
              </a:spcBef>
              <a:defRPr sz="1050">
                <a:solidFill>
                  <a:srgbClr val="64748B"/>
                </a:solidFill>
                <a:latin typeface="Arial"/>
              </a:defRPr>
            </a:pPr>
            <a:r>
              <a:t>Systematic synthesis of threat vectors, target platforms, benchmarks, peak impact, and primary defense failure points</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19 of 22</a:t>
            </a:r>
          </a:p>
        </p:txBody>
      </p:sp>
      <p:graphicFrame>
        <p:nvGraphicFramePr>
          <p:cNvPr id="7" name="Table 6"/>
          <p:cNvGraphicFramePr>
            <a:graphicFrameLocks noGrp="1"/>
          </p:cNvGraphicFramePr>
          <p:nvPr/>
        </p:nvGraphicFramePr>
        <p:xfrm>
          <a:off x="731520" y="1554480"/>
          <a:ext cx="10728655" cy="4663440"/>
        </p:xfrm>
        <a:graphic>
          <a:graphicData uri="http://schemas.openxmlformats.org/drawingml/2006/table">
            <a:tbl>
              <a:tblPr firstRow="1" bandRow="1">
                <a:tableStyleId>{5C22544A-7EE6-4342-B048-85BDC9FD1C3A}</a:tableStyleId>
              </a:tblPr>
              <a:tblGrid>
                <a:gridCol w="1371600"/>
                <a:gridCol w="1645920"/>
                <a:gridCol w="2011680"/>
                <a:gridCol w="1828800"/>
                <a:gridCol w="1645920"/>
                <a:gridCol w="2224735"/>
              </a:tblGrid>
              <a:tr h="423949">
                <a:tc>
                  <a:txBody>
                    <a:bodyPr/>
                    <a:lstStyle/>
                    <a:p>
                      <a:pPr algn="ctr">
                        <a:defRPr sz="900" b="1">
                          <a:solidFill>
                            <a:srgbClr val="FFFFFF"/>
                          </a:solidFill>
                          <a:latin typeface="Arial"/>
                        </a:defRPr>
                      </a:pPr>
                      <a:r>
                        <a:t>Paper &amp; Year</a:t>
                      </a:r>
                    </a:p>
                  </a:txBody>
                  <a:tcPr>
                    <a:solidFill>
                      <a:srgbClr val="0B132B"/>
                    </a:solidFill>
                  </a:tcPr>
                </a:tc>
                <a:tc>
                  <a:txBody>
                    <a:bodyPr/>
                    <a:lstStyle/>
                    <a:p>
                      <a:pPr algn="ctr">
                        <a:defRPr sz="900" b="1">
                          <a:solidFill>
                            <a:srgbClr val="FFFFFF"/>
                          </a:solidFill>
                          <a:latin typeface="Arial"/>
                        </a:defRPr>
                      </a:pPr>
                      <a:r>
                        <a:t>Threat Vector</a:t>
                      </a:r>
                    </a:p>
                  </a:txBody>
                  <a:tcPr>
                    <a:solidFill>
                      <a:srgbClr val="0B132B"/>
                    </a:solidFill>
                  </a:tcPr>
                </a:tc>
                <a:tc>
                  <a:txBody>
                    <a:bodyPr/>
                    <a:lstStyle/>
                    <a:p>
                      <a:pPr algn="ctr">
                        <a:defRPr sz="900" b="1">
                          <a:solidFill>
                            <a:srgbClr val="FFFFFF"/>
                          </a:solidFill>
                          <a:latin typeface="Arial"/>
                        </a:defRPr>
                      </a:pPr>
                      <a:r>
                        <a:t>Target Models / Scaffolds</a:t>
                      </a:r>
                    </a:p>
                  </a:txBody>
                  <a:tcPr>
                    <a:solidFill>
                      <a:srgbClr val="0B132B"/>
                    </a:solidFill>
                  </a:tcPr>
                </a:tc>
                <a:tc>
                  <a:txBody>
                    <a:bodyPr/>
                    <a:lstStyle/>
                    <a:p>
                      <a:pPr algn="ctr">
                        <a:defRPr sz="900" b="1">
                          <a:solidFill>
                            <a:srgbClr val="FFFFFF"/>
                          </a:solidFill>
                          <a:latin typeface="Arial"/>
                        </a:defRPr>
                      </a:pPr>
                      <a:r>
                        <a:t>Benchmarks / Datasets</a:t>
                      </a:r>
                    </a:p>
                  </a:txBody>
                  <a:tcPr>
                    <a:solidFill>
                      <a:srgbClr val="0B132B"/>
                    </a:solidFill>
                  </a:tcPr>
                </a:tc>
                <a:tc>
                  <a:txBody>
                    <a:bodyPr/>
                    <a:lstStyle/>
                    <a:p>
                      <a:pPr algn="ctr">
                        <a:defRPr sz="900" b="1">
                          <a:solidFill>
                            <a:srgbClr val="FFFFFF"/>
                          </a:solidFill>
                          <a:latin typeface="Arial"/>
                        </a:defRPr>
                      </a:pPr>
                      <a:r>
                        <a:t>Peak Impact / ASR</a:t>
                      </a:r>
                    </a:p>
                  </a:txBody>
                  <a:tcPr>
                    <a:solidFill>
                      <a:srgbClr val="0B132B"/>
                    </a:solidFill>
                  </a:tcPr>
                </a:tc>
                <a:tc>
                  <a:txBody>
                    <a:bodyPr/>
                    <a:lstStyle/>
                    <a:p>
                      <a:pPr algn="ctr">
                        <a:defRPr sz="900" b="1">
                          <a:solidFill>
                            <a:srgbClr val="FFFFFF"/>
                          </a:solidFill>
                          <a:latin typeface="Arial"/>
                        </a:defRPr>
                      </a:pPr>
                      <a:r>
                        <a:t>Primary Defense Failure Point</a:t>
                      </a:r>
                    </a:p>
                  </a:txBody>
                  <a:tcPr>
                    <a:solidFill>
                      <a:srgbClr val="0B132B"/>
                    </a:solidFill>
                  </a:tcPr>
                </a:tc>
              </a:tr>
              <a:tr h="423949">
                <a:tc>
                  <a:txBody>
                    <a:bodyPr/>
                    <a:lstStyle/>
                    <a:p>
                      <a:pPr algn="ctr">
                        <a:defRPr sz="750" b="1">
                          <a:solidFill>
                            <a:srgbClr val="0F172A"/>
                          </a:solidFill>
                          <a:latin typeface="Arial"/>
                        </a:defRPr>
                      </a:pPr>
                      <a:r>
                        <a:t>Huang et al. (2026)</a:t>
                      </a:r>
                    </a:p>
                  </a:txBody>
                  <a:tcPr>
                    <a:solidFill>
                      <a:srgbClr val="FFFFFF"/>
                    </a:solidFill>
                  </a:tcPr>
                </a:tc>
                <a:tc>
                  <a:txBody>
                    <a:bodyPr/>
                    <a:lstStyle/>
                    <a:p>
                      <a:pPr>
                        <a:defRPr sz="750">
                          <a:solidFill>
                            <a:srgbClr val="0F172A"/>
                          </a:solidFill>
                          <a:latin typeface="Arial"/>
                        </a:defRPr>
                      </a:pPr>
                      <a:r>
                        <a:t>MCP Tool Poisoning</a:t>
                      </a:r>
                    </a:p>
                  </a:txBody>
                  <a:tcPr>
                    <a:solidFill>
                      <a:srgbClr val="FFFFFF"/>
                    </a:solidFill>
                  </a:tcPr>
                </a:tc>
                <a:tc>
                  <a:txBody>
                    <a:bodyPr/>
                    <a:lstStyle/>
                    <a:p>
                      <a:pPr>
                        <a:defRPr sz="750">
                          <a:solidFill>
                            <a:srgbClr val="0F172A"/>
                          </a:solidFill>
                          <a:latin typeface="Arial"/>
                        </a:defRPr>
                      </a:pPr>
                      <a:r>
                        <a:t>Claude 3.5, Gemini 2.5, Cursor, Grok</a:t>
                      </a:r>
                    </a:p>
                  </a:txBody>
                  <a:tcPr>
                    <a:solidFill>
                      <a:srgbClr val="FFFFFF"/>
                    </a:solidFill>
                  </a:tcPr>
                </a:tc>
                <a:tc>
                  <a:txBody>
                    <a:bodyPr/>
                    <a:lstStyle/>
                    <a:p>
                      <a:pPr>
                        <a:defRPr sz="750">
                          <a:solidFill>
                            <a:srgbClr val="0F172A"/>
                          </a:solidFill>
                          <a:latin typeface="Arial"/>
                        </a:defRPr>
                      </a:pPr>
                      <a:r>
                        <a:t>STRIDE/DREAD (50+ threats); 7 clients</a:t>
                      </a:r>
                    </a:p>
                  </a:txBody>
                  <a:tcPr>
                    <a:solidFill>
                      <a:srgbClr val="FFFFFF"/>
                    </a:solidFill>
                  </a:tcPr>
                </a:tc>
                <a:tc>
                  <a:txBody>
                    <a:bodyPr/>
                    <a:lstStyle/>
                    <a:p>
                      <a:pPr algn="ctr">
                        <a:defRPr sz="750" b="1">
                          <a:solidFill>
                            <a:srgbClr val="0F172A"/>
                          </a:solidFill>
                          <a:latin typeface="Arial"/>
                        </a:defRPr>
                      </a:pPr>
                      <a:r>
                        <a:t>100% Unsafe (Cursor)</a:t>
                      </a:r>
                    </a:p>
                  </a:txBody>
                  <a:tcPr>
                    <a:solidFill>
                      <a:srgbClr val="FFFFFF"/>
                    </a:solidFill>
                  </a:tcPr>
                </a:tc>
                <a:tc>
                  <a:txBody>
                    <a:bodyPr/>
                    <a:lstStyle/>
                    <a:p>
                      <a:pPr>
                        <a:defRPr sz="750">
                          <a:solidFill>
                            <a:srgbClr val="0F172A"/>
                          </a:solidFill>
                          <a:latin typeface="Arial"/>
                        </a:defRPr>
                      </a:pPr>
                      <a:r>
                        <a:t>No static validation; dialog parameter truncation</a:t>
                      </a:r>
                    </a:p>
                  </a:txBody>
                  <a:tcPr>
                    <a:solidFill>
                      <a:srgbClr val="FFFFFF"/>
                    </a:solidFill>
                  </a:tcPr>
                </a:tc>
              </a:tr>
              <a:tr h="423949">
                <a:tc>
                  <a:txBody>
                    <a:bodyPr/>
                    <a:lstStyle/>
                    <a:p>
                      <a:pPr algn="ctr">
                        <a:defRPr sz="750" b="1">
                          <a:solidFill>
                            <a:srgbClr val="0F172A"/>
                          </a:solidFill>
                          <a:latin typeface="Arial"/>
                        </a:defRPr>
                      </a:pPr>
                      <a:r>
                        <a:t>Saha et al. (2026)</a:t>
                      </a:r>
                    </a:p>
                  </a:txBody>
                  <a:tcPr>
                    <a:solidFill>
                      <a:srgbClr val="F1F5F9"/>
                    </a:solidFill>
                  </a:tcPr>
                </a:tc>
                <a:tc>
                  <a:txBody>
                    <a:bodyPr/>
                    <a:lstStyle/>
                    <a:p>
                      <a:pPr>
                        <a:defRPr sz="750">
                          <a:solidFill>
                            <a:srgbClr val="0F172A"/>
                          </a:solidFill>
                          <a:latin typeface="Arial"/>
                        </a:defRPr>
                      </a:pPr>
                      <a:r>
                        <a:t>SKILL.md Lifecycle</a:t>
                      </a:r>
                    </a:p>
                  </a:txBody>
                  <a:tcPr>
                    <a:solidFill>
                      <a:srgbClr val="F1F5F9"/>
                    </a:solidFill>
                  </a:tcPr>
                </a:tc>
                <a:tc>
                  <a:txBody>
                    <a:bodyPr/>
                    <a:lstStyle/>
                    <a:p>
                      <a:pPr>
                        <a:defRPr sz="750">
                          <a:solidFill>
                            <a:srgbClr val="0F172A"/>
                          </a:solidFill>
                          <a:latin typeface="Arial"/>
                        </a:defRPr>
                      </a:pPr>
                      <a:r>
                        <a:t>GPT-5, GPT-4.1, Gemma-4, Qwen3</a:t>
                      </a:r>
                    </a:p>
                  </a:txBody>
                  <a:tcPr>
                    <a:solidFill>
                      <a:srgbClr val="F1F5F9"/>
                    </a:solidFill>
                  </a:tcPr>
                </a:tc>
                <a:tc>
                  <a:txBody>
                    <a:bodyPr/>
                    <a:lstStyle/>
                    <a:p>
                      <a:pPr>
                        <a:defRPr sz="750">
                          <a:solidFill>
                            <a:srgbClr val="0F172A"/>
                          </a:solidFill>
                          <a:latin typeface="Arial"/>
                        </a:defRPr>
                      </a:pPr>
                      <a:r>
                        <a:t>100 ClawHub skills, ClawScan pipeline</a:t>
                      </a:r>
                    </a:p>
                  </a:txBody>
                  <a:tcPr>
                    <a:solidFill>
                      <a:srgbClr val="F1F5F9"/>
                    </a:solidFill>
                  </a:tcPr>
                </a:tc>
                <a:tc>
                  <a:txBody>
                    <a:bodyPr/>
                    <a:lstStyle/>
                    <a:p>
                      <a:pPr algn="ctr">
                        <a:defRPr sz="750" b="1">
                          <a:solidFill>
                            <a:srgbClr val="0F172A"/>
                          </a:solidFill>
                          <a:latin typeface="Arial"/>
                        </a:defRPr>
                      </a:pPr>
                      <a:r>
                        <a:t>86% Win; 100% Evasion</a:t>
                      </a:r>
                    </a:p>
                  </a:txBody>
                  <a:tcPr>
                    <a:solidFill>
                      <a:srgbClr val="F1F5F9"/>
                    </a:solidFill>
                  </a:tcPr>
                </a:tc>
                <a:tc>
                  <a:txBody>
                    <a:bodyPr/>
                    <a:lstStyle/>
                    <a:p>
                      <a:pPr>
                        <a:defRPr sz="750">
                          <a:solidFill>
                            <a:srgbClr val="0F172A"/>
                          </a:solidFill>
                          <a:latin typeface="Arial"/>
                        </a:defRPr>
                      </a:pPr>
                      <a:r>
                        <a:t>Context-window truncation (10k chars); DoD lists</a:t>
                      </a:r>
                    </a:p>
                  </a:txBody>
                  <a:tcPr>
                    <a:solidFill>
                      <a:srgbClr val="F1F5F9"/>
                    </a:solidFill>
                  </a:tcPr>
                </a:tc>
              </a:tr>
              <a:tr h="423949">
                <a:tc>
                  <a:txBody>
                    <a:bodyPr/>
                    <a:lstStyle/>
                    <a:p>
                      <a:pPr algn="ctr">
                        <a:defRPr sz="750" b="1">
                          <a:solidFill>
                            <a:srgbClr val="0F172A"/>
                          </a:solidFill>
                          <a:latin typeface="Arial"/>
                        </a:defRPr>
                      </a:pPr>
                      <a:r>
                        <a:t>Jia et al. (2026)</a:t>
                      </a:r>
                    </a:p>
                  </a:txBody>
                  <a:tcPr>
                    <a:solidFill>
                      <a:srgbClr val="FFFFFF"/>
                    </a:solidFill>
                  </a:tcPr>
                </a:tc>
                <a:tc>
                  <a:txBody>
                    <a:bodyPr/>
                    <a:lstStyle/>
                    <a:p>
                      <a:pPr>
                        <a:defRPr sz="750">
                          <a:solidFill>
                            <a:srgbClr val="0F172A"/>
                          </a:solidFill>
                          <a:latin typeface="Arial"/>
                        </a:defRPr>
                      </a:pPr>
                      <a:r>
                        <a:t>SkillJect Decoupling</a:t>
                      </a:r>
                    </a:p>
                  </a:txBody>
                  <a:tcPr>
                    <a:solidFill>
                      <a:srgbClr val="FFFFFF"/>
                    </a:solidFill>
                  </a:tcPr>
                </a:tc>
                <a:tc>
                  <a:txBody>
                    <a:bodyPr/>
                    <a:lstStyle/>
                    <a:p>
                      <a:pPr>
                        <a:defRPr sz="750">
                          <a:solidFill>
                            <a:srgbClr val="0F172A"/>
                          </a:solidFill>
                          <a:latin typeface="Arial"/>
                        </a:defRPr>
                      </a:pPr>
                      <a:r>
                        <a:t>Claude Code, OpenClaw; Sonnet, GPT-5</a:t>
                      </a:r>
                    </a:p>
                  </a:txBody>
                  <a:tcPr>
                    <a:solidFill>
                      <a:srgbClr val="FFFFFF"/>
                    </a:solidFill>
                  </a:tcPr>
                </a:tc>
                <a:tc>
                  <a:txBody>
                    <a:bodyPr/>
                    <a:lstStyle/>
                    <a:p>
                      <a:pPr>
                        <a:defRPr sz="750">
                          <a:solidFill>
                            <a:srgbClr val="0F172A"/>
                          </a:solidFill>
                          <a:latin typeface="Arial"/>
                        </a:defRPr>
                      </a:pPr>
                      <a:r>
                        <a:t>100 skill packages, 100 task dirs</a:t>
                      </a:r>
                    </a:p>
                  </a:txBody>
                  <a:tcPr>
                    <a:solidFill>
                      <a:srgbClr val="FFFFFF"/>
                    </a:solidFill>
                  </a:tcPr>
                </a:tc>
                <a:tc>
                  <a:txBody>
                    <a:bodyPr/>
                    <a:lstStyle/>
                    <a:p>
                      <a:pPr algn="ctr">
                        <a:defRPr sz="750" b="1">
                          <a:solidFill>
                            <a:srgbClr val="0F172A"/>
                          </a:solidFill>
                          <a:latin typeface="Arial"/>
                        </a:defRPr>
                      </a:pPr>
                      <a:r>
                        <a:t>80.7% ASR (Claude Code)</a:t>
                      </a:r>
                    </a:p>
                  </a:txBody>
                  <a:tcPr>
                    <a:solidFill>
                      <a:srgbClr val="FFFFFF"/>
                    </a:solidFill>
                  </a:tcPr>
                </a:tc>
                <a:tc>
                  <a:txBody>
                    <a:bodyPr/>
                    <a:lstStyle/>
                    <a:p>
                      <a:pPr>
                        <a:defRPr sz="750">
                          <a:solidFill>
                            <a:srgbClr val="0F172A"/>
                          </a:solidFill>
                          <a:latin typeface="Arial"/>
                        </a:defRPr>
                      </a:pPr>
                      <a:r>
                        <a:t>Scanners inspect instructions, miss helper scripts</a:t>
                      </a:r>
                    </a:p>
                  </a:txBody>
                  <a:tcPr>
                    <a:solidFill>
                      <a:srgbClr val="FFFFFF"/>
                    </a:solidFill>
                  </a:tcPr>
                </a:tc>
              </a:tr>
              <a:tr h="423949">
                <a:tc>
                  <a:txBody>
                    <a:bodyPr/>
                    <a:lstStyle/>
                    <a:p>
                      <a:pPr algn="ctr">
                        <a:defRPr sz="750" b="1">
                          <a:solidFill>
                            <a:srgbClr val="0F172A"/>
                          </a:solidFill>
                          <a:latin typeface="Arial"/>
                        </a:defRPr>
                      </a:pPr>
                      <a:r>
                        <a:t>Liu et al. (2026)</a:t>
                      </a:r>
                    </a:p>
                  </a:txBody>
                  <a:tcPr>
                    <a:solidFill>
                      <a:srgbClr val="F1F5F9"/>
                    </a:solidFill>
                  </a:tcPr>
                </a:tc>
                <a:tc>
                  <a:txBody>
                    <a:bodyPr/>
                    <a:lstStyle/>
                    <a:p>
                      <a:pPr>
                        <a:defRPr sz="750">
                          <a:solidFill>
                            <a:srgbClr val="0F172A"/>
                          </a:solidFill>
                          <a:latin typeface="Arial"/>
                        </a:defRPr>
                      </a:pPr>
                      <a:r>
                        <a:t>Skills at Scale Audit</a:t>
                      </a:r>
                    </a:p>
                  </a:txBody>
                  <a:tcPr>
                    <a:solidFill>
                      <a:srgbClr val="F1F5F9"/>
                    </a:solidFill>
                  </a:tcPr>
                </a:tc>
                <a:tc>
                  <a:txBody>
                    <a:bodyPr/>
                    <a:lstStyle/>
                    <a:p>
                      <a:pPr>
                        <a:defRPr sz="750">
                          <a:solidFill>
                            <a:srgbClr val="0F172A"/>
                          </a:solidFill>
                          <a:latin typeface="Arial"/>
                        </a:defRPr>
                      </a:pPr>
                      <a:r>
                        <a:t>Static parsers, AST, Semgrep, Claude</a:t>
                      </a:r>
                    </a:p>
                  </a:txBody>
                  <a:tcPr>
                    <a:solidFill>
                      <a:srgbClr val="F1F5F9"/>
                    </a:solidFill>
                  </a:tcPr>
                </a:tc>
                <a:tc>
                  <a:txBody>
                    <a:bodyPr/>
                    <a:lstStyle/>
                    <a:p>
                      <a:pPr>
                        <a:defRPr sz="750">
                          <a:solidFill>
                            <a:srgbClr val="0F172A"/>
                          </a:solidFill>
                          <a:latin typeface="Arial"/>
                        </a:defRPr>
                      </a:pPr>
                      <a:r>
                        <a:t>31,132 unique skills (2 marketplaces)</a:t>
                      </a:r>
                    </a:p>
                  </a:txBody>
                  <a:tcPr>
                    <a:solidFill>
                      <a:srgbClr val="F1F5F9"/>
                    </a:solidFill>
                  </a:tcPr>
                </a:tc>
                <a:tc>
                  <a:txBody>
                    <a:bodyPr/>
                    <a:lstStyle/>
                    <a:p>
                      <a:pPr algn="ctr">
                        <a:defRPr sz="750" b="1">
                          <a:solidFill>
                            <a:srgbClr val="0F172A"/>
                          </a:solidFill>
                          <a:latin typeface="Arial"/>
                        </a:defRPr>
                      </a:pPr>
                      <a:r>
                        <a:t>26.1% Vuln Rate</a:t>
                      </a:r>
                    </a:p>
                  </a:txBody>
                  <a:tcPr>
                    <a:solidFill>
                      <a:srgbClr val="F1F5F9"/>
                    </a:solidFill>
                  </a:tcPr>
                </a:tc>
                <a:tc>
                  <a:txBody>
                    <a:bodyPr/>
                    <a:lstStyle/>
                    <a:p>
                      <a:pPr>
                        <a:defRPr sz="750">
                          <a:solidFill>
                            <a:srgbClr val="0F172A"/>
                          </a:solidFill>
                          <a:latin typeface="Arial"/>
                        </a:defRPr>
                      </a:pPr>
                      <a:r>
                        <a:t>Absence of execution sandboxing or code signing</a:t>
                      </a:r>
                    </a:p>
                  </a:txBody>
                  <a:tcPr>
                    <a:solidFill>
                      <a:srgbClr val="F1F5F9"/>
                    </a:solidFill>
                  </a:tcPr>
                </a:tc>
              </a:tr>
              <a:tr h="423949">
                <a:tc>
                  <a:txBody>
                    <a:bodyPr/>
                    <a:lstStyle/>
                    <a:p>
                      <a:pPr algn="ctr">
                        <a:defRPr sz="750" b="1">
                          <a:solidFill>
                            <a:srgbClr val="0F172A"/>
                          </a:solidFill>
                          <a:latin typeface="Arial"/>
                        </a:defRPr>
                      </a:pPr>
                      <a:r>
                        <a:t>Schmotz et al. (2026)</a:t>
                      </a:r>
                    </a:p>
                  </a:txBody>
                  <a:tcPr>
                    <a:solidFill>
                      <a:srgbClr val="FFFFFF"/>
                    </a:solidFill>
                  </a:tcPr>
                </a:tc>
                <a:tc>
                  <a:txBody>
                    <a:bodyPr/>
                    <a:lstStyle/>
                    <a:p>
                      <a:pPr>
                        <a:defRPr sz="750">
                          <a:solidFill>
                            <a:srgbClr val="0F172A"/>
                          </a:solidFill>
                          <a:latin typeface="Arial"/>
                        </a:defRPr>
                      </a:pPr>
                      <a:r>
                        <a:t>SKILL-INJECT</a:t>
                      </a:r>
                    </a:p>
                  </a:txBody>
                  <a:tcPr>
                    <a:solidFill>
                      <a:srgbClr val="FFFFFF"/>
                    </a:solidFill>
                  </a:tcPr>
                </a:tc>
                <a:tc>
                  <a:txBody>
                    <a:bodyPr/>
                    <a:lstStyle/>
                    <a:p>
                      <a:pPr>
                        <a:defRPr sz="750">
                          <a:solidFill>
                            <a:srgbClr val="0F172A"/>
                          </a:solidFill>
                          <a:latin typeface="Arial"/>
                        </a:defRPr>
                      </a:pPr>
                      <a:r>
                        <a:t>Gemini 2.5/3, GPT-5.1/5.2, Claude 4.5</a:t>
                      </a:r>
                    </a:p>
                  </a:txBody>
                  <a:tcPr>
                    <a:solidFill>
                      <a:srgbClr val="FFFFFF"/>
                    </a:solidFill>
                  </a:tcPr>
                </a:tc>
                <a:tc>
                  <a:txBody>
                    <a:bodyPr/>
                    <a:lstStyle/>
                    <a:p>
                      <a:pPr>
                        <a:defRPr sz="750">
                          <a:solidFill>
                            <a:srgbClr val="0F172A"/>
                          </a:solidFill>
                          <a:latin typeface="Arial"/>
                        </a:defRPr>
                      </a:pPr>
                      <a:r>
                        <a:t>202 injection pairs across 23 skills</a:t>
                      </a:r>
                    </a:p>
                  </a:txBody>
                  <a:tcPr>
                    <a:solidFill>
                      <a:srgbClr val="FFFFFF"/>
                    </a:solidFill>
                  </a:tcPr>
                </a:tc>
                <a:tc>
                  <a:txBody>
                    <a:bodyPr/>
                    <a:lstStyle/>
                    <a:p>
                      <a:pPr algn="ctr">
                        <a:defRPr sz="750" b="1">
                          <a:solidFill>
                            <a:srgbClr val="0F172A"/>
                          </a:solidFill>
                          <a:latin typeface="Arial"/>
                        </a:defRPr>
                      </a:pPr>
                      <a:r>
                        <a:t>77.8% ASR (Codex-Mini)</a:t>
                      </a:r>
                    </a:p>
                  </a:txBody>
                  <a:tcPr>
                    <a:solidFill>
                      <a:srgbClr val="FFFFFF"/>
                    </a:solidFill>
                  </a:tcPr>
                </a:tc>
                <a:tc>
                  <a:txBody>
                    <a:bodyPr/>
                    <a:lstStyle/>
                    <a:p>
                      <a:pPr>
                        <a:defRPr sz="750">
                          <a:solidFill>
                            <a:srgbClr val="0F172A"/>
                          </a:solidFill>
                          <a:latin typeface="Arial"/>
                        </a:defRPr>
                      </a:pPr>
                      <a:r>
                        <a:t>Warning prompts fail; LLM pre-screening false-positives</a:t>
                      </a:r>
                    </a:p>
                  </a:txBody>
                  <a:tcPr>
                    <a:solidFill>
                      <a:srgbClr val="FFFFFF"/>
                    </a:solidFill>
                  </a:tcPr>
                </a:tc>
              </a:tr>
              <a:tr h="423949">
                <a:tc>
                  <a:txBody>
                    <a:bodyPr/>
                    <a:lstStyle/>
                    <a:p>
                      <a:pPr algn="ctr">
                        <a:defRPr sz="750" b="1">
                          <a:solidFill>
                            <a:srgbClr val="0F172A"/>
                          </a:solidFill>
                          <a:latin typeface="Arial"/>
                        </a:defRPr>
                      </a:pPr>
                      <a:r>
                        <a:t>Qu et al. (2026)</a:t>
                      </a:r>
                    </a:p>
                  </a:txBody>
                  <a:tcPr>
                    <a:solidFill>
                      <a:srgbClr val="F1F5F9"/>
                    </a:solidFill>
                  </a:tcPr>
                </a:tc>
                <a:tc>
                  <a:txBody>
                    <a:bodyPr/>
                    <a:lstStyle/>
                    <a:p>
                      <a:pPr>
                        <a:defRPr sz="750">
                          <a:solidFill>
                            <a:srgbClr val="0F172A"/>
                          </a:solidFill>
                          <a:latin typeface="Arial"/>
                        </a:defRPr>
                      </a:pPr>
                      <a:r>
                        <a:t>DDIPE Poisoning</a:t>
                      </a:r>
                    </a:p>
                  </a:txBody>
                  <a:tcPr>
                    <a:solidFill>
                      <a:srgbClr val="F1F5F9"/>
                    </a:solidFill>
                  </a:tcPr>
                </a:tc>
                <a:tc>
                  <a:txBody>
                    <a:bodyPr/>
                    <a:lstStyle/>
                    <a:p>
                      <a:pPr>
                        <a:defRPr sz="750">
                          <a:solidFill>
                            <a:srgbClr val="0F172A"/>
                          </a:solidFill>
                          <a:latin typeface="Arial"/>
                        </a:defRPr>
                      </a:pPr>
                      <a:r>
                        <a:t>Claude Code, OpenHands; 5 LLMs</a:t>
                      </a:r>
                    </a:p>
                  </a:txBody>
                  <a:tcPr>
                    <a:solidFill>
                      <a:srgbClr val="F1F5F9"/>
                    </a:solidFill>
                  </a:tcPr>
                </a:tc>
                <a:tc>
                  <a:txBody>
                    <a:bodyPr/>
                    <a:lstStyle/>
                    <a:p>
                      <a:pPr>
                        <a:defRPr sz="750">
                          <a:solidFill>
                            <a:srgbClr val="0F172A"/>
                          </a:solidFill>
                          <a:latin typeface="Arial"/>
                        </a:defRPr>
                      </a:pPr>
                      <a:r>
                        <a:t>1,070 adversarial skills; 4 CVEs</a:t>
                      </a:r>
                    </a:p>
                  </a:txBody>
                  <a:tcPr>
                    <a:solidFill>
                      <a:srgbClr val="F1F5F9"/>
                    </a:solidFill>
                  </a:tcPr>
                </a:tc>
                <a:tc>
                  <a:txBody>
                    <a:bodyPr/>
                    <a:lstStyle/>
                    <a:p>
                      <a:pPr algn="ctr">
                        <a:defRPr sz="750" b="1">
                          <a:solidFill>
                            <a:srgbClr val="0F172A"/>
                          </a:solidFill>
                          <a:latin typeface="Arial"/>
                        </a:defRPr>
                      </a:pPr>
                      <a:r>
                        <a:t>27.1% Guardrail surge</a:t>
                      </a:r>
                    </a:p>
                  </a:txBody>
                  <a:tcPr>
                    <a:solidFill>
                      <a:srgbClr val="F1F5F9"/>
                    </a:solidFill>
                  </a:tcPr>
                </a:tc>
                <a:tc>
                  <a:txBody>
                    <a:bodyPr/>
                    <a:lstStyle/>
                    <a:p>
                      <a:pPr>
                        <a:defRPr sz="750">
                          <a:solidFill>
                            <a:srgbClr val="0F172A"/>
                          </a:solidFill>
                          <a:latin typeface="Arial"/>
                        </a:defRPr>
                      </a:pPr>
                      <a:r>
                        <a:t>Lexical scanners miss camouflaged DevOps/doc writes</a:t>
                      </a:r>
                    </a:p>
                  </a:txBody>
                  <a:tcPr>
                    <a:solidFill>
                      <a:srgbClr val="F1F5F9"/>
                    </a:solidFill>
                  </a:tcPr>
                </a:tc>
              </a:tr>
              <a:tr h="423949">
                <a:tc>
                  <a:txBody>
                    <a:bodyPr/>
                    <a:lstStyle/>
                    <a:p>
                      <a:pPr algn="ctr">
                        <a:defRPr sz="750" b="1">
                          <a:solidFill>
                            <a:srgbClr val="0F172A"/>
                          </a:solidFill>
                          <a:latin typeface="Arial"/>
                        </a:defRPr>
                      </a:pPr>
                      <a:r>
                        <a:t>Liu, Chen et al. (2026)</a:t>
                      </a:r>
                    </a:p>
                  </a:txBody>
                  <a:tcPr>
                    <a:solidFill>
                      <a:srgbClr val="FFFFFF"/>
                    </a:solidFill>
                  </a:tcPr>
                </a:tc>
                <a:tc>
                  <a:txBody>
                    <a:bodyPr/>
                    <a:lstStyle/>
                    <a:p>
                      <a:pPr>
                        <a:defRPr sz="750">
                          <a:solidFill>
                            <a:srgbClr val="0F172A"/>
                          </a:solidFill>
                          <a:latin typeface="Arial"/>
                        </a:defRPr>
                      </a:pPr>
                      <a:r>
                        <a:t>Wild Malicious Skills</a:t>
                      </a:r>
                    </a:p>
                  </a:txBody>
                  <a:tcPr>
                    <a:solidFill>
                      <a:srgbClr val="FFFFFF"/>
                    </a:solidFill>
                  </a:tcPr>
                </a:tc>
                <a:tc>
                  <a:txBody>
                    <a:bodyPr/>
                    <a:lstStyle/>
                    <a:p>
                      <a:pPr>
                        <a:defRPr sz="750">
                          <a:solidFill>
                            <a:srgbClr val="0F172A"/>
                          </a:solidFill>
                          <a:latin typeface="Arial"/>
                        </a:defRPr>
                      </a:pPr>
                      <a:r>
                        <a:t>Dynamic Docker sandbox; Claude Code</a:t>
                      </a:r>
                    </a:p>
                  </a:txBody>
                  <a:tcPr>
                    <a:solidFill>
                      <a:srgbClr val="FFFFFF"/>
                    </a:solidFill>
                  </a:tcPr>
                </a:tc>
                <a:tc>
                  <a:txBody>
                    <a:bodyPr/>
                    <a:lstStyle/>
                    <a:p>
                      <a:pPr>
                        <a:defRPr sz="750">
                          <a:solidFill>
                            <a:srgbClr val="0F172A"/>
                          </a:solidFill>
                          <a:latin typeface="Arial"/>
                        </a:defRPr>
                      </a:pPr>
                      <a:r>
                        <a:t>98,380 skills; 157 confirmed malicious</a:t>
                      </a:r>
                    </a:p>
                  </a:txBody>
                  <a:tcPr>
                    <a:solidFill>
                      <a:srgbClr val="FFFFFF"/>
                    </a:solidFill>
                  </a:tcPr>
                </a:tc>
                <a:tc>
                  <a:txBody>
                    <a:bodyPr/>
                    <a:lstStyle/>
                    <a:p>
                      <a:pPr algn="ctr">
                        <a:defRPr sz="750" b="1">
                          <a:solidFill>
                            <a:srgbClr val="0F172A"/>
                          </a:solidFill>
                          <a:latin typeface="Arial"/>
                        </a:defRPr>
                      </a:pPr>
                      <a:r>
                        <a:t>157 Skills (100% removed)</a:t>
                      </a:r>
                    </a:p>
                  </a:txBody>
                  <a:tcPr>
                    <a:solidFill>
                      <a:srgbClr val="FFFFFF"/>
                    </a:solidFill>
                  </a:tcPr>
                </a:tc>
                <a:tc>
                  <a:txBody>
                    <a:bodyPr/>
                    <a:lstStyle/>
                    <a:p>
                      <a:pPr>
                        <a:defRPr sz="750">
                          <a:solidFill>
                            <a:srgbClr val="0F172A"/>
                          </a:solidFill>
                          <a:latin typeface="Arial"/>
                        </a:defRPr>
                      </a:pPr>
                      <a:r>
                        <a:t>Two archetypes (OR=0.11) need parallel pipelines</a:t>
                      </a:r>
                    </a:p>
                  </a:txBody>
                  <a:tcPr>
                    <a:solidFill>
                      <a:srgbClr val="FFFFFF"/>
                    </a:solidFill>
                  </a:tcPr>
                </a:tc>
              </a:tr>
              <a:tr h="423949">
                <a:tc>
                  <a:txBody>
                    <a:bodyPr/>
                    <a:lstStyle/>
                    <a:p>
                      <a:pPr algn="ctr">
                        <a:defRPr sz="750" b="1">
                          <a:solidFill>
                            <a:srgbClr val="0F172A"/>
                          </a:solidFill>
                          <a:latin typeface="Arial"/>
                        </a:defRPr>
                      </a:pPr>
                      <a:r>
                        <a:t>Anonymous (2026)</a:t>
                      </a:r>
                    </a:p>
                  </a:txBody>
                  <a:tcPr>
                    <a:solidFill>
                      <a:srgbClr val="F1F5F9"/>
                    </a:solidFill>
                  </a:tcPr>
                </a:tc>
                <a:tc>
                  <a:txBody>
                    <a:bodyPr/>
                    <a:lstStyle/>
                    <a:p>
                      <a:pPr>
                        <a:defRPr sz="750">
                          <a:solidFill>
                            <a:srgbClr val="0F172A"/>
                          </a:solidFill>
                          <a:latin typeface="Arial"/>
                        </a:defRPr>
                      </a:pPr>
                      <a:r>
                        <a:t>Safety in Every Lang</a:t>
                      </a:r>
                    </a:p>
                  </a:txBody>
                  <a:tcPr>
                    <a:solidFill>
                      <a:srgbClr val="F1F5F9"/>
                    </a:solidFill>
                  </a:tcPr>
                </a:tc>
                <a:tc>
                  <a:txBody>
                    <a:bodyPr/>
                    <a:lstStyle/>
                    <a:p>
                      <a:pPr>
                        <a:defRPr sz="750">
                          <a:solidFill>
                            <a:srgbClr val="0F172A"/>
                          </a:solidFill>
                          <a:latin typeface="Arial"/>
                        </a:defRPr>
                      </a:pPr>
                      <a:r>
                        <a:t>Cisco Skill Scanner, Snyk, Semgrep</a:t>
                      </a:r>
                    </a:p>
                  </a:txBody>
                  <a:tcPr>
                    <a:solidFill>
                      <a:srgbClr val="F1F5F9"/>
                    </a:solidFill>
                  </a:tcPr>
                </a:tc>
                <a:tc>
                  <a:txBody>
                    <a:bodyPr/>
                    <a:lstStyle/>
                    <a:p>
                      <a:pPr>
                        <a:defRPr sz="750">
                          <a:solidFill>
                            <a:srgbClr val="0F172A"/>
                          </a:solidFill>
                          <a:latin typeface="Arial"/>
                        </a:defRPr>
                      </a:pPr>
                      <a:r>
                        <a:t>3,656 skills across 8 languages</a:t>
                      </a:r>
                    </a:p>
                  </a:txBody>
                  <a:tcPr>
                    <a:solidFill>
                      <a:srgbClr val="F1F5F9"/>
                    </a:solidFill>
                  </a:tcPr>
                </a:tc>
                <a:tc>
                  <a:txBody>
                    <a:bodyPr/>
                    <a:lstStyle/>
                    <a:p>
                      <a:pPr algn="ctr">
                        <a:defRPr sz="750" b="1">
                          <a:solidFill>
                            <a:srgbClr val="0F172A"/>
                          </a:solidFill>
                          <a:latin typeface="Arial"/>
                        </a:defRPr>
                      </a:pPr>
                      <a:r>
                        <a:t>3-5x False Positives</a:t>
                      </a:r>
                    </a:p>
                  </a:txBody>
                  <a:tcPr>
                    <a:solidFill>
                      <a:srgbClr val="F1F5F9"/>
                    </a:solidFill>
                  </a:tcPr>
                </a:tc>
                <a:tc>
                  <a:txBody>
                    <a:bodyPr/>
                    <a:lstStyle/>
                    <a:p>
                      <a:pPr>
                        <a:defRPr sz="750">
                          <a:solidFill>
                            <a:srgbClr val="0F172A"/>
                          </a:solidFill>
                          <a:latin typeface="Arial"/>
                        </a:defRPr>
                      </a:pPr>
                      <a:r>
                        <a:t>English calibration gap in security documentation heuristics</a:t>
                      </a:r>
                    </a:p>
                  </a:txBody>
                  <a:tcPr>
                    <a:solidFill>
                      <a:srgbClr val="F1F5F9"/>
                    </a:solidFill>
                  </a:tcPr>
                </a:tc>
              </a:tr>
              <a:tr h="423949">
                <a:tc>
                  <a:txBody>
                    <a:bodyPr/>
                    <a:lstStyle/>
                    <a:p>
                      <a:pPr algn="ctr">
                        <a:defRPr sz="750" b="1">
                          <a:solidFill>
                            <a:srgbClr val="0F172A"/>
                          </a:solidFill>
                          <a:latin typeface="Arial"/>
                        </a:defRPr>
                      </a:pPr>
                      <a:r>
                        <a:t>Atil et al. (2025)</a:t>
                      </a:r>
                    </a:p>
                  </a:txBody>
                  <a:tcPr>
                    <a:solidFill>
                      <a:srgbClr val="FFFFFF"/>
                    </a:solidFill>
                  </a:tcPr>
                </a:tc>
                <a:tc>
                  <a:txBody>
                    <a:bodyPr/>
                    <a:lstStyle/>
                    <a:p>
                      <a:pPr>
                        <a:defRPr sz="750">
                          <a:solidFill>
                            <a:srgbClr val="0F172A"/>
                          </a:solidFill>
                          <a:latin typeface="Arial"/>
                        </a:defRPr>
                      </a:pPr>
                      <a:r>
                        <a:t>Multilingual Suffixes</a:t>
                      </a:r>
                    </a:p>
                  </a:txBody>
                  <a:tcPr>
                    <a:solidFill>
                      <a:srgbClr val="FFFFFF"/>
                    </a:solidFill>
                  </a:tcPr>
                </a:tc>
                <a:tc>
                  <a:txBody>
                    <a:bodyPr/>
                    <a:lstStyle/>
                    <a:p>
                      <a:pPr>
                        <a:defRPr sz="750">
                          <a:solidFill>
                            <a:srgbClr val="0F172A"/>
                          </a:solidFill>
                          <a:latin typeface="Arial"/>
                        </a:defRPr>
                      </a:pPr>
                      <a:r>
                        <a:t>GPT-4o, Sonnet 3.5, Qwen2.5, Llama3.1</a:t>
                      </a:r>
                    </a:p>
                  </a:txBody>
                  <a:tcPr>
                    <a:solidFill>
                      <a:srgbClr val="FFFFFF"/>
                    </a:solidFill>
                  </a:tcPr>
                </a:tc>
                <a:tc>
                  <a:txBody>
                    <a:bodyPr/>
                    <a:lstStyle/>
                    <a:p>
                      <a:pPr>
                        <a:defRPr sz="750">
                          <a:solidFill>
                            <a:srgbClr val="0F172A"/>
                          </a:solidFill>
                          <a:latin typeface="Arial"/>
                        </a:defRPr>
                      </a:pPr>
                      <a:r>
                        <a:t>HarmBench (200), AdvBench (520)</a:t>
                      </a:r>
                    </a:p>
                  </a:txBody>
                  <a:tcPr>
                    <a:solidFill>
                      <a:srgbClr val="FFFFFF"/>
                    </a:solidFill>
                  </a:tcPr>
                </a:tc>
                <a:tc>
                  <a:txBody>
                    <a:bodyPr/>
                    <a:lstStyle/>
                    <a:p>
                      <a:pPr algn="ctr">
                        <a:defRPr sz="750" b="1">
                          <a:solidFill>
                            <a:srgbClr val="0F172A"/>
                          </a:solidFill>
                          <a:latin typeface="Arial"/>
                        </a:defRPr>
                      </a:pPr>
                      <a:r>
                        <a:t>99.5% ASR (Qwen14b En)</a:t>
                      </a:r>
                    </a:p>
                  </a:txBody>
                  <a:tcPr>
                    <a:solidFill>
                      <a:srgbClr val="FFFFFF"/>
                    </a:solidFill>
                  </a:tcPr>
                </a:tc>
                <a:tc>
                  <a:txBody>
                    <a:bodyPr/>
                    <a:lstStyle/>
                    <a:p>
                      <a:pPr>
                        <a:defRPr sz="750">
                          <a:solidFill>
                            <a:srgbClr val="0F172A"/>
                          </a:solidFill>
                          <a:latin typeface="Arial"/>
                        </a:defRPr>
                      </a:pPr>
                      <a:r>
                        <a:t>Self-Guard unstable cross-lingually; high-resource paradox</a:t>
                      </a:r>
                    </a:p>
                  </a:txBody>
                  <a:tcPr>
                    <a:solidFill>
                      <a:srgbClr val="FFFFFF"/>
                    </a:solidFill>
                  </a:tcPr>
                </a:tc>
              </a:tr>
              <a:tr h="423950">
                <a:tc>
                  <a:txBody>
                    <a:bodyPr/>
                    <a:lstStyle/>
                    <a:p>
                      <a:pPr algn="ctr">
                        <a:defRPr sz="750" b="1">
                          <a:solidFill>
                            <a:srgbClr val="0F172A"/>
                          </a:solidFill>
                          <a:latin typeface="Arial"/>
                        </a:defRPr>
                      </a:pPr>
                      <a:r>
                        <a:t>Marx &amp; Dunaiski (2026)</a:t>
                      </a:r>
                    </a:p>
                  </a:txBody>
                  <a:tcPr>
                    <a:solidFill>
                      <a:srgbClr val="F1F5F9"/>
                    </a:solidFill>
                  </a:tcPr>
                </a:tc>
                <a:tc>
                  <a:txBody>
                    <a:bodyPr/>
                    <a:lstStyle/>
                    <a:p>
                      <a:pPr>
                        <a:defRPr sz="750">
                          <a:solidFill>
                            <a:srgbClr val="0F172A"/>
                          </a:solidFill>
                          <a:latin typeface="Arial"/>
                        </a:defRPr>
                      </a:pPr>
                      <a:r>
                        <a:t>Multi-Turn Low-Resource</a:t>
                      </a:r>
                    </a:p>
                  </a:txBody>
                  <a:tcPr>
                    <a:solidFill>
                      <a:srgbClr val="F1F5F9"/>
                    </a:solidFill>
                  </a:tcPr>
                </a:tc>
                <a:tc>
                  <a:txBody>
                    <a:bodyPr/>
                    <a:lstStyle/>
                    <a:p>
                      <a:pPr>
                        <a:defRPr sz="750">
                          <a:solidFill>
                            <a:srgbClr val="0F172A"/>
                          </a:solidFill>
                          <a:latin typeface="Arial"/>
                        </a:defRPr>
                      </a:pPr>
                      <a:r>
                        <a:t>GPT-4o, Claude 3.5 Haiku, DeepSeek, Grok</a:t>
                      </a:r>
                    </a:p>
                  </a:txBody>
                  <a:tcPr>
                    <a:solidFill>
                      <a:srgbClr val="F1F5F9"/>
                    </a:solidFill>
                  </a:tcPr>
                </a:tc>
                <a:tc>
                  <a:txBody>
                    <a:bodyPr/>
                    <a:lstStyle/>
                    <a:p>
                      <a:pPr>
                        <a:defRPr sz="750">
                          <a:solidFill>
                            <a:srgbClr val="0F172A"/>
                          </a:solidFill>
                          <a:latin typeface="Arial"/>
                        </a:defRPr>
                      </a:pPr>
                      <a:r>
                        <a:t>MultiJail (47), MHJ (55); 4 African langs</a:t>
                      </a:r>
                    </a:p>
                  </a:txBody>
                  <a:tcPr>
                    <a:solidFill>
                      <a:srgbClr val="F1F5F9"/>
                    </a:solidFill>
                  </a:tcPr>
                </a:tc>
                <a:tc>
                  <a:txBody>
                    <a:bodyPr/>
                    <a:lstStyle/>
                    <a:p>
                      <a:pPr algn="ctr">
                        <a:defRPr sz="750" b="1">
                          <a:solidFill>
                            <a:srgbClr val="0F172A"/>
                          </a:solidFill>
                          <a:latin typeface="Arial"/>
                        </a:defRPr>
                      </a:pPr>
                      <a:r>
                        <a:t>89.4% ASR (Human red-team)</a:t>
                      </a:r>
                    </a:p>
                  </a:txBody>
                  <a:tcPr>
                    <a:solidFill>
                      <a:srgbClr val="F1F5F9"/>
                    </a:solidFill>
                  </a:tcPr>
                </a:tc>
                <a:tc>
                  <a:txBody>
                    <a:bodyPr/>
                    <a:lstStyle/>
                    <a:p>
                      <a:pPr>
                        <a:defRPr sz="750">
                          <a:solidFill>
                            <a:srgbClr val="0F172A"/>
                          </a:solidFill>
                          <a:latin typeface="Arial"/>
                        </a:defRPr>
                      </a:pPr>
                      <a:r>
                        <a:t>MT translation errors mask true lack of safety alignment</a:t>
                      </a:r>
                    </a:p>
                  </a:txBody>
                  <a:tcPr>
                    <a:solidFill>
                      <a:srgbClr val="F1F5F9"/>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DEFENSIVE ARCHITECTURE</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Architectural Blueprint for Deterministic Defense</a:t>
            </a:r>
          </a:p>
          <a:p>
            <a:pPr>
              <a:spcBef>
                <a:spcPts val="300"/>
              </a:spcBef>
              <a:defRPr sz="1050">
                <a:solidFill>
                  <a:srgbClr val="64748B"/>
                </a:solidFill>
                <a:latin typeface="Arial"/>
              </a:defRPr>
            </a:pPr>
            <a:r>
              <a:t>Moving beyond soft heuristics: implementing runtime policy enforcement and taint tracking (CONTEXT.md)</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20 of 22</a:t>
            </a:r>
          </a:p>
        </p:txBody>
      </p:sp>
      <p:sp>
        <p:nvSpPr>
          <p:cNvPr id="7" name="Rounded Rectangle 6"/>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200">
                <a:solidFill>
                  <a:srgbClr val="DC2626"/>
                </a:solidFill>
              </a:defRPr>
            </a:pPr>
            <a:r>
              <a:t>Why Soft &amp; Heuristic Defenses Fail</a:t>
            </a:r>
          </a:p>
          <a:p>
            <a:pPr>
              <a:spcBef>
                <a:spcPts val="500"/>
              </a:spcBef>
              <a:defRPr sz="950">
                <a:latin typeface="Arial"/>
              </a:defRPr>
            </a:pPr>
            <a:r>
              <a:rPr b="1">
                <a:solidFill>
                  <a:srgbClr val="0F172A"/>
                </a:solidFill>
              </a:rPr>
              <a:t>•  Prompt-Level Delimiters: </a:t>
            </a:r>
            <a:r>
              <a:rPr>
                <a:solidFill>
                  <a:srgbClr val="334155"/>
                </a:solidFill>
              </a:rPr>
              <a:t>XML tags and borders are bypassed by semantic paraphrasing (Saha et al.) and logic conversion (Atil et al.).</a:t>
            </a:r>
          </a:p>
          <a:p>
            <a:pPr>
              <a:spcBef>
                <a:spcPts val="500"/>
              </a:spcBef>
              <a:defRPr sz="950">
                <a:latin typeface="Arial"/>
              </a:defRPr>
            </a:pPr>
            <a:r>
              <a:rPr b="1">
                <a:solidFill>
                  <a:srgbClr val="0F172A"/>
                </a:solidFill>
              </a:rPr>
              <a:t>•  LLM-as-a-Judge Vetting: </a:t>
            </a:r>
            <a:r>
              <a:rPr>
                <a:solidFill>
                  <a:srgbClr val="334155"/>
                </a:solidFill>
              </a:rPr>
              <a:t>Vulnerable to 10k context overflow (Saha et al.), adversarial jailbreaking, and severe English calibration bias (Paper 8).</a:t>
            </a:r>
          </a:p>
          <a:p>
            <a:pPr>
              <a:spcBef>
                <a:spcPts val="500"/>
              </a:spcBef>
              <a:defRPr sz="950">
                <a:latin typeface="Arial"/>
              </a:defRPr>
            </a:pPr>
            <a:r>
              <a:rPr b="1">
                <a:solidFill>
                  <a:srgbClr val="0F172A"/>
                </a:solidFill>
              </a:rPr>
              <a:t>•  Human Confirmation Dialogs: </a:t>
            </a:r>
            <a:r>
              <a:rPr>
                <a:solidFill>
                  <a:srgbClr val="334155"/>
                </a:solidFill>
              </a:rPr>
              <a:t>Neutralized by approval fatigue, complex JSON formatting, and horizontal UI truncation (Huang et al.).</a:t>
            </a:r>
          </a:p>
          <a:p>
            <a:pPr>
              <a:spcBef>
                <a:spcPts val="500"/>
              </a:spcBef>
              <a:defRPr sz="950">
                <a:latin typeface="Arial"/>
              </a:defRPr>
            </a:pPr>
            <a:r>
              <a:rPr b="1">
                <a:solidFill>
                  <a:srgbClr val="0F172A"/>
                </a:solidFill>
              </a:rPr>
              <a:t>•  Lexical Scanners: </a:t>
            </a:r>
            <a:r>
              <a:rPr>
                <a:solidFill>
                  <a:srgbClr val="334155"/>
                </a:solidFill>
              </a:rPr>
              <a:t>Fail against camouflaged DDIPE payloads that use standard DevOps commands without offensive keywords (Qu et al.).</a:t>
            </a:r>
          </a:p>
        </p:txBody>
      </p:sp>
      <p:sp>
        <p:nvSpPr>
          <p:cNvPr id="8" name="Rounded Rectangle 7"/>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200">
                <a:solidFill>
                  <a:srgbClr val="059669"/>
                </a:solidFill>
              </a:defRPr>
            </a:pPr>
            <a:r>
              <a:t>The Deterministic Defensive Blueprint</a:t>
            </a:r>
          </a:p>
          <a:p>
            <a:pPr>
              <a:spcBef>
                <a:spcPts val="500"/>
              </a:spcBef>
              <a:defRPr sz="950">
                <a:latin typeface="Arial"/>
              </a:defRPr>
            </a:pPr>
            <a:r>
              <a:rPr b="1">
                <a:solidFill>
                  <a:srgbClr val="0F172A"/>
                </a:solidFill>
              </a:rPr>
              <a:t>•  Policy Enforcement Module (PEM): </a:t>
            </a:r>
            <a:r>
              <a:rPr>
                <a:solidFill>
                  <a:srgbClr val="334155"/>
                </a:solidFill>
              </a:rPr>
              <a:t>Deterministic gateway at tool execution seams validating declarative behavioral invariants before running scripts.</a:t>
            </a:r>
          </a:p>
          <a:p>
            <a:pPr>
              <a:spcBef>
                <a:spcPts val="500"/>
              </a:spcBef>
              <a:defRPr sz="950">
                <a:latin typeface="Arial"/>
              </a:defRPr>
            </a:pPr>
            <a:r>
              <a:rPr b="1">
                <a:solidFill>
                  <a:srgbClr val="0F172A"/>
                </a:solidFill>
              </a:rPr>
              <a:t>•  Cross-Artifact Taint Propagation: </a:t>
            </a:r>
            <a:r>
              <a:rPr>
                <a:solidFill>
                  <a:srgbClr val="334155"/>
                </a:solidFill>
              </a:rPr>
              <a:t>Tracking untrusted Data Plane labels across SKILL.md, scratchpads, and downstream tool execution arguments.</a:t>
            </a:r>
          </a:p>
          <a:p>
            <a:pPr>
              <a:spcBef>
                <a:spcPts val="500"/>
              </a:spcBef>
              <a:defRPr sz="950">
                <a:latin typeface="Arial"/>
              </a:defRPr>
            </a:pPr>
            <a:r>
              <a:rPr b="1">
                <a:solidFill>
                  <a:srgbClr val="0F172A"/>
                </a:solidFill>
              </a:rPr>
              <a:t>•  Scoped Capability Tokens: </a:t>
            </a:r>
            <a:r>
              <a:rPr>
                <a:solidFill>
                  <a:srgbClr val="334155"/>
                </a:solidFill>
              </a:rPr>
              <a:t>Cryptographically signed ephemeral tokens granting least-privilege tool access with strict parameter boundaries.</a:t>
            </a:r>
          </a:p>
          <a:p>
            <a:pPr>
              <a:spcBef>
                <a:spcPts val="500"/>
              </a:spcBef>
              <a:defRPr sz="950">
                <a:latin typeface="Arial"/>
              </a:defRPr>
            </a:pPr>
            <a:r>
              <a:rPr b="1">
                <a:solidFill>
                  <a:srgbClr val="0F172A"/>
                </a:solidFill>
              </a:rPr>
              <a:t>•  Dual-LLM Architecture: </a:t>
            </a:r>
            <a:r>
              <a:rPr>
                <a:solidFill>
                  <a:srgbClr val="334155"/>
                </a:solidFill>
              </a:rPr>
              <a:t>Physically separating privileged planning LLMs from unprivileged, untrusted data-processing LLMs.</a:t>
            </a:r>
          </a:p>
          <a:p>
            <a:pPr>
              <a:spcBef>
                <a:spcPts val="500"/>
              </a:spcBef>
              <a:defRPr sz="950">
                <a:latin typeface="Arial"/>
              </a:defRPr>
            </a:pPr>
            <a:r>
              <a:rPr b="1">
                <a:solidFill>
                  <a:srgbClr val="0F172A"/>
                </a:solidFill>
              </a:rPr>
              <a:t>•  Parallel &amp; De-Biased Auditing: </a:t>
            </a:r>
            <a:r>
              <a:rPr>
                <a:solidFill>
                  <a:srgbClr val="334155"/>
                </a:solidFill>
              </a:rPr>
              <a:t>Deploying dual pipelines (code sandbox + semantic analyzer) calibrated across multiple languages.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RESEARCH HORIZONS</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Actionable Thesis &amp; Project Proposals for Group Discussion</a:t>
            </a:r>
          </a:p>
          <a:p>
            <a:pPr>
              <a:spcBef>
                <a:spcPts val="300"/>
              </a:spcBef>
              <a:defRPr sz="1050">
                <a:solidFill>
                  <a:srgbClr val="64748B"/>
                </a:solidFill>
                <a:latin typeface="Arial"/>
              </a:defRPr>
            </a:pPr>
            <a:r>
              <a:t>High-impact research directions bridging agent supply-chain security and cross-lingual safety alignment</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21 of 22</a:t>
            </a:r>
          </a:p>
        </p:txBody>
      </p:sp>
      <p:sp>
        <p:nvSpPr>
          <p:cNvPr id="7" name="Rounded Rectangle 6"/>
          <p:cNvSpPr/>
          <p:nvPr/>
        </p:nvSpPr>
        <p:spPr>
          <a:xfrm>
            <a:off x="7315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00">
                <a:solidFill>
                  <a:srgbClr val="2563EB"/>
                </a:solidFill>
              </a:defRPr>
            </a:pPr>
            <a:r>
              <a:t>Proposal 1: Dynamic Taint Tracking for Agent Skills</a:t>
            </a:r>
          </a:p>
          <a:p>
            <a:pPr>
              <a:spcBef>
                <a:spcPts val="500"/>
              </a:spcBef>
              <a:defRPr sz="900">
                <a:latin typeface="Arial"/>
              </a:defRPr>
            </a:pPr>
            <a:r>
              <a:rPr b="1">
                <a:solidFill>
                  <a:srgbClr val="0F172A"/>
                </a:solidFill>
              </a:rPr>
              <a:t>•  Core Goal: </a:t>
            </a:r>
            <a:r>
              <a:rPr>
                <a:solidFill>
                  <a:srgbClr val="334155"/>
                </a:solidFill>
              </a:rPr>
              <a:t>Build a runtime Policy Enforcement Module for agent frameworks (Claude Code, OpenClaw).</a:t>
            </a:r>
          </a:p>
          <a:p>
            <a:pPr>
              <a:spcBef>
                <a:spcPts val="500"/>
              </a:spcBef>
              <a:defRPr sz="900">
                <a:latin typeface="Arial"/>
              </a:defRPr>
            </a:pPr>
            <a:r>
              <a:rPr b="1">
                <a:solidFill>
                  <a:srgbClr val="0F172A"/>
                </a:solidFill>
              </a:rPr>
              <a:t>•  Mechanism: </a:t>
            </a:r>
            <a:r>
              <a:rPr>
                <a:solidFill>
                  <a:srgbClr val="334155"/>
                </a:solidFill>
              </a:rPr>
              <a:t>Track taint from untrusted SKILL.md through reasoning scratchpads to block unauthorized helper scripts.</a:t>
            </a:r>
          </a:p>
          <a:p>
            <a:pPr>
              <a:spcBef>
                <a:spcPts val="500"/>
              </a:spcBef>
              <a:defRPr sz="900">
                <a:latin typeface="Arial"/>
              </a:defRPr>
            </a:pPr>
            <a:r>
              <a:rPr b="1">
                <a:solidFill>
                  <a:srgbClr val="0F172A"/>
                </a:solidFill>
              </a:rPr>
              <a:t>•  Defense Target: </a:t>
            </a:r>
            <a:r>
              <a:rPr>
                <a:solidFill>
                  <a:srgbClr val="334155"/>
                </a:solidFill>
              </a:rPr>
              <a:t>Directly thwarts SkillJect (Jia et al.) and Data Thieves (Liu et al.).</a:t>
            </a:r>
          </a:p>
          <a:p>
            <a:pPr>
              <a:spcBef>
                <a:spcPts val="500"/>
              </a:spcBef>
              <a:defRPr sz="900">
                <a:latin typeface="Arial"/>
              </a:defRPr>
            </a:pPr>
            <a:r>
              <a:rPr b="1">
                <a:solidFill>
                  <a:srgbClr val="0F172A"/>
                </a:solidFill>
              </a:rPr>
              <a:t>•  Venue Profile: </a:t>
            </a:r>
            <a:r>
              <a:rPr>
                <a:solidFill>
                  <a:srgbClr val="334155"/>
                </a:solidFill>
              </a:rPr>
              <a:t>USENIX Security / IEEE S&amp;P 2027.</a:t>
            </a:r>
          </a:p>
        </p:txBody>
      </p:sp>
      <p:sp>
        <p:nvSpPr>
          <p:cNvPr id="8" name="Rounded Rectangle 7"/>
          <p:cNvSpPr/>
          <p:nvPr/>
        </p:nvSpPr>
        <p:spPr>
          <a:xfrm>
            <a:off x="43891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00">
                <a:solidFill>
                  <a:srgbClr val="D97706"/>
                </a:solidFill>
              </a:defRPr>
            </a:pPr>
            <a:r>
              <a:t>Proposal 2: Cross-Lingual Agent Jailbreak Benchmark</a:t>
            </a:r>
          </a:p>
          <a:p>
            <a:pPr>
              <a:spcBef>
                <a:spcPts val="500"/>
              </a:spcBef>
              <a:defRPr sz="900">
                <a:latin typeface="Arial"/>
              </a:defRPr>
            </a:pPr>
            <a:r>
              <a:rPr b="1">
                <a:solidFill>
                  <a:srgbClr val="0F172A"/>
                </a:solidFill>
              </a:rPr>
              <a:t>•  Core Goal: </a:t>
            </a:r>
            <a:r>
              <a:rPr>
                <a:solidFill>
                  <a:srgbClr val="334155"/>
                </a:solidFill>
              </a:rPr>
              <a:t>Bridge Themes 1 &amp; 3: Investigate multi-turn low-resource attacks against tool-enabled agents.</a:t>
            </a:r>
          </a:p>
          <a:p>
            <a:pPr>
              <a:spcBef>
                <a:spcPts val="500"/>
              </a:spcBef>
              <a:defRPr sz="900">
                <a:latin typeface="Arial"/>
              </a:defRPr>
            </a:pPr>
            <a:r>
              <a:rPr b="1">
                <a:solidFill>
                  <a:srgbClr val="0F172A"/>
                </a:solidFill>
              </a:rPr>
              <a:t>•  Mechanism: </a:t>
            </a:r>
            <a:r>
              <a:rPr>
                <a:solidFill>
                  <a:srgbClr val="334155"/>
                </a:solidFill>
              </a:rPr>
              <a:t>Evaluate whether low-resource multilingual multi-turn prompts can coerce agents into executing dangerous tools.</a:t>
            </a:r>
          </a:p>
          <a:p>
            <a:pPr>
              <a:spcBef>
                <a:spcPts val="500"/>
              </a:spcBef>
              <a:defRPr sz="900">
                <a:latin typeface="Arial"/>
              </a:defRPr>
            </a:pPr>
            <a:r>
              <a:rPr b="1">
                <a:solidFill>
                  <a:srgbClr val="0F172A"/>
                </a:solidFill>
              </a:rPr>
              <a:t>•  Novelty: </a:t>
            </a:r>
            <a:r>
              <a:rPr>
                <a:solidFill>
                  <a:srgbClr val="334155"/>
                </a:solidFill>
              </a:rPr>
              <a:t>First benchmark testing tool hijacking and agentic action under multilingual multi-turn pacing.</a:t>
            </a:r>
          </a:p>
          <a:p>
            <a:pPr>
              <a:spcBef>
                <a:spcPts val="500"/>
              </a:spcBef>
              <a:defRPr sz="900">
                <a:latin typeface="Arial"/>
              </a:defRPr>
            </a:pPr>
            <a:r>
              <a:rPr b="1">
                <a:solidFill>
                  <a:srgbClr val="0F172A"/>
                </a:solidFill>
              </a:rPr>
              <a:t>•  Venue Profile: </a:t>
            </a:r>
            <a:r>
              <a:rPr>
                <a:solidFill>
                  <a:srgbClr val="334155"/>
                </a:solidFill>
              </a:rPr>
              <a:t>NeurIPS / ACL / EMNLP 2027.</a:t>
            </a:r>
          </a:p>
        </p:txBody>
      </p:sp>
      <p:sp>
        <p:nvSpPr>
          <p:cNvPr id="9" name="Rounded Rectangle 8"/>
          <p:cNvSpPr/>
          <p:nvPr/>
        </p:nvSpPr>
        <p:spPr>
          <a:xfrm>
            <a:off x="80467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100">
                <a:solidFill>
                  <a:srgbClr val="059669"/>
                </a:solidFill>
              </a:defRPr>
            </a:pPr>
            <a:r>
              <a:t>Proposal 3: Parallel De-Biased Registry Auditing</a:t>
            </a:r>
          </a:p>
          <a:p>
            <a:pPr>
              <a:spcBef>
                <a:spcPts val="500"/>
              </a:spcBef>
              <a:defRPr sz="900">
                <a:latin typeface="Arial"/>
              </a:defRPr>
            </a:pPr>
            <a:r>
              <a:rPr b="1">
                <a:solidFill>
                  <a:srgbClr val="0F172A"/>
                </a:solidFill>
              </a:rPr>
              <a:t>•  Core Goal: </a:t>
            </a:r>
            <a:r>
              <a:rPr>
                <a:solidFill>
                  <a:srgbClr val="334155"/>
                </a:solidFill>
              </a:rPr>
              <a:t>Build an automated registry verification pipeline overcoming the English calibration gap.</a:t>
            </a:r>
          </a:p>
          <a:p>
            <a:pPr>
              <a:spcBef>
                <a:spcPts val="500"/>
              </a:spcBef>
              <a:defRPr sz="900">
                <a:latin typeface="Arial"/>
              </a:defRPr>
            </a:pPr>
            <a:r>
              <a:rPr b="1">
                <a:solidFill>
                  <a:srgbClr val="0F172A"/>
                </a:solidFill>
              </a:rPr>
              <a:t>•  Mechanism: </a:t>
            </a:r>
            <a:r>
              <a:rPr>
                <a:solidFill>
                  <a:srgbClr val="334155"/>
                </a:solidFill>
              </a:rPr>
              <a:t>Combine behavioral sandboxing with multi-model semantic verification calibrated for non-English skills.</a:t>
            </a:r>
          </a:p>
          <a:p>
            <a:pPr>
              <a:spcBef>
                <a:spcPts val="500"/>
              </a:spcBef>
              <a:defRPr sz="900">
                <a:latin typeface="Arial"/>
              </a:defRPr>
            </a:pPr>
            <a:r>
              <a:rPr b="1">
                <a:solidFill>
                  <a:srgbClr val="0F172A"/>
                </a:solidFill>
              </a:rPr>
              <a:t>•  Defense Target: </a:t>
            </a:r>
            <a:r>
              <a:rPr>
                <a:solidFill>
                  <a:srgbClr val="334155"/>
                </a:solidFill>
              </a:rPr>
              <a:t>Neutralizes DDIPE stealth poisoning and resolves the 3–5x non-English false-positive gap.</a:t>
            </a:r>
          </a:p>
          <a:p>
            <a:pPr>
              <a:spcBef>
                <a:spcPts val="500"/>
              </a:spcBef>
              <a:defRPr sz="900">
                <a:latin typeface="Arial"/>
              </a:defRPr>
            </a:pPr>
            <a:r>
              <a:rPr b="1">
                <a:solidFill>
                  <a:srgbClr val="0F172A"/>
                </a:solidFill>
              </a:rPr>
              <a:t>•  Venue Profile: </a:t>
            </a:r>
            <a:r>
              <a:rPr>
                <a:solidFill>
                  <a:srgbClr val="334155"/>
                </a:solidFill>
              </a:rPr>
              <a:t>ACM CCS / NDSS 2027.</a:t>
            </a:r>
          </a:p>
        </p:txBody>
      </p:sp>
      <p:sp>
        <p:nvSpPr>
          <p:cNvPr id="10" name="Rounded Rectangle 9"/>
          <p:cNvSpPr/>
          <p:nvPr/>
        </p:nvSpPr>
        <p:spPr>
          <a:xfrm>
            <a:off x="731520" y="5303520"/>
            <a:ext cx="10728655"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b="1" sz="1050">
                <a:solidFill>
                  <a:srgbClr val="1E3A8A"/>
                </a:solidFill>
              </a:defRPr>
            </a:pPr>
            <a:r>
              <a:t>Strategic Questions for Advisor Guidance:</a:t>
            </a:r>
          </a:p>
          <a:p>
            <a:pPr>
              <a:spcBef>
                <a:spcPts val="200"/>
              </a:spcBef>
              <a:defRPr sz="900">
                <a:solidFill>
                  <a:srgbClr val="334155"/>
                </a:solidFill>
              </a:defRPr>
            </a:pPr>
            <a:r>
              <a:t>1. Which axis should our lab emphasize: deterministic systems security (Proposal 1) vs. empirical NLP/multilingual red-teaming (Proposal 2)?</a:t>
            </a:r>
            <a:br/>
            <a:r>
              <a:t>2. Would you recommend collaborating with platform registry operators (e.g. ClawHub, Anthropic) to validate detection signatures on live ecosystems?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108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2563EB"/>
                </a:solidFill>
                <a:latin typeface="Arial"/>
              </a:defRPr>
            </a:pPr>
            <a:r>
              <a:t>CONCLUSION</a:t>
            </a:r>
          </a:p>
        </p:txBody>
      </p:sp>
      <p:sp>
        <p:nvSpPr>
          <p:cNvPr id="4" name="TextBox 3"/>
          <p:cNvSpPr txBox="1"/>
          <p:nvPr/>
        </p:nvSpPr>
        <p:spPr>
          <a:xfrm>
            <a:off x="731520" y="676656"/>
            <a:ext cx="10728655" cy="777240"/>
          </a:xfrm>
          <a:prstGeom prst="rect">
            <a:avLst/>
          </a:prstGeom>
          <a:noFill/>
        </p:spPr>
        <p:txBody>
          <a:bodyPr wrap="square" lIns="0" tIns="0" rIns="0" bIns="0">
            <a:spAutoFit/>
          </a:bodyPr>
          <a:lstStyle/>
          <a:p>
            <a:pPr>
              <a:defRPr sz="2100" b="1">
                <a:solidFill>
                  <a:srgbClr val="0F172A"/>
                </a:solidFill>
                <a:latin typeface="Arial"/>
              </a:defRPr>
            </a:pPr>
            <a:r>
              <a:t>Summary of Takeaways &amp; Strategic Next Steps</a:t>
            </a:r>
          </a:p>
          <a:p>
            <a:pPr>
              <a:spcBef>
                <a:spcPts val="300"/>
              </a:spcBef>
              <a:defRPr sz="1050">
                <a:solidFill>
                  <a:srgbClr val="64748B"/>
                </a:solidFill>
                <a:latin typeface="Arial"/>
              </a:defRPr>
            </a:pPr>
            <a:r>
              <a:t>Synthesized conclusions from 10 frontier papers across agent supply chains, in-the-wild audits, and multilingual alignment</a:t>
            </a:r>
          </a:p>
        </p:txBody>
      </p:sp>
      <p:sp>
        <p:nvSpPr>
          <p:cNvPr id="5" name="TextBox 4"/>
          <p:cNvSpPr txBox="1"/>
          <p:nvPr/>
        </p:nvSpPr>
        <p:spPr>
          <a:xfrm>
            <a:off x="731520" y="6446520"/>
            <a:ext cx="8686800" cy="274320"/>
          </a:xfrm>
          <a:prstGeom prst="rect">
            <a:avLst/>
          </a:prstGeom>
          <a:noFill/>
        </p:spPr>
        <p:txBody>
          <a:bodyPr wrap="none" lIns="0" rIns="0" tIns="0" bIns="0">
            <a:spAutoFit/>
          </a:bodyPr>
          <a:lstStyle/>
          <a:p>
            <a:pPr>
              <a:defRPr sz="900">
                <a:solidFill>
                  <a:srgbClr val="64748B"/>
                </a:solidFill>
                <a:latin typeface="Arial"/>
              </a:defRPr>
            </a:pPr>
            <a:r>
              <a:t>Research Seminar: AI Agent Supply-Chain Security &amp; Multilingual Jailbreaking  |  Supervisor Briefing</a:t>
            </a:r>
          </a:p>
        </p:txBody>
      </p:sp>
      <p:sp>
        <p:nvSpPr>
          <p:cNvPr id="6" name="TextBox 5"/>
          <p:cNvSpPr txBox="1"/>
          <p:nvPr/>
        </p:nvSpPr>
        <p:spPr>
          <a:xfrm>
            <a:off x="9601200" y="6446520"/>
            <a:ext cx="1858975" cy="274320"/>
          </a:xfrm>
          <a:prstGeom prst="rect">
            <a:avLst/>
          </a:prstGeom>
          <a:noFill/>
        </p:spPr>
        <p:txBody>
          <a:bodyPr wrap="none" lIns="0" rIns="0" tIns="0" bIns="0">
            <a:spAutoFit/>
          </a:bodyPr>
          <a:lstStyle/>
          <a:p>
            <a:pPr algn="r">
              <a:defRPr sz="900" b="1">
                <a:solidFill>
                  <a:srgbClr val="64748B"/>
                </a:solidFill>
                <a:latin typeface="Arial"/>
              </a:defRPr>
            </a:pPr>
            <a:r>
              <a:t>Slide 22 of 22</a:t>
            </a:r>
          </a:p>
        </p:txBody>
      </p:sp>
      <p:sp>
        <p:nvSpPr>
          <p:cNvPr id="7" name="Rounded Rectangle 6"/>
          <p:cNvSpPr/>
          <p:nvPr/>
        </p:nvSpPr>
        <p:spPr>
          <a:xfrm>
            <a:off x="7315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2563EB"/>
                </a:solidFill>
              </a:defRPr>
            </a:pPr>
            <a:r>
              <a:t>1. Skills are Active Code</a:t>
            </a:r>
          </a:p>
          <a:p>
            <a:pPr>
              <a:spcBef>
                <a:spcPts val="500"/>
              </a:spcBef>
              <a:defRPr sz="950">
                <a:latin typeface="Arial"/>
              </a:defRPr>
            </a:pPr>
            <a:r>
              <a:rPr b="1">
                <a:solidFill>
                  <a:srgbClr val="0F172A"/>
                </a:solidFill>
              </a:rPr>
              <a:t>•  Operational Surfaces: </a:t>
            </a:r>
            <a:r>
              <a:rPr>
                <a:solidFill>
                  <a:srgbClr val="334155"/>
                </a:solidFill>
              </a:rPr>
              <a:t>SKILL.md and MCP schemas are operational control surfaces that shape retrieval, selection, and system calls.</a:t>
            </a:r>
          </a:p>
          <a:p>
            <a:pPr>
              <a:spcBef>
                <a:spcPts val="500"/>
              </a:spcBef>
              <a:defRPr sz="950">
                <a:latin typeface="Arial"/>
              </a:defRPr>
            </a:pPr>
            <a:r>
              <a:rPr b="1">
                <a:solidFill>
                  <a:srgbClr val="0F172A"/>
                </a:solidFill>
              </a:rPr>
              <a:t>•  Real-World Threat: </a:t>
            </a:r>
            <a:r>
              <a:rPr>
                <a:solidFill>
                  <a:srgbClr val="334155"/>
                </a:solidFill>
              </a:rPr>
              <a:t>26.1% of audited skills contain flaws; 157 malicious skills confirm threat actors actively exploit these surfaces.</a:t>
            </a:r>
          </a:p>
        </p:txBody>
      </p:sp>
      <p:sp>
        <p:nvSpPr>
          <p:cNvPr id="8" name="Rounded Rectangle 7"/>
          <p:cNvSpPr/>
          <p:nvPr/>
        </p:nvSpPr>
        <p:spPr>
          <a:xfrm>
            <a:off x="43891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DC2626"/>
                </a:solidFill>
              </a:defRPr>
            </a:pPr>
            <a:r>
              <a:t>2. Alignment is Fragile</a:t>
            </a:r>
          </a:p>
          <a:p>
            <a:pPr>
              <a:spcBef>
                <a:spcPts val="500"/>
              </a:spcBef>
              <a:defRPr sz="950">
                <a:latin typeface="Arial"/>
              </a:defRPr>
            </a:pPr>
            <a:r>
              <a:rPr b="1">
                <a:solidFill>
                  <a:srgbClr val="0F172A"/>
                </a:solidFill>
              </a:rPr>
              <a:t>•  Cross-Lingual Inequity: </a:t>
            </a:r>
            <a:r>
              <a:rPr>
                <a:solidFill>
                  <a:srgbClr val="334155"/>
                </a:solidFill>
              </a:rPr>
              <a:t>High-resource models succumb to adversarial suffixes (99.5%); low-resource models succumb to multi-turn red-teaming (89.4%).</a:t>
            </a:r>
          </a:p>
          <a:p>
            <a:pPr>
              <a:spcBef>
                <a:spcPts val="500"/>
              </a:spcBef>
              <a:defRPr sz="950">
                <a:latin typeface="Arial"/>
              </a:defRPr>
            </a:pPr>
            <a:r>
              <a:rPr b="1">
                <a:solidFill>
                  <a:srgbClr val="0F172A"/>
                </a:solidFill>
              </a:rPr>
              <a:t>•  Evaluation Illusions: </a:t>
            </a:r>
            <a:r>
              <a:rPr>
                <a:solidFill>
                  <a:srgbClr val="334155"/>
                </a:solidFill>
              </a:rPr>
              <a:t>Automated benchmarks suffer translation degradation; security scanners suffer an English calibration bias.</a:t>
            </a:r>
          </a:p>
        </p:txBody>
      </p:sp>
      <p:sp>
        <p:nvSpPr>
          <p:cNvPr id="9" name="Rounded Rectangle 8"/>
          <p:cNvSpPr/>
          <p:nvPr/>
        </p:nvSpPr>
        <p:spPr>
          <a:xfrm>
            <a:off x="8046720" y="1645920"/>
            <a:ext cx="33832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59669"/>
                </a:solidFill>
              </a:defRPr>
            </a:pPr>
            <a:r>
              <a:t>3. Deep Defense Needed</a:t>
            </a:r>
          </a:p>
          <a:p>
            <a:pPr>
              <a:spcBef>
                <a:spcPts val="500"/>
              </a:spcBef>
              <a:defRPr sz="950">
                <a:latin typeface="Arial"/>
              </a:defRPr>
            </a:pPr>
            <a:r>
              <a:rPr b="1">
                <a:solidFill>
                  <a:srgbClr val="0F172A"/>
                </a:solidFill>
              </a:rPr>
              <a:t>•  Soft Defenses Obsolete: </a:t>
            </a:r>
            <a:r>
              <a:rPr>
                <a:solidFill>
                  <a:srgbClr val="334155"/>
                </a:solidFill>
              </a:rPr>
              <a:t>Prompt warnings, keyword scanners, and LLM judges are easily bypassed or trigger extreme false-positive refusals.</a:t>
            </a:r>
          </a:p>
          <a:p>
            <a:pPr>
              <a:spcBef>
                <a:spcPts val="500"/>
              </a:spcBef>
              <a:defRPr sz="950">
                <a:latin typeface="Arial"/>
              </a:defRPr>
            </a:pPr>
            <a:r>
              <a:rPr b="1">
                <a:solidFill>
                  <a:srgbClr val="0F172A"/>
                </a:solidFill>
              </a:rPr>
              <a:t>•  Architectural Path: </a:t>
            </a:r>
            <a:r>
              <a:rPr>
                <a:solidFill>
                  <a:srgbClr val="334155"/>
                </a:solidFill>
              </a:rPr>
              <a:t>Must build deterministic Policy Enforcement Modules (PEM), capability tokens, and dynamic taint tracking.</a:t>
            </a:r>
          </a:p>
        </p:txBody>
      </p:sp>
      <p:sp>
        <p:nvSpPr>
          <p:cNvPr id="10" name="Rounded Rectangle 9"/>
          <p:cNvSpPr/>
          <p:nvPr/>
        </p:nvSpPr>
        <p:spPr>
          <a:xfrm>
            <a:off x="731520" y="5303520"/>
            <a:ext cx="10728655" cy="914400"/>
          </a:xfrm>
          <a:prstGeom prst="roundRect">
            <a:avLst/>
          </a:prstGeom>
          <a:solidFill>
            <a:srgbClr val="0B132B"/>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defRPr b="1" sz="1500">
                <a:solidFill>
                  <a:srgbClr val="FFFFFF"/>
                </a:solidFill>
                <a:latin typeface="Arial"/>
              </a:defRPr>
            </a:pPr>
            <a:r>
              <a:t>Thank You! Open for Discussion &amp; Advisor Guidance</a:t>
            </a:r>
          </a:p>
          <a:p>
            <a:pPr algn="ctr">
              <a:spcBef>
                <a:spcPts val="300"/>
              </a:spcBef>
              <a:defRPr sz="950">
                <a:solidFill>
                  <a:srgbClr val="94A3B8"/>
                </a:solidFill>
              </a:defRPr>
            </a:pPr>
            <a:r>
              <a:t>Complete replication packages, research notes, and updated presentation available in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