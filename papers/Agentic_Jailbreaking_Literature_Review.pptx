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2926080" cy="347472"/>
          </a:xfrm>
          <a:prstGeom prst="roundRect">
            <a:avLst/>
          </a:prstGeom>
          <a:solidFill>
            <a:srgbClr val="1E294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tIns="54864"/>
          <a:lstStyle/>
          <a:p>
            <a:pPr algn="ctr">
              <a:defRPr sz="1000" b="1">
                <a:solidFill>
                  <a:srgbClr val="93C5FD"/>
                </a:solidFill>
              </a:defRPr>
            </a:pPr>
            <a:r>
              <a:t>ACADEMIC LITERATURE REVIEW</a:t>
            </a:r>
          </a:p>
        </p:txBody>
      </p:sp>
      <p:sp>
        <p:nvSpPr>
          <p:cNvPr id="4" name="TextBox 3"/>
          <p:cNvSpPr txBox="1"/>
          <p:nvPr/>
        </p:nvSpPr>
        <p:spPr>
          <a:xfrm>
            <a:off x="731520" y="1554480"/>
            <a:ext cx="10698480" cy="1645920"/>
          </a:xfrm>
          <a:prstGeom prst="rect">
            <a:avLst/>
          </a:prstGeom>
          <a:noFill/>
        </p:spPr>
        <p:txBody>
          <a:bodyPr wrap="square">
            <a:spAutoFit/>
          </a:bodyPr>
          <a:lstStyle/>
          <a:p>
            <a:pPr>
              <a:defRPr sz="3600" b="1">
                <a:solidFill>
                  <a:srgbClr val="FFFFFF"/>
                </a:solidFill>
              </a:defRPr>
            </a:pPr>
            <a:r>
              <a:t>Agentic Jailbreaking &amp; LLM Agent Security</a:t>
            </a:r>
          </a:p>
          <a:p>
            <a:pPr>
              <a:spcBef>
                <a:spcPts val="800"/>
              </a:spcBef>
              <a:defRPr sz="1600">
                <a:solidFill>
                  <a:srgbClr val="94A3B8"/>
                </a:solidFill>
              </a:defRPr>
            </a:pPr>
            <a:r>
              <a:t>A Systematic Analysis Across 8 Foundational Papers (2024–2026): Threat Models, Benchmarks &amp; Defense Paradigms</a:t>
            </a:r>
          </a:p>
        </p:txBody>
      </p:sp>
      <p:sp>
        <p:nvSpPr>
          <p:cNvPr id="5" name="Rounded Rectangle 4"/>
          <p:cNvSpPr/>
          <p:nvPr/>
        </p:nvSpPr>
        <p:spPr>
          <a:xfrm>
            <a:off x="731520" y="3474720"/>
            <a:ext cx="3328416" cy="228600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60A5FA"/>
                </a:solidFill>
              </a:defRPr>
            </a:pPr>
            <a:r>
              <a:t>8 FOUNDATIONAL PAPERS</a:t>
            </a:r>
          </a:p>
          <a:p>
            <a:pPr>
              <a:spcBef>
                <a:spcPts val="400"/>
              </a:spcBef>
              <a:defRPr sz="1400" b="1">
                <a:solidFill>
                  <a:srgbClr val="FFFFFF"/>
                </a:solidFill>
              </a:defRPr>
            </a:pPr>
            <a:r>
              <a:t>Covering Top Venues</a:t>
            </a:r>
          </a:p>
          <a:p>
            <a:pPr>
              <a:spcBef>
                <a:spcPts val="600"/>
              </a:spcBef>
              <a:defRPr sz="1000">
                <a:solidFill>
                  <a:srgbClr val="CBD5E1"/>
                </a:solidFill>
              </a:defRPr>
            </a:pPr>
            <a:r>
              <a:t>• ToolEmu (ICLR 2024)</a:t>
            </a:r>
            <a:br/>
            <a:r>
              <a:t>• InjecAgent (ACL 2024)</a:t>
            </a:r>
            <a:br/>
            <a:r>
              <a:t>• ASB (ICLR 2025)</a:t>
            </a:r>
            <a:br/>
            <a:r>
              <a:t>• WASP (Meta FAIR 2025)</a:t>
            </a:r>
            <a:br/>
            <a:r>
              <a:t>• SEAgent &amp; LivePI (2026)</a:t>
            </a:r>
            <a:br/>
            <a:r>
              <a:t>• VIGIL &amp; AgentDojo (2024/26)</a:t>
            </a:r>
          </a:p>
        </p:txBody>
      </p:sp>
      <p:sp>
        <p:nvSpPr>
          <p:cNvPr id="6" name="Rounded Rectangle 5"/>
          <p:cNvSpPr/>
          <p:nvPr/>
        </p:nvSpPr>
        <p:spPr>
          <a:xfrm>
            <a:off x="4416552" y="3474720"/>
            <a:ext cx="3328416" cy="228600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F87171"/>
                </a:solidFill>
              </a:defRPr>
            </a:pPr>
            <a:r>
              <a:t>THE NEW ATTACK SURFACE</a:t>
            </a:r>
          </a:p>
          <a:p>
            <a:pPr>
              <a:spcBef>
                <a:spcPts val="400"/>
              </a:spcBef>
              <a:defRPr sz="1400" b="1">
                <a:solidFill>
                  <a:srgbClr val="FFFFFF"/>
                </a:solidFill>
              </a:defRPr>
            </a:pPr>
            <a:r>
              <a:t>Beyond Text Generation</a:t>
            </a:r>
          </a:p>
          <a:p>
            <a:pPr>
              <a:spcBef>
                <a:spcPts val="600"/>
              </a:spcBef>
              <a:defRPr sz="1000">
                <a:solidFill>
                  <a:srgbClr val="CBD5E1"/>
                </a:solidFill>
              </a:defRPr>
            </a:pPr>
            <a:r>
              <a:t>• Indirect Prompt Injections (IPI)</a:t>
            </a:r>
            <a:br/>
            <a:r>
              <a:t>• Multi-step Autonomous Exploitation</a:t>
            </a:r>
            <a:br/>
            <a:r>
              <a:t>• Memory &amp; RAG Poisoning</a:t>
            </a:r>
            <a:br/>
            <a:r>
              <a:t>• Multi-Agent Confused Deputy</a:t>
            </a:r>
            <a:br/>
            <a:r>
              <a:t>• Skill Specification Violations</a:t>
            </a:r>
          </a:p>
        </p:txBody>
      </p:sp>
      <p:sp>
        <p:nvSpPr>
          <p:cNvPr id="7" name="Rounded Rectangle 6"/>
          <p:cNvSpPr/>
          <p:nvPr/>
        </p:nvSpPr>
        <p:spPr>
          <a:xfrm>
            <a:off x="8101584" y="3474720"/>
            <a:ext cx="3328416" cy="228600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000" b="1">
                <a:solidFill>
                  <a:srgbClr val="34D399"/>
                </a:solidFill>
              </a:defRPr>
            </a:pPr>
            <a:r>
              <a:t>DEFENSE PARADIGM SHIFT</a:t>
            </a:r>
          </a:p>
          <a:p>
            <a:pPr>
              <a:spcBef>
                <a:spcPts val="400"/>
              </a:spcBef>
              <a:defRPr sz="1400" b="1">
                <a:solidFill>
                  <a:srgbClr val="FFFFFF"/>
                </a:solidFill>
              </a:defRPr>
            </a:pPr>
            <a:r>
              <a:t>From Prompts to Systems</a:t>
            </a:r>
          </a:p>
          <a:p>
            <a:pPr>
              <a:spcBef>
                <a:spcPts val="600"/>
              </a:spcBef>
              <a:defRPr sz="1000">
                <a:solidFill>
                  <a:srgbClr val="CBD5E1"/>
                </a:solidFill>
              </a:defRPr>
            </a:pPr>
            <a:r>
              <a:t>• Brittle prompt filtering bypassed</a:t>
            </a:r>
            <a:br/>
            <a:r>
              <a:t>• Classifiers hurt normal utility</a:t>
            </a:r>
            <a:br/>
            <a:r>
              <a:t>• Rise of Mandatory Access Control</a:t>
            </a:r>
            <a:br/>
            <a:r>
              <a:t>• Deterministic SMT trace verification</a:t>
            </a:r>
            <a:br/>
            <a:r>
              <a:t>• Blueprint for Lab Research</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 of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EXECUTIVE SUMMARY</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The Fundamental Shift: Chatbot Jailbreaks vs. Agentic Jailbreaks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Why traditional LLM alignment breaks down when models transition from conversation to autonomous tool execution</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64748B"/>
                </a:solidFill>
              </a:defRPr>
            </a:pPr>
            <a:r>
              <a:t>TRADITIONAL CHATBOT JAILBREAKING</a:t>
            </a:r>
          </a:p>
          <a:p>
            <a:pPr>
              <a:spcBef>
                <a:spcPts val="400"/>
              </a:spcBef>
              <a:defRPr sz="1600" b="1">
                <a:solidFill>
                  <a:srgbClr val="0F172A"/>
                </a:solidFill>
              </a:defRPr>
            </a:pPr>
            <a:r>
              <a:t>Text-In, Text-Out Safety Boundary</a:t>
            </a:r>
          </a:p>
          <a:p>
            <a:pPr>
              <a:spcBef>
                <a:spcPts val="1000"/>
              </a:spcBef>
              <a:defRPr sz="1100">
                <a:solidFill>
                  <a:srgbClr val="334155"/>
                </a:solidFill>
              </a:defRPr>
            </a:pPr>
            <a:r>
              <a:t>• Confined Impact: Failure mode is limited to harmful token generation (hate speech, bomb manuals, harmful advice).</a:t>
            </a:r>
          </a:p>
          <a:p>
            <a:pPr>
              <a:spcBef>
                <a:spcPts val="1000"/>
              </a:spcBef>
              <a:defRPr sz="1100">
                <a:solidFill>
                  <a:srgbClr val="334155"/>
                </a:solidFill>
              </a:defRPr>
            </a:pPr>
            <a:r>
              <a:t>• Single-Turn Human-in-the-Loop: Adversary directly converses with the model; human must read, verify, and manually act on output.</a:t>
            </a:r>
          </a:p>
          <a:p>
            <a:pPr>
              <a:spcBef>
                <a:spcPts val="1000"/>
              </a:spcBef>
              <a:defRPr sz="1100">
                <a:solidFill>
                  <a:srgbClr val="334155"/>
                </a:solidFill>
              </a:defRPr>
            </a:pPr>
            <a:r>
              <a:t>• Static Context Boundary: Model operates purely on user prompts and internal weights without observing changing external state.</a:t>
            </a:r>
          </a:p>
          <a:p>
            <a:pPr>
              <a:spcBef>
                <a:spcPts val="1000"/>
              </a:spcBef>
              <a:defRPr sz="1100">
                <a:solidFill>
                  <a:srgbClr val="334155"/>
                </a:solidFill>
              </a:defRPr>
            </a:pPr>
            <a:r>
              <a:t>• Aligned via RLHF: Post-training safety tuning (RLHF/DPO) suppresses prohibited text sequences relatively reliably.</a:t>
            </a:r>
          </a:p>
        </p:txBody>
      </p:sp>
      <p:sp>
        <p:nvSpPr>
          <p:cNvPr id="7" name="Rounded Rectangle 6"/>
          <p:cNvSpPr/>
          <p:nvPr/>
        </p:nvSpPr>
        <p:spPr>
          <a:xfrm>
            <a:off x="6291072" y="1600200"/>
            <a:ext cx="5166360" cy="4572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100" b="1">
                <a:solidFill>
                  <a:srgbClr val="2563EB"/>
                </a:solidFill>
              </a:defRPr>
            </a:pPr>
            <a:r>
              <a:t>AGENTIC JAILBREAKING &amp; EXPLOITATION</a:t>
            </a:r>
          </a:p>
          <a:p>
            <a:pPr>
              <a:spcBef>
                <a:spcPts val="400"/>
              </a:spcBef>
              <a:defRPr sz="1600" b="1">
                <a:solidFill>
                  <a:srgbClr val="0F172A"/>
                </a:solidFill>
              </a:defRPr>
            </a:pPr>
            <a:r>
              <a:t>Autonomous Real-World Action &amp; Side Effects</a:t>
            </a:r>
          </a:p>
          <a:p>
            <a:pPr>
              <a:spcBef>
                <a:spcPts val="1000"/>
              </a:spcBef>
              <a:defRPr sz="1100">
                <a:solidFill>
                  <a:srgbClr val="334155"/>
                </a:solidFill>
              </a:defRPr>
            </a:pPr>
            <a:r>
              <a:t>• Irreversible Side Effects: Failure mode is tool execution: database deletion, fund transfer, unauthorized email exfiltration, shell commands.</a:t>
            </a:r>
          </a:p>
          <a:p>
            <a:pPr>
              <a:spcBef>
                <a:spcPts val="1000"/>
              </a:spcBef>
              <a:defRPr sz="1100">
                <a:solidFill>
                  <a:srgbClr val="334155"/>
                </a:solidFill>
              </a:defRPr>
            </a:pPr>
            <a:r>
              <a:t>• Indirect Ingestion (IPI): Adversary does not need direct prompt access; instructions hide inside emails, web DOM, group chats, or files.</a:t>
            </a:r>
          </a:p>
          <a:p>
            <a:pPr>
              <a:spcBef>
                <a:spcPts val="1000"/>
              </a:spcBef>
              <a:defRPr sz="1100">
                <a:solidFill>
                  <a:srgbClr val="334155"/>
                </a:solidFill>
              </a:defRPr>
            </a:pPr>
            <a:r>
              <a:t>• No Instruction-Data Separation: LLMs cannot formally distinguish between developer commands, user queries, and external tool outputs.</a:t>
            </a:r>
          </a:p>
          <a:p>
            <a:pPr>
              <a:spcBef>
                <a:spcPts val="1000"/>
              </a:spcBef>
              <a:defRPr sz="1100">
                <a:solidFill>
                  <a:srgbClr val="334155"/>
                </a:solidFill>
              </a:defRPr>
            </a:pPr>
            <a:r>
              <a:t>• Compounding Multi-Step Chains: A single injected instruction hijacks autonomous loops, pivoting across APIs and multi-agent systems.</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2 of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THREAT TAXONOMY</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Core Attack Vectors in LLM Agent Architectures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 structured taxonomy mapping how adversaries exploit each stage of the agent execution lifecycle</a:t>
            </a:r>
          </a:p>
        </p:txBody>
      </p:sp>
      <p:sp>
        <p:nvSpPr>
          <p:cNvPr id="6" name="Rounded Rectangle 5"/>
          <p:cNvSpPr/>
          <p:nvPr/>
        </p:nvSpPr>
        <p:spPr>
          <a:xfrm>
            <a:off x="7315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D97706"/>
                </a:solidFill>
              </a:defRPr>
            </a:pPr>
            <a:r>
              <a:t>DIRECT PROMPT INJECTION (DPI)</a:t>
            </a:r>
          </a:p>
          <a:p>
            <a:pPr>
              <a:spcBef>
                <a:spcPts val="300"/>
              </a:spcBef>
              <a:defRPr sz="1200" b="1">
                <a:solidFill>
                  <a:srgbClr val="0F172A"/>
                </a:solidFill>
              </a:defRPr>
            </a:pPr>
            <a:r>
              <a:t>Direct User Manipulation</a:t>
            </a:r>
          </a:p>
          <a:p>
            <a:pPr>
              <a:spcBef>
                <a:spcPts val="800"/>
              </a:spcBef>
              <a:defRPr sz="1000">
                <a:solidFill>
                  <a:srgbClr val="334155"/>
                </a:solidFill>
              </a:defRPr>
            </a:pPr>
            <a:r>
              <a:t>The user directly issues deceptive or adversarial prompts to trick the agent into overriding system guardrails or invoking restricted tools.</a:t>
            </a:r>
          </a:p>
          <a:p>
            <a:pPr>
              <a:spcBef>
                <a:spcPts val="1000"/>
              </a:spcBef>
              <a:defRPr sz="1000" b="1">
                <a:solidFill>
                  <a:srgbClr val="0F172A"/>
                </a:solidFill>
              </a:defRPr>
            </a:pPr>
            <a:r>
              <a:t>Key Attack Modalities:</a:t>
            </a:r>
          </a:p>
          <a:p>
            <a:pPr>
              <a:spcBef>
                <a:spcPts val="300"/>
              </a:spcBef>
              <a:defRPr sz="950">
                <a:solidFill>
                  <a:srgbClr val="334155"/>
                </a:solidFill>
              </a:defRPr>
            </a:pPr>
            <a:r>
              <a:t>• Jailbreak templates ('DAN', jailbreaks)</a:t>
            </a:r>
            <a:br/>
            <a:r>
              <a:t>• Overriding tool parameters</a:t>
            </a:r>
            <a:br/>
            <a:r>
              <a:t>• Bypassing user-level authorization</a:t>
            </a:r>
            <a:br/>
            <a:r>
              <a:t>• Confusing system role definitions</a:t>
            </a:r>
          </a:p>
          <a:p>
            <a:pPr>
              <a:spcBef>
                <a:spcPts val="1600"/>
              </a:spcBef>
              <a:defRPr sz="1000" b="1">
                <a:solidFill>
                  <a:srgbClr val="D97706"/>
                </a:solidFill>
              </a:defRPr>
            </a:pPr>
            <a:r>
              <a:t>Peak ASR: 72.7% (ASB Benchmark)</a:t>
            </a:r>
          </a:p>
        </p:txBody>
      </p:sp>
      <p:sp>
        <p:nvSpPr>
          <p:cNvPr id="7" name="Rounded Rectangle 6"/>
          <p:cNvSpPr/>
          <p:nvPr/>
        </p:nvSpPr>
        <p:spPr>
          <a:xfrm>
            <a:off x="34747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DC2626"/>
                </a:solidFill>
              </a:defRPr>
            </a:pPr>
            <a:r>
              <a:t>INDIRECT PROMPT INJECTION (IPI)</a:t>
            </a:r>
          </a:p>
          <a:p>
            <a:pPr>
              <a:spcBef>
                <a:spcPts val="300"/>
              </a:spcBef>
              <a:defRPr sz="1200" b="1">
                <a:solidFill>
                  <a:srgbClr val="0F172A"/>
                </a:solidFill>
              </a:defRPr>
            </a:pPr>
            <a:r>
              <a:t>Poisoned External Content</a:t>
            </a:r>
          </a:p>
          <a:p>
            <a:pPr>
              <a:spcBef>
                <a:spcPts val="800"/>
              </a:spcBef>
              <a:defRPr sz="1000">
                <a:solidFill>
                  <a:srgbClr val="334155"/>
                </a:solidFill>
              </a:defRPr>
            </a:pPr>
            <a:r>
              <a:t>Malicious instructions are placed into third-party environments (web DOM, incoming emails, group chats, docs) read by the agent's tools.</a:t>
            </a:r>
          </a:p>
          <a:p>
            <a:pPr>
              <a:spcBef>
                <a:spcPts val="1000"/>
              </a:spcBef>
              <a:defRPr sz="1000" b="1">
                <a:solidFill>
                  <a:srgbClr val="0F172A"/>
                </a:solidFill>
              </a:defRPr>
            </a:pPr>
            <a:r>
              <a:t>Key Attack Modalities:</a:t>
            </a:r>
          </a:p>
          <a:p>
            <a:pPr>
              <a:spcBef>
                <a:spcPts val="300"/>
              </a:spcBef>
              <a:defRPr sz="950">
                <a:solidFill>
                  <a:srgbClr val="334155"/>
                </a:solidFill>
              </a:defRPr>
            </a:pPr>
            <a:r>
              <a:t>• Data exfiltration via HTTP / Email</a:t>
            </a:r>
            <a:br/>
            <a:r>
              <a:t>• Group-chat command spoofing</a:t>
            </a:r>
            <a:br/>
            <a:r>
              <a:t>• Unsafe code retrieval &amp; exec</a:t>
            </a:r>
            <a:br/>
            <a:r>
              <a:t>• Hidden HTML text &amp; URL injections</a:t>
            </a:r>
          </a:p>
          <a:p>
            <a:pPr>
              <a:spcBef>
                <a:spcPts val="1600"/>
              </a:spcBef>
              <a:defRPr sz="1000" b="1">
                <a:solidFill>
                  <a:srgbClr val="DC2626"/>
                </a:solidFill>
              </a:defRPr>
            </a:pPr>
            <a:r>
              <a:t>Group Chat ASR: 100% (LivePI)</a:t>
            </a:r>
          </a:p>
        </p:txBody>
      </p:sp>
      <p:sp>
        <p:nvSpPr>
          <p:cNvPr id="8" name="Rounded Rectangle 7"/>
          <p:cNvSpPr/>
          <p:nvPr/>
        </p:nvSpPr>
        <p:spPr>
          <a:xfrm>
            <a:off x="62179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7C3AED"/>
                </a:solidFill>
              </a:defRPr>
            </a:pPr>
            <a:r>
              <a:t>MEMORY &amp; RAG POISONING</a:t>
            </a:r>
          </a:p>
          <a:p>
            <a:pPr>
              <a:spcBef>
                <a:spcPts val="300"/>
              </a:spcBef>
              <a:defRPr sz="1200" b="1">
                <a:solidFill>
                  <a:srgbClr val="0F172A"/>
                </a:solidFill>
              </a:defRPr>
            </a:pPr>
            <a:r>
              <a:t>Persistent State Corruption</a:t>
            </a:r>
          </a:p>
          <a:p>
            <a:pPr>
              <a:spcBef>
                <a:spcPts val="800"/>
              </a:spcBef>
              <a:defRPr sz="1000">
                <a:solidFill>
                  <a:srgbClr val="334155"/>
                </a:solidFill>
              </a:defRPr>
            </a:pPr>
            <a:r>
              <a:t>Attackers corrupt the agent's long-term retrieval memory or plan store, ensuring subsequent clean tasks are hijacked long after the injection.</a:t>
            </a:r>
          </a:p>
          <a:p>
            <a:pPr>
              <a:spcBef>
                <a:spcPts val="1000"/>
              </a:spcBef>
              <a:defRPr sz="1000" b="1">
                <a:solidFill>
                  <a:srgbClr val="0F172A"/>
                </a:solidFill>
              </a:defRPr>
            </a:pPr>
            <a:r>
              <a:t>Key Attack Modalities:</a:t>
            </a:r>
          </a:p>
          <a:p>
            <a:pPr>
              <a:spcBef>
                <a:spcPts val="300"/>
              </a:spcBef>
              <a:defRPr sz="950">
                <a:solidFill>
                  <a:srgbClr val="334155"/>
                </a:solidFill>
              </a:defRPr>
            </a:pPr>
            <a:r>
              <a:t>• RAG vector database poisoning</a:t>
            </a:r>
            <a:br/>
            <a:r>
              <a:t>• Plan-of-Thought (PoT) backdoors</a:t>
            </a:r>
            <a:br/>
            <a:r>
              <a:t>• Cross-session persistent infection</a:t>
            </a:r>
            <a:br/>
            <a:r>
              <a:t>• Latent trigger activations</a:t>
            </a:r>
          </a:p>
          <a:p>
            <a:pPr>
              <a:spcBef>
                <a:spcPts val="1600"/>
              </a:spcBef>
              <a:defRPr sz="1000" b="1">
                <a:solidFill>
                  <a:srgbClr val="7C3AED"/>
                </a:solidFill>
              </a:defRPr>
            </a:pPr>
            <a:r>
              <a:t>Backdoor ASR: 84.3% (ASB Benchmark)</a:t>
            </a:r>
          </a:p>
        </p:txBody>
      </p:sp>
      <p:sp>
        <p:nvSpPr>
          <p:cNvPr id="9" name="Rounded Rectangle 8"/>
          <p:cNvSpPr/>
          <p:nvPr/>
        </p:nvSpPr>
        <p:spPr>
          <a:xfrm>
            <a:off x="89611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50" b="1">
                <a:solidFill>
                  <a:srgbClr val="2563EB"/>
                </a:solidFill>
              </a:defRPr>
            </a:pPr>
            <a:r>
              <a:t>CONFUSED DEPUTY &amp; SKILLS</a:t>
            </a:r>
          </a:p>
          <a:p>
            <a:pPr>
              <a:spcBef>
                <a:spcPts val="300"/>
              </a:spcBef>
              <a:defRPr sz="1200" b="1">
                <a:solidFill>
                  <a:srgbClr val="0F172A"/>
                </a:solidFill>
              </a:defRPr>
            </a:pPr>
            <a:r>
              <a:t>Privilege Escalation &amp; Skills</a:t>
            </a:r>
          </a:p>
          <a:p>
            <a:pPr>
              <a:spcBef>
                <a:spcPts val="800"/>
              </a:spcBef>
              <a:defRPr sz="1000">
                <a:solidFill>
                  <a:srgbClr val="334155"/>
                </a:solidFill>
              </a:defRPr>
            </a:pPr>
            <a:r>
              <a:t>Exploiting multi-agent interaction or third-party skills to manipulate a privileged agent into exceeding its intended least-privilege boundary.</a:t>
            </a:r>
          </a:p>
          <a:p>
            <a:pPr>
              <a:spcBef>
                <a:spcPts val="1000"/>
              </a:spcBef>
              <a:defRPr sz="1000" b="1">
                <a:solidFill>
                  <a:srgbClr val="0F172A"/>
                </a:solidFill>
              </a:defRPr>
            </a:pPr>
            <a:r>
              <a:t>Key Attack Modalities:</a:t>
            </a:r>
          </a:p>
          <a:p>
            <a:pPr>
              <a:spcBef>
                <a:spcPts val="300"/>
              </a:spcBef>
              <a:defRPr sz="950">
                <a:solidFill>
                  <a:srgbClr val="334155"/>
                </a:solidFill>
              </a:defRPr>
            </a:pPr>
            <a:r>
              <a:t>• Low-privilege agent tricks Admin</a:t>
            </a:r>
            <a:br/>
            <a:r>
              <a:t>• Third-party skill contract violation</a:t>
            </a:r>
            <a:br/>
            <a:r>
              <a:t>• Cross-agent execution hijacking</a:t>
            </a:r>
            <a:br/>
            <a:r>
              <a:t>• Missing trace-level preconditions</a:t>
            </a:r>
          </a:p>
          <a:p>
            <a:pPr>
              <a:spcBef>
                <a:spcPts val="1600"/>
              </a:spcBef>
              <a:defRPr sz="1000" b="1">
                <a:solidFill>
                  <a:srgbClr val="2563EB"/>
                </a:solidFill>
              </a:defRPr>
            </a:pPr>
            <a:r>
              <a:t>Single-Call Miss Rate: ~50% (VIGIL)</a:t>
            </a:r>
          </a:p>
        </p:txBody>
      </p:sp>
      <p:sp>
        <p:nvSpPr>
          <p:cNvPr id="10" name="TextBox 9"/>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3 of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LITERATURE TIMELINE (2024–2026)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The Evolution of Agent Security Research</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Tracking the shift from synthetic tool emulators to dynamic benchmarks, production environments, and formal verification</a:t>
            </a:r>
          </a:p>
        </p:txBody>
      </p:sp>
      <p:sp>
        <p:nvSpPr>
          <p:cNvPr id="6" name="Rounded Rectangle 5"/>
          <p:cNvSpPr/>
          <p:nvPr/>
        </p:nvSpPr>
        <p:spPr>
          <a:xfrm>
            <a:off x="731520"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2563EB"/>
                </a:solidFill>
              </a:defRPr>
            </a:pPr>
            <a:r>
              <a:t>PHASE 1: 2024</a:t>
            </a:r>
          </a:p>
          <a:p>
            <a:pPr>
              <a:spcBef>
                <a:spcPts val="300"/>
              </a:spcBef>
              <a:defRPr sz="1300" b="1">
                <a:solidFill>
                  <a:srgbClr val="0F172A"/>
                </a:solidFill>
              </a:defRPr>
            </a:pPr>
            <a:r>
              <a:t>Foundation, Emulation &amp; Initial Benchmarks</a:t>
            </a:r>
          </a:p>
          <a:p>
            <a:pPr>
              <a:spcBef>
                <a:spcPts val="1200"/>
              </a:spcBef>
              <a:defRPr sz="1100" b="1">
                <a:solidFill>
                  <a:srgbClr val="0F172A"/>
                </a:solidFill>
              </a:defRPr>
            </a:pPr>
            <a:r>
              <a:t>▶ ToolEmu (ICLR 2024)</a:t>
            </a:r>
          </a:p>
          <a:p>
            <a:pPr>
              <a:spcBef>
                <a:spcPts val="300"/>
              </a:spcBef>
              <a:defRPr sz="1000">
                <a:solidFill>
                  <a:srgbClr val="334155"/>
                </a:solidFill>
              </a:defRPr>
            </a:pPr>
            <a:r>
              <a:t>Pioneered LLM-emulated tool execution; revealed that safety system prompts still leave 23.9% failure incidence in high-stakes domains.</a:t>
            </a:r>
          </a:p>
          <a:p>
            <a:pPr>
              <a:spcBef>
                <a:spcPts val="1200"/>
              </a:spcBef>
              <a:defRPr sz="1100" b="1">
                <a:solidFill>
                  <a:srgbClr val="0F172A"/>
                </a:solidFill>
              </a:defRPr>
            </a:pPr>
            <a:r>
              <a:t>▶ InjecAgent (ACL 2024)</a:t>
            </a:r>
          </a:p>
          <a:p>
            <a:pPr>
              <a:spcBef>
                <a:spcPts val="300"/>
              </a:spcBef>
              <a:defRPr sz="1000">
                <a:solidFill>
                  <a:srgbClr val="334155"/>
                </a:solidFill>
              </a:defRPr>
            </a:pPr>
            <a:r>
              <a:t>First formal benchmark for IPI in tool agents (1,054 tests); proved function-calling fine-tuning outperforms ReAct prompting.</a:t>
            </a:r>
          </a:p>
          <a:p>
            <a:pPr>
              <a:spcBef>
                <a:spcPts val="1200"/>
              </a:spcBef>
              <a:defRPr sz="1100" b="1">
                <a:solidFill>
                  <a:srgbClr val="0F172A"/>
                </a:solidFill>
              </a:defRPr>
            </a:pPr>
            <a:r>
              <a:t>▶ AgentDojo (NeurIPS 2024)</a:t>
            </a:r>
          </a:p>
          <a:p>
            <a:pPr>
              <a:spcBef>
                <a:spcPts val="300"/>
              </a:spcBef>
              <a:defRPr sz="1000">
                <a:solidFill>
                  <a:srgbClr val="334155"/>
                </a:solidFill>
              </a:defRPr>
            </a:pPr>
            <a:r>
              <a:t>Dynamic execution environments (97 tasks, 629 tests); demonstrated that prompt injection detectors severely harm benign utility.</a:t>
            </a:r>
          </a:p>
        </p:txBody>
      </p:sp>
      <p:sp>
        <p:nvSpPr>
          <p:cNvPr id="7" name="Rounded Rectangle 6"/>
          <p:cNvSpPr/>
          <p:nvPr/>
        </p:nvSpPr>
        <p:spPr>
          <a:xfrm>
            <a:off x="4398264"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7C3AED"/>
                </a:solidFill>
              </a:defRPr>
            </a:pPr>
            <a:r>
              <a:t>PHASE 2: 2025</a:t>
            </a:r>
          </a:p>
          <a:p>
            <a:pPr>
              <a:spcBef>
                <a:spcPts val="300"/>
              </a:spcBef>
              <a:defRPr sz="1300" b="1">
                <a:solidFill>
                  <a:srgbClr val="0F172A"/>
                </a:solidFill>
              </a:defRPr>
            </a:pPr>
            <a:r>
              <a:t>Lifecycle Formalization &amp; Real-World Web</a:t>
            </a:r>
          </a:p>
          <a:p>
            <a:pPr>
              <a:spcBef>
                <a:spcPts val="1200"/>
              </a:spcBef>
              <a:defRPr sz="1100" b="1">
                <a:solidFill>
                  <a:srgbClr val="0F172A"/>
                </a:solidFill>
              </a:defRPr>
            </a:pPr>
            <a:r>
              <a:t>▶ Agent Security Bench (ICLR 2025)</a:t>
            </a:r>
          </a:p>
          <a:p>
            <a:pPr>
              <a:spcBef>
                <a:spcPts val="300"/>
              </a:spcBef>
              <a:defRPr sz="1000">
                <a:solidFill>
                  <a:srgbClr val="334155"/>
                </a:solidFill>
              </a:defRPr>
            </a:pPr>
            <a:r>
              <a:t>Comprehensive formalization of 4 agent lifecycle stages (prompt, tool, memory); introduced Plan-of-Thought backdoor (84.3% ASR).</a:t>
            </a:r>
          </a:p>
          <a:p>
            <a:pPr>
              <a:spcBef>
                <a:spcPts val="1200"/>
              </a:spcBef>
              <a:defRPr sz="1100" b="1">
                <a:solidFill>
                  <a:srgbClr val="0F172A"/>
                </a:solidFill>
              </a:defRPr>
            </a:pPr>
            <a:r>
              <a:t>▶ WASP (Meta FAIR 2025)</a:t>
            </a:r>
          </a:p>
          <a:p>
            <a:pPr>
              <a:spcBef>
                <a:spcPts val="300"/>
              </a:spcBef>
              <a:defRPr sz="1000">
                <a:solidFill>
                  <a:srgbClr val="334155"/>
                </a:solidFill>
              </a:defRPr>
            </a:pPr>
            <a:r>
              <a:t>End-to-end evaluation on self-hosted GitLab &amp; Reddit; uncovered 'Security by Incompetence' (86% intermediate ASR vs 16.7% completion).</a:t>
            </a:r>
          </a:p>
        </p:txBody>
      </p:sp>
      <p:sp>
        <p:nvSpPr>
          <p:cNvPr id="8" name="Rounded Rectangle 7"/>
          <p:cNvSpPr/>
          <p:nvPr/>
        </p:nvSpPr>
        <p:spPr>
          <a:xfrm>
            <a:off x="8065008"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059669"/>
                </a:solidFill>
              </a:defRPr>
            </a:pPr>
            <a:r>
              <a:t>PHASE 3: 2026</a:t>
            </a:r>
          </a:p>
          <a:p>
            <a:pPr>
              <a:spcBef>
                <a:spcPts val="300"/>
              </a:spcBef>
              <a:defRPr sz="1300" b="1">
                <a:solidFill>
                  <a:srgbClr val="0F172A"/>
                </a:solidFill>
              </a:defRPr>
            </a:pPr>
            <a:r>
              <a:t>Production Workflows, MAC &amp; Formal Verification</a:t>
            </a:r>
          </a:p>
          <a:p>
            <a:pPr>
              <a:spcBef>
                <a:spcPts val="1200"/>
              </a:spcBef>
              <a:defRPr sz="1100" b="1">
                <a:solidFill>
                  <a:srgbClr val="0F172A"/>
                </a:solidFill>
              </a:defRPr>
            </a:pPr>
            <a:r>
              <a:t>▶ SEAgent (2026)</a:t>
            </a:r>
          </a:p>
          <a:p>
            <a:pPr>
              <a:spcBef>
                <a:spcPts val="300"/>
              </a:spcBef>
              <a:defRPr sz="1000">
                <a:solidFill>
                  <a:srgbClr val="334155"/>
                </a:solidFill>
              </a:defRPr>
            </a:pPr>
            <a:r>
              <a:t>SELinux-inspired Mandatory Access Control (MAC); eliminated multi-agent Confused Deputy and privilege escalation (0.0% ASR).</a:t>
            </a:r>
          </a:p>
          <a:p>
            <a:pPr>
              <a:spcBef>
                <a:spcPts val="1200"/>
              </a:spcBef>
              <a:defRPr sz="1100" b="1">
                <a:solidFill>
                  <a:srgbClr val="0F172A"/>
                </a:solidFill>
              </a:defRPr>
            </a:pPr>
            <a:r>
              <a:t>▶ LivePI (UPenn 2026)</a:t>
            </a:r>
          </a:p>
          <a:p>
            <a:pPr>
              <a:spcBef>
                <a:spcPts val="300"/>
              </a:spcBef>
              <a:defRPr sz="1000">
                <a:solidFill>
                  <a:srgbClr val="334155"/>
                </a:solidFill>
              </a:defRPr>
            </a:pPr>
            <a:r>
              <a:t>Production VM workflows across 7 live surfaces; showed group chats have 100% universal vulnerability across next-gen LLMs.</a:t>
            </a:r>
          </a:p>
          <a:p>
            <a:pPr>
              <a:spcBef>
                <a:spcPts val="1200"/>
              </a:spcBef>
              <a:defRPr sz="1100" b="1">
                <a:solidFill>
                  <a:srgbClr val="0F172A"/>
                </a:solidFill>
              </a:defRPr>
            </a:pPr>
            <a:r>
              <a:t>▶ VIGIL (2026)</a:t>
            </a:r>
          </a:p>
          <a:p>
            <a:pPr>
              <a:spcBef>
                <a:spcPts val="300"/>
              </a:spcBef>
              <a:defRPr sz="1000">
                <a:solidFill>
                  <a:srgbClr val="334155"/>
                </a:solidFill>
              </a:defRPr>
            </a:pPr>
            <a:r>
              <a:t>SMT-based trace verification; proved single-call filters miss ~50% of violations; achieved 92.6% F1 with formal execution traces.</a:t>
            </a:r>
          </a:p>
        </p:txBody>
      </p:sp>
      <p:sp>
        <p:nvSpPr>
          <p:cNvPr id="9" name="TextBox 8"/>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4 of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1 | ICLR 2024</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ToolEmu: Identifying the Risks of LM Agents with an LM-Emulated Sandbox</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Yangjun Ruan, Honghua Dong, Andrew Wang, Jimmy Ba, Tatsunori Hashimoto, et al. (Toronto, Stanford)</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Evaluating high-stakes, long-tail tool execution risks (e.g. medical, smart home, finance) is prohibitively labor-intensive because implementing custom sandbox environments for hundreds of APIs is unsustainable.</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ToolEmu Framework: Uses GPT-4 as an emulator to simulate tool execution, returns, and world state updates.</a:t>
            </a:r>
          </a:p>
          <a:p>
            <a:pPr>
              <a:spcBef>
                <a:spcPts val="400"/>
              </a:spcBef>
              <a:defRPr sz="1000">
                <a:solidFill>
                  <a:srgbClr val="334155"/>
                </a:solidFill>
              </a:defRPr>
            </a:pPr>
            <a:r>
              <a:t>• Automatic Safety Evaluator: GPT-4-based evaluator to identify failures and quantify severity (0-3 scale).</a:t>
            </a:r>
          </a:p>
          <a:p>
            <a:pPr>
              <a:spcBef>
                <a:spcPts val="400"/>
              </a:spcBef>
              <a:defRPr sz="1000">
                <a:solidFill>
                  <a:srgbClr val="334155"/>
                </a:solidFill>
              </a:defRPr>
            </a:pPr>
            <a:r>
              <a:t>• Dataset: 36 high-stakes toolkits across 18 categories with 144 test cases covering 9 risk categories.</a:t>
            </a:r>
          </a:p>
          <a:p>
            <a:pPr>
              <a:spcBef>
                <a:spcPts val="400"/>
              </a:spcBef>
              <a:defRPr sz="1000">
                <a:solidFill>
                  <a:srgbClr val="334155"/>
                </a:solidFill>
              </a:defRPr>
            </a:pPr>
            <a:r>
              <a:t>• Evaluated Agents: GPT-4, Claude-2, ChatGPT-3.5, Vicuna-1.5 (13B/7B).</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Human Validation: 68.8% of identified failures were confirmed as valid real-world agent failures.</a:t>
            </a:r>
          </a:p>
          <a:p>
            <a:pPr>
              <a:spcBef>
                <a:spcPts val="400"/>
              </a:spcBef>
              <a:defRPr sz="1000">
                <a:solidFill>
                  <a:srgbClr val="334155"/>
                </a:solidFill>
              </a:defRPr>
            </a:pPr>
            <a:r>
              <a:t>▶ Evaluator Reliability: Achieved 75.3% precision and 73.1% recall (Cohen's κ &gt; 0.45, matching human agreement).</a:t>
            </a:r>
          </a:p>
          <a:p>
            <a:pPr>
              <a:spcBef>
                <a:spcPts val="400"/>
              </a:spcBef>
              <a:defRPr sz="1000">
                <a:solidFill>
                  <a:srgbClr val="334155"/>
                </a:solidFill>
              </a:defRPr>
            </a:pPr>
            <a:r>
              <a:t>▶ Failure Incidence: Standard GPT-4 failed 39.4% of cases; Claude-2: 44.3%; ChatGPT-3.5: 62.0%; Vicuna-13B: 54.6%.</a:t>
            </a:r>
          </a:p>
          <a:p>
            <a:pPr>
              <a:spcBef>
                <a:spcPts val="1200"/>
              </a:spcBef>
              <a:defRPr sz="1100" b="1">
                <a:solidFill>
                  <a:srgbClr val="059669"/>
                </a:solidFill>
              </a:defRPr>
            </a:pPr>
            <a:r>
              <a:t>DEFENSE TAKEAWAY &amp; INSIGHT</a:t>
            </a:r>
          </a:p>
          <a:p>
            <a:pPr>
              <a:spcBef>
                <a:spcPts val="400"/>
              </a:spcBef>
              <a:defRPr sz="1000">
                <a:solidFill>
                  <a:srgbClr val="334155"/>
                </a:solidFill>
              </a:defRPr>
            </a:pPr>
            <a:r>
              <a:t>Adding explicit safety requirements into system prompts boosts safety scores and reduces GPT-4 failure rate from 39.4% to 23.9%. However, even the safest agent still causes critical failures in nearly 1 in 4 cases.</a:t>
            </a:r>
          </a:p>
          <a:p>
            <a:pPr>
              <a:spcBef>
                <a:spcPts val="1200"/>
              </a:spcBef>
              <a:defRPr sz="1100" b="1">
                <a:solidFill>
                  <a:srgbClr val="D97706"/>
                </a:solidFill>
              </a:defRPr>
            </a:pPr>
            <a:r>
              <a:t>LIMITATIONS &amp; OPEN GAPS</a:t>
            </a:r>
          </a:p>
          <a:p>
            <a:pPr>
              <a:spcBef>
                <a:spcPts val="400"/>
              </a:spcBef>
              <a:defRPr sz="1000">
                <a:solidFill>
                  <a:srgbClr val="334155"/>
                </a:solidFill>
              </a:defRPr>
            </a:pPr>
            <a:r>
              <a:t>Test case curation relied on manual human design (LM generation produced invalid tests); the LM emulator can occasionally overlook physical constraints or hallucinate tool outcomes in complex adversarial scenarios.</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5 of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2 | FINDINGS OF ACL 2024</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InjecAgent: Benchmarking Indirect Prompt Injections in Tool-Integrated LLMs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Qiusi Zhan, Zhixiang Liang, Zifan Ying, Daniel Kang (UIUC)</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Tool-integrated agents routinely read external content (emails, webpages) where attackers can embed indirect prompt injections (IPI) to hijack tool execution without direct user interaction.</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Threat Taxonomy: Categorizes attacks into Direct Harm (file deletion, unauthorized actions) and Data Stealing (exfiltration).</a:t>
            </a:r>
          </a:p>
          <a:p>
            <a:pPr>
              <a:spcBef>
                <a:spcPts val="400"/>
              </a:spcBef>
              <a:defRPr sz="1000">
                <a:solidFill>
                  <a:srgbClr val="334155"/>
                </a:solidFill>
              </a:defRPr>
            </a:pPr>
            <a:r>
              <a:t>• Benchmark Scale: 1,054 test cases covering 17 user tools and 62 attacker tools across Base and Enhanced settings.</a:t>
            </a:r>
          </a:p>
          <a:p>
            <a:pPr>
              <a:spcBef>
                <a:spcPts val="400"/>
              </a:spcBef>
              <a:defRPr sz="1000">
                <a:solidFill>
                  <a:srgbClr val="334155"/>
                </a:solidFill>
              </a:defRPr>
            </a:pPr>
            <a:r>
              <a:t>• Settings: Base setting (pure attacker text) vs Enhanced setting (attacker text augmented with a hacking prompt).</a:t>
            </a:r>
          </a:p>
          <a:p>
            <a:pPr>
              <a:spcBef>
                <a:spcPts val="400"/>
              </a:spcBef>
              <a:defRPr sz="1000">
                <a:solidFill>
                  <a:srgbClr val="334155"/>
                </a:solidFill>
              </a:defRPr>
            </a:pPr>
            <a:r>
              <a:t>• Models Tested: 30 agents across prompted ReAct (GPT-4, Claude-2, LLaMA-2, Mistral, Qwen) and fine-tuned models.</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Prompted GPT-4: Suffered 24% ASR in Base setting, nearly doubling to 47% ASR in Enhanced setting.</a:t>
            </a:r>
          </a:p>
          <a:p>
            <a:pPr>
              <a:spcBef>
                <a:spcPts val="400"/>
              </a:spcBef>
              <a:defRPr sz="1000">
                <a:solidFill>
                  <a:srgbClr val="334155"/>
                </a:solidFill>
              </a:defRPr>
            </a:pPr>
            <a:r>
              <a:t>▶ Prompted LLaMA-2-70B: Highly susceptible, exhibiting &gt;80% ASR across both settings.</a:t>
            </a:r>
          </a:p>
          <a:p>
            <a:pPr>
              <a:spcBef>
                <a:spcPts val="400"/>
              </a:spcBef>
              <a:defRPr sz="1000">
                <a:solidFill>
                  <a:srgbClr val="334155"/>
                </a:solidFill>
              </a:defRPr>
            </a:pPr>
            <a:r>
              <a:t>▶ Fine-Tuned Function Calling: GPT-4 and GPT-3.5 had drastically lower ASRs: 3.8% and 6.6%, respectively.</a:t>
            </a:r>
          </a:p>
          <a:p>
            <a:pPr>
              <a:spcBef>
                <a:spcPts val="400"/>
              </a:spcBef>
              <a:defRPr sz="1000">
                <a:solidFill>
                  <a:srgbClr val="334155"/>
                </a:solidFill>
              </a:defRPr>
            </a:pPr>
            <a:r>
              <a:t>▶ Two-Step Exfiltration: Step 2 (transmitting extracted private data) achieved up to 100% success once extracted.</a:t>
            </a:r>
          </a:p>
          <a:p>
            <a:pPr>
              <a:spcBef>
                <a:spcPts val="1200"/>
              </a:spcBef>
              <a:defRPr sz="1100" b="1">
                <a:solidFill>
                  <a:srgbClr val="059669"/>
                </a:solidFill>
              </a:defRPr>
            </a:pPr>
            <a:r>
              <a:t>DEFENSE TAKEAWAY &amp; INSIGHT</a:t>
            </a:r>
          </a:p>
          <a:p>
            <a:pPr>
              <a:spcBef>
                <a:spcPts val="400"/>
              </a:spcBef>
              <a:defRPr sz="1000">
                <a:solidFill>
                  <a:srgbClr val="334155"/>
                </a:solidFill>
              </a:defRPr>
            </a:pPr>
            <a:r>
              <a:t>Fine-tuning for tool use (native function calling) provides substantially stronger robustness than ReAct prompting. However, once an agent extracts private data, transmission is almost impossible to stop under prompt defenses.</a:t>
            </a:r>
          </a:p>
          <a:p>
            <a:pPr>
              <a:spcBef>
                <a:spcPts val="1200"/>
              </a:spcBef>
              <a:defRPr sz="1100" b="1">
                <a:solidFill>
                  <a:srgbClr val="D97706"/>
                </a:solidFill>
              </a:defRPr>
            </a:pPr>
            <a:r>
              <a:t>LIMITATIONS &amp; OPEN GAPS</a:t>
            </a:r>
          </a:p>
          <a:p>
            <a:pPr>
              <a:spcBef>
                <a:spcPts val="400"/>
              </a:spcBef>
              <a:defRPr sz="1000">
                <a:solidFill>
                  <a:srgbClr val="334155"/>
                </a:solidFill>
              </a:defRPr>
            </a:pPr>
            <a:r>
              <a:t>Relies on a fixed hacking prompt rather than adaptive attacks; external content only contained malicious instructions without realistic interspersed benign text; limited to single-turn, 2-step maximum actions.</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6 of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3 | NEURIPS 2024 (DATASETS &amp; BENCHMARKS)</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AgentDojo: A Dynamic Environment to Evaluate Prompt Injection Attacks &amp; Defenses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Edoardo Debenedetti, Jie Zhang, Mislav Balunovic, Luca Beurer-Kellner, Florian Tramèr, et al. (ETH Zurich, Invariant Labs)</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Static benchmarks fail to capture the evolving nature of prompt injection attacks and defenses. Agents need an extensible, executable benchmark with realistic databases, tasks, and adaptive attacker evaluation.</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Environment: 97 realistic agent tasks across 4 core application suites: Workspace, Banking, Slack, and Travel.</a:t>
            </a:r>
          </a:p>
          <a:p>
            <a:pPr>
              <a:spcBef>
                <a:spcPts val="400"/>
              </a:spcBef>
              <a:defRPr sz="1000">
                <a:solidFill>
                  <a:srgbClr val="334155"/>
                </a:solidFill>
              </a:defRPr>
            </a:pPr>
            <a:r>
              <a:t>• Test Suite: 629 security test cases with diverse attacker goals and untrusted tool outputs.</a:t>
            </a:r>
          </a:p>
          <a:p>
            <a:pPr>
              <a:spcBef>
                <a:spcPts val="400"/>
              </a:spcBef>
              <a:defRPr sz="1000">
                <a:solidFill>
                  <a:srgbClr val="334155"/>
                </a:solidFill>
              </a:defRPr>
            </a:pPr>
            <a:r>
              <a:t>• Evaluated Backbones: 10 models including GPT-4o, GPT-4 Turbo, GPT-3.5 Turbo, Claude 3/3.5, Gemini 1.5, Llama 3 70B.</a:t>
            </a:r>
          </a:p>
          <a:p>
            <a:pPr>
              <a:spcBef>
                <a:spcPts val="400"/>
              </a:spcBef>
              <a:defRPr sz="1000">
                <a:solidFill>
                  <a:srgbClr val="334155"/>
                </a:solidFill>
              </a:defRPr>
            </a:pPr>
            <a:r>
              <a:t>• Defenses Tested: Delimiting, Prompt Injection (PI) Detectors, Repeat Prompting, and Tool Filtering/Isolation.</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Targeted ASR: GPT-4o was most vulnerable at 47.69%, Claude 3.5 Sonnet at 33.86%, GPT-4 Turbo at 28.62%, Gemini 1.5 Pro at 25.60%.</a:t>
            </a:r>
          </a:p>
          <a:p>
            <a:pPr>
              <a:spcBef>
                <a:spcPts val="400"/>
              </a:spcBef>
              <a:defRPr sz="1000">
                <a:solidFill>
                  <a:srgbClr val="334155"/>
                </a:solidFill>
              </a:defRPr>
            </a:pPr>
            <a:r>
              <a:t>▶ Untargeted Attacks: Injections successfully derailed models from original tasks in up to 68.36% of cases.</a:t>
            </a:r>
          </a:p>
          <a:p>
            <a:pPr>
              <a:spcBef>
                <a:spcPts val="400"/>
              </a:spcBef>
              <a:defRPr sz="1000">
                <a:solidFill>
                  <a:srgbClr val="334155"/>
                </a:solidFill>
              </a:defRPr>
            </a:pPr>
            <a:r>
              <a:t>▶ Defense Tradeoffs (GPT-4o): Delimiting (41.65% ASR); Repeat Prompt (27.82% ASR); PI Detector (7.95% ASR, but benign utility crashed from 69.0% to 41.49%).</a:t>
            </a:r>
          </a:p>
          <a:p>
            <a:pPr>
              <a:spcBef>
                <a:spcPts val="1200"/>
              </a:spcBef>
              <a:defRPr sz="1100" b="1">
                <a:solidFill>
                  <a:srgbClr val="059669"/>
                </a:solidFill>
              </a:defRPr>
            </a:pPr>
            <a:r>
              <a:t>DEFENSE TAKEAWAY &amp; INSIGHT</a:t>
            </a:r>
          </a:p>
          <a:p>
            <a:pPr>
              <a:spcBef>
                <a:spcPts val="400"/>
              </a:spcBef>
              <a:defRPr sz="1000">
                <a:solidFill>
                  <a:srgbClr val="334155"/>
                </a:solidFill>
              </a:defRPr>
            </a:pPr>
            <a:r>
              <a:t>Auxiliary PI detectors cause unacceptable benign false positives (severe utility drop). Tool Filtering / Least-Privilege Isolation was the most effective defense (lowered ASR to 6.84% while maintaining 73.13% utility) when tasks only require read access.</a:t>
            </a:r>
          </a:p>
          <a:p>
            <a:pPr>
              <a:spcBef>
                <a:spcPts val="1200"/>
              </a:spcBef>
              <a:defRPr sz="1100" b="1">
                <a:solidFill>
                  <a:srgbClr val="D97706"/>
                </a:solidFill>
              </a:defRPr>
            </a:pPr>
            <a:r>
              <a:t>LIMITATIONS &amp; OPEN GAPS</a:t>
            </a:r>
          </a:p>
          <a:p>
            <a:pPr>
              <a:spcBef>
                <a:spcPts val="400"/>
              </a:spcBef>
              <a:defRPr sz="1000">
                <a:solidFill>
                  <a:srgbClr val="334155"/>
                </a:solidFill>
              </a:defRPr>
            </a:pPr>
            <a:r>
              <a:t>Limited to text-based tool interactions (no visual/GUI agents); attacks are largely heuristic; simulated in-memory Python mock environments rather than live real-world external services.</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7 of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4 | ICLR 2025</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Agent Security Bench (ASB): Formalizing Attacks &amp; Defenses in LLM Agents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Hanrong Zhang, Jingyuan Huang, Kai Mei, Hongwei Wang, Yongfeng Zhang, et al. (Zhejiang, Rutgers)</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Existing benchmarks evaluate isolated attacks (mostly IPI) without a formal framework covering the entire operational lifecycle of LLM agents, including system prompts, tool selection, and memory retrieval.</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Full Lifecycle Formalization: Formalizes attacks across 4 stages: System Prompt, User Prompt, Tool Use, Memory Retrieval.</a:t>
            </a:r>
          </a:p>
          <a:p>
            <a:pPr>
              <a:spcBef>
                <a:spcPts val="400"/>
              </a:spcBef>
              <a:defRPr sz="1000">
                <a:solidFill>
                  <a:srgbClr val="334155"/>
                </a:solidFill>
              </a:defRPr>
            </a:pPr>
            <a:r>
              <a:t>• New Threat Vectors: Direct Prompt Injection (DPI), IPI, Memory Poisoning, and novel Plan-of-Thought (PoT) Backdoors.</a:t>
            </a:r>
          </a:p>
          <a:p>
            <a:pPr>
              <a:spcBef>
                <a:spcPts val="400"/>
              </a:spcBef>
              <a:defRPr sz="1000">
                <a:solidFill>
                  <a:srgbClr val="334155"/>
                </a:solidFill>
              </a:defRPr>
            </a:pPr>
            <a:r>
              <a:t>• Scale: 10 domain scenarios (finance, driving, e-commerce, healthcare), 10 agents, 400+ tools, 27 attack/defense methods.</a:t>
            </a:r>
          </a:p>
          <a:p>
            <a:pPr>
              <a:spcBef>
                <a:spcPts val="400"/>
              </a:spcBef>
              <a:defRPr sz="1000">
                <a:solidFill>
                  <a:srgbClr val="334155"/>
                </a:solidFill>
              </a:defRPr>
            </a:pPr>
            <a:r>
              <a:t>• 13 LLM Backbones: Claude-3.5 Sonnet, GPT-4o, GPT-4o-mini, LLaMA-3 (8B/70B), LLaMA-3.1, Gemma-2, Qwen-2.</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Lifecycle Vulnerability: Peak average ASR across all models reached 84.30% for PoT Backdoors and 72.68% for DPI.</a:t>
            </a:r>
          </a:p>
          <a:p>
            <a:pPr>
              <a:spcBef>
                <a:spcPts val="400"/>
              </a:spcBef>
              <a:defRPr sz="1000">
                <a:solidFill>
                  <a:srgbClr val="334155"/>
                </a:solidFill>
              </a:defRPr>
            </a:pPr>
            <a:r>
              <a:t>▶ Frontier Model Vulnerability: GPT-4o had 64.41% average ASR; Claude-3.5 Sonnet had 56.44% ASR (despite 100% PNA).</a:t>
            </a:r>
          </a:p>
          <a:p>
            <a:pPr>
              <a:spcBef>
                <a:spcPts val="400"/>
              </a:spcBef>
              <a:defRPr sz="1000">
                <a:solidFill>
                  <a:srgbClr val="334155"/>
                </a:solidFill>
              </a:defRPr>
            </a:pPr>
            <a:r>
              <a:t>▶ Disconnect Between LLM Quality &amp; Security: Standalone model leaderboard scores do not correlate with robustness.</a:t>
            </a:r>
          </a:p>
          <a:p>
            <a:pPr>
              <a:spcBef>
                <a:spcPts val="400"/>
              </a:spcBef>
              <a:defRPr sz="1000">
                <a:solidFill>
                  <a:srgbClr val="334155"/>
                </a:solidFill>
              </a:defRPr>
            </a:pPr>
            <a:r>
              <a:t>▶ Ineffective Defenses: Paraphrasing (56.87% ASR) and Dynamic Prompt Rewriting (44.45% ASR) left models wide open.</a:t>
            </a:r>
          </a:p>
          <a:p>
            <a:pPr>
              <a:spcBef>
                <a:spcPts val="1200"/>
              </a:spcBef>
              <a:defRPr sz="1100" b="1">
                <a:solidFill>
                  <a:srgbClr val="059669"/>
                </a:solidFill>
              </a:defRPr>
            </a:pPr>
            <a:r>
              <a:t>DEFENSE TAKEAWAY &amp; INSIGHT</a:t>
            </a:r>
          </a:p>
          <a:p>
            <a:pPr>
              <a:spcBef>
                <a:spcPts val="400"/>
              </a:spcBef>
              <a:defRPr sz="1000">
                <a:solidFill>
                  <a:srgbClr val="334155"/>
                </a:solidFill>
              </a:defRPr>
            </a:pPr>
            <a:r>
              <a:t>More capable models are frequently more susceptible to multi-step attacks because their superior instruction-following makes them obey adversarial payloads more reliably. Prevention-based prompt defenses incur heavy utility penalties.</a:t>
            </a:r>
          </a:p>
          <a:p>
            <a:pPr>
              <a:spcBef>
                <a:spcPts val="1200"/>
              </a:spcBef>
              <a:defRPr sz="1100" b="1">
                <a:solidFill>
                  <a:srgbClr val="D97706"/>
                </a:solidFill>
              </a:defRPr>
            </a:pPr>
            <a:r>
              <a:t>LIMITATIONS &amp; OPEN GAPS</a:t>
            </a:r>
          </a:p>
          <a:p>
            <a:pPr>
              <a:spcBef>
                <a:spcPts val="400"/>
              </a:spcBef>
              <a:defRPr sz="1000">
                <a:solidFill>
                  <a:srgbClr val="334155"/>
                </a:solidFill>
              </a:defRPr>
            </a:pPr>
            <a:r>
              <a:t>Evaluated defenses were primarily single-turn prompt rewriting/filtering; simulated benchmark environments without dynamic network interactions; memory poisoning tested primarily on fixed RAG mock databases.</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8 of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5 | ARXIV 2025</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WASP: Benchmarking Web Agent Security Against Prompt Injection Attacks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Ivan Evtimov, Arman Zharmagambetov, Chuan Guo, Aaron Grattafiori, Kamalika Chaudhuri (Meta FAIR)</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Existing agent tests over-simplify threat models by using synthetic toys or giving attackers full environment control. There is no end-to-end benchmark testing autonomous web agents on live, multi-step web applications.</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Self-Hosted Live Platforms: Tested on fully operational, self-hosted web platforms: GitLab and Reddit.</a:t>
            </a:r>
          </a:p>
          <a:p>
            <a:pPr>
              <a:spcBef>
                <a:spcPts val="400"/>
              </a:spcBef>
              <a:defRPr sz="1000">
                <a:solidFill>
                  <a:srgbClr val="334155"/>
                </a:solidFill>
              </a:defRPr>
            </a:pPr>
            <a:r>
              <a:t>• Real Attacker Objectives: High-consequence goals: password changes, account takeover, repo deletion, malicious posting.</a:t>
            </a:r>
          </a:p>
          <a:p>
            <a:pPr>
              <a:spcBef>
                <a:spcPts val="400"/>
              </a:spcBef>
              <a:defRPr sz="1000">
                <a:solidFill>
                  <a:srgbClr val="334155"/>
                </a:solidFill>
              </a:defRPr>
            </a:pPr>
            <a:r>
              <a:t>• Two Evaluation Dimensions: Intermediate Attack Success (ASR-interm) vs End-to-End Goal Completion (ASR-e2e).</a:t>
            </a:r>
          </a:p>
          <a:p>
            <a:pPr>
              <a:spcBef>
                <a:spcPts val="400"/>
              </a:spcBef>
              <a:defRPr sz="1000">
                <a:solidFill>
                  <a:srgbClr val="334155"/>
                </a:solidFill>
              </a:defRPr>
            </a:pPr>
            <a:r>
              <a:t>• Agents Evaluated: GPT-4o, GPT-4o-mini, OpenAI o1, Claude Sonnet 3.5 v2, Claude Sonnet 3.7 Extended Thinking.</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Intermediate ASR: Simple human-written injections derailed agents in up to 85.7% (o1), 58.3% (Claude 3.5), and 42.9% (GPT-4o).</a:t>
            </a:r>
          </a:p>
          <a:p>
            <a:pPr>
              <a:spcBef>
                <a:spcPts val="400"/>
              </a:spcBef>
              <a:defRPr sz="1000">
                <a:solidFill>
                  <a:srgbClr val="334155"/>
                </a:solidFill>
              </a:defRPr>
            </a:pPr>
            <a:r>
              <a:t>▶ End-to-End ASR: Much lower completion rates: 16.7% for OpenAI o1, 2.4%–6.0% for Claude 3.5, and 0.0%–3.6% for GPT-4o.</a:t>
            </a:r>
          </a:p>
          <a:p>
            <a:pPr>
              <a:spcBef>
                <a:spcPts val="400"/>
              </a:spcBef>
              <a:defRPr sz="1000">
                <a:solidFill>
                  <a:srgbClr val="334155"/>
                </a:solidFill>
              </a:defRPr>
            </a:pPr>
            <a:r>
              <a:t>▶ Reasoning Models: OpenAI o1 was hijacked in 85.7% of cases and achieved the highest end-to-end completion rate (16.7%).</a:t>
            </a:r>
          </a:p>
          <a:p>
            <a:pPr>
              <a:spcBef>
                <a:spcPts val="400"/>
              </a:spcBef>
              <a:defRPr sz="1000">
                <a:solidFill>
                  <a:srgbClr val="334155"/>
                </a:solidFill>
              </a:defRPr>
            </a:pPr>
            <a:r>
              <a:t>▶ Instruction Hierarchy: OpenAI's instruction hierarchy defense reduced ASR-e2e to 0% on GPT-4o-mini, but utility fell to 27%.</a:t>
            </a:r>
          </a:p>
          <a:p>
            <a:pPr>
              <a:spcBef>
                <a:spcPts val="1200"/>
              </a:spcBef>
              <a:defRPr sz="1100" b="1">
                <a:solidFill>
                  <a:srgbClr val="059669"/>
                </a:solidFill>
              </a:defRPr>
            </a:pPr>
            <a:r>
              <a:t>DEFENSE TAKEAWAY &amp; INSIGHT</a:t>
            </a:r>
          </a:p>
          <a:p>
            <a:pPr>
              <a:spcBef>
                <a:spcPts val="400"/>
              </a:spcBef>
              <a:defRPr sz="1000">
                <a:solidFill>
                  <a:srgbClr val="334155"/>
                </a:solidFill>
              </a:defRPr>
            </a:pPr>
            <a:r>
              <a:t>Reveals the 'Security by Incompetence' paradox: agents are easily hijacked away from benign tasks, but current models fail at complex multi-step web navigation. As autonomous reasoning improves, this accidental protection will vanish.</a:t>
            </a:r>
          </a:p>
          <a:p>
            <a:pPr>
              <a:spcBef>
                <a:spcPts val="1200"/>
              </a:spcBef>
              <a:defRPr sz="1100" b="1">
                <a:solidFill>
                  <a:srgbClr val="D97706"/>
                </a:solidFill>
              </a:defRPr>
            </a:pPr>
            <a:r>
              <a:t>LIMITATIONS &amp; OPEN GAPS</a:t>
            </a:r>
          </a:p>
          <a:p>
            <a:pPr>
              <a:spcBef>
                <a:spcPts val="400"/>
              </a:spcBef>
              <a:defRPr sz="1000">
                <a:solidFill>
                  <a:srgbClr val="334155"/>
                </a:solidFill>
              </a:defRPr>
            </a:pPr>
            <a:r>
              <a:t>Currently supports only two web platforms (GitLab and Reddit); lacks other critical verticals (travel booking, online banking); small attack prompt diversity; does not cover desktop OS automation.</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9 of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6 | ARXIV 2026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SEAgent: Taming Privilege Escalation in LLM Agents via Mandatory Access Control</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Zimo Ji, Daoyuan Wu, Wenyuan Jiang, Pingchuan Ma, Shuai Wang, Yingjiu Li (HKUST, Lingnan, ETH Zurich)</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Over-privileged tool use creates critical privilege escalation vulnerabilities—especially in Multi-Agent Systems (MAS)—including the classic Confused Deputy problem where low-privilege agents hijack trusted ones.</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Formal Model &amp; Threat Vectors: Vertical/horizontal escalation, Confused Deputy, untrusted 3rd-party agents, RAG poisoning.</a:t>
            </a:r>
          </a:p>
          <a:p>
            <a:pPr>
              <a:spcBef>
                <a:spcPts val="400"/>
              </a:spcBef>
              <a:defRPr sz="1000">
                <a:solidFill>
                  <a:srgbClr val="334155"/>
                </a:solidFill>
              </a:defRPr>
            </a:pPr>
            <a:r>
              <a:t>• SEAgent Framework: SELinux-inspired Mandatory Access Control (MAC) using a System View execution graph and SEMemory.</a:t>
            </a:r>
          </a:p>
          <a:p>
            <a:pPr>
              <a:spcBef>
                <a:spcPts val="400"/>
              </a:spcBef>
              <a:defRPr sz="1000">
                <a:solidFill>
                  <a:srgbClr val="334155"/>
                </a:solidFill>
              </a:defRPr>
            </a:pPr>
            <a:r>
              <a:t>• Hybrid Security Labeling: Combines automated LLM labeling (OpenAI o1) with human verification for Integrity/Sensitivity.</a:t>
            </a:r>
          </a:p>
          <a:p>
            <a:pPr>
              <a:spcBef>
                <a:spcPts val="400"/>
              </a:spcBef>
              <a:defRPr sz="1000">
                <a:solidFill>
                  <a:srgbClr val="334155"/>
                </a:solidFill>
              </a:defRPr>
            </a:pPr>
            <a:r>
              <a:t>• Benchmarks: Evaluated across InjecAgent, AgentDojo, API-Bank (correctness), and AWS Travel Multi-Agent benchmark.</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Zero Attack Success Rate: Achieved 0.00% ASR across all benchmarked attacks on both InjecAgent and AgentDojo.</a:t>
            </a:r>
          </a:p>
          <a:p>
            <a:pPr>
              <a:spcBef>
                <a:spcPts val="400"/>
              </a:spcBef>
              <a:defRPr sz="1000">
                <a:solidFill>
                  <a:srgbClr val="334155"/>
                </a:solidFill>
              </a:defRPr>
            </a:pPr>
            <a:r>
              <a:t>▶ Mitigated Confused Deputy: Successfully blocked untrusted agents from triggering privileged tools (e.g. smart lock).</a:t>
            </a:r>
          </a:p>
          <a:p>
            <a:pPr>
              <a:spcBef>
                <a:spcPts val="400"/>
              </a:spcBef>
              <a:defRPr sz="1000">
                <a:solidFill>
                  <a:srgbClr val="334155"/>
                </a:solidFill>
              </a:defRPr>
            </a:pPr>
            <a:r>
              <a:t>▶ Utility Preservation: Maintained 67.91%–74.73% correctness on API-Bank with near-zero false positive rate (0%–5.13%).</a:t>
            </a:r>
          </a:p>
          <a:p>
            <a:pPr>
              <a:spcBef>
                <a:spcPts val="400"/>
              </a:spcBef>
              <a:defRPr sz="1000">
                <a:solidFill>
                  <a:srgbClr val="334155"/>
                </a:solidFill>
              </a:defRPr>
            </a:pPr>
            <a:r>
              <a:t>▶ Vastly Outperformed IsolateGPT: IsolateGPT suffered up to 34% drop in task accuracy and an 18.31% false positive rate.</a:t>
            </a:r>
          </a:p>
          <a:p>
            <a:pPr>
              <a:spcBef>
                <a:spcPts val="1200"/>
              </a:spcBef>
              <a:defRPr sz="1100" b="1">
                <a:solidFill>
                  <a:srgbClr val="059669"/>
                </a:solidFill>
              </a:defRPr>
            </a:pPr>
            <a:r>
              <a:t>DEFENSE TAKEAWAY &amp; INSIGHT</a:t>
            </a:r>
          </a:p>
          <a:p>
            <a:pPr>
              <a:spcBef>
                <a:spcPts val="400"/>
              </a:spcBef>
              <a:defRPr sz="1000">
                <a:solidFill>
                  <a:srgbClr val="334155"/>
                </a:solidFill>
              </a:defRPr>
            </a:pPr>
            <a:r>
              <a:t>Deterministic, system-level Mandatory Access Control eliminates privilege escalation paths without relying on probabilistic LLM detectors or prompt guards. Context-aware execution graph tracking preserves normal agent utility.</a:t>
            </a:r>
          </a:p>
          <a:p>
            <a:pPr>
              <a:spcBef>
                <a:spcPts val="1200"/>
              </a:spcBef>
              <a:defRPr sz="1100" b="1">
                <a:solidFill>
                  <a:srgbClr val="D97706"/>
                </a:solidFill>
              </a:defRPr>
            </a:pPr>
            <a:r>
              <a:t>LIMITATIONS &amp; OPEN GAPS</a:t>
            </a:r>
          </a:p>
          <a:p>
            <a:pPr>
              <a:spcBef>
                <a:spcPts val="400"/>
              </a:spcBef>
              <a:defRPr sz="1000">
                <a:solidFill>
                  <a:srgbClr val="334155"/>
                </a:solidFill>
              </a:defRPr>
            </a:pPr>
            <a:r>
              <a:t>Requires pre-labeled security attributes (Integrity, Sensitivity, Privacy) for all tools, databases, and agents; security policies must be defined in advance in the Policy DB; dynamic emergent flows may need manual policy maintenance.</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10 of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7 | ARXIV 2026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LivePI: More Realistic Benchmarking of Agents Against Indirect Prompt Injection</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Lei Zhao, Abhay Bhaskar, Edgar Dobriban (University of Pennsylvania)</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Existing IPI evaluations are small, purely simulated, or limited to isolated channels. They fail to benchmark agent risks in production-like workflows with access to real operating systems and external APIs.</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Production VM Environment: Evaluates agents on a live Linux VM running OpenClaw with live email, chat, web, files, and crypto wallet.</a:t>
            </a:r>
          </a:p>
          <a:p>
            <a:pPr>
              <a:spcBef>
                <a:spcPts val="400"/>
              </a:spcBef>
              <a:defRPr sz="1000">
                <a:solidFill>
                  <a:srgbClr val="334155"/>
                </a:solidFill>
              </a:defRPr>
            </a:pPr>
            <a:r>
              <a:t>• 7 Input Surfaces: Group Chat (WhatsApp, Telegram, Slack), Email, Local Docs, GitHub Repos, Gist, Web.</a:t>
            </a:r>
          </a:p>
          <a:p>
            <a:pPr>
              <a:spcBef>
                <a:spcPts val="400"/>
              </a:spcBef>
              <a:defRPr sz="1000">
                <a:solidFill>
                  <a:srgbClr val="334155"/>
                </a:solidFill>
              </a:defRPr>
            </a:pPr>
            <a:r>
              <a:t>• 5 Malicious Goals: Credential exfiltration, security control alteration, unsafe code execution, inbox theft, crypto transfer.</a:t>
            </a:r>
          </a:p>
          <a:p>
            <a:pPr>
              <a:spcBef>
                <a:spcPts val="400"/>
              </a:spcBef>
              <a:defRPr sz="1000">
                <a:solidFill>
                  <a:srgbClr val="334155"/>
                </a:solidFill>
              </a:defRPr>
            </a:pPr>
            <a:r>
              <a:t>• Next-Gen LLMs: Evaluated GPT-5.3-Codex, Claude Opus 4.6, Gemini 3.1 Pro, Kimi K2.5, GLM-5.</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Total ASR Across Backbones: Gemini 3.1 Pro (29.6%), GLM-5 (27.8%), GPT-5.3-Codex (27.2%), Kimi (16.6%), Claude Opus 4.6 (10.7%).</a:t>
            </a:r>
          </a:p>
          <a:p>
            <a:pPr>
              <a:spcBef>
                <a:spcPts val="400"/>
              </a:spcBef>
              <a:defRPr sz="1000">
                <a:solidFill>
                  <a:srgbClr val="334155"/>
                </a:solidFill>
              </a:defRPr>
            </a:pPr>
            <a:r>
              <a:t>▶ Universal Group Chat Vulnerability: Group chat injections achieved 100.0% ASR across all five models.</a:t>
            </a:r>
          </a:p>
          <a:p>
            <a:pPr>
              <a:spcBef>
                <a:spcPts val="400"/>
              </a:spcBef>
              <a:defRPr sz="1000">
                <a:solidFill>
                  <a:srgbClr val="334155"/>
                </a:solidFill>
              </a:defRPr>
            </a:pPr>
            <a:r>
              <a:t>▶ Surface Disparity: Repo links produced high-severity compromise (50%–100%), while Gist was mostly ineffective (0%–20%).</a:t>
            </a:r>
          </a:p>
          <a:p>
            <a:pPr>
              <a:spcBef>
                <a:spcPts val="400"/>
              </a:spcBef>
              <a:defRPr sz="1000">
                <a:solidFill>
                  <a:srgbClr val="334155"/>
                </a:solidFill>
              </a:defRPr>
            </a:pPr>
            <a:r>
              <a:t>▶ Two-Layer Defense: Combining prompt filtering and pre-execution tool-call authorization reduced ASR to 0.0% on GPT-5.3-Codex.</a:t>
            </a:r>
          </a:p>
          <a:p>
            <a:pPr>
              <a:spcBef>
                <a:spcPts val="1200"/>
              </a:spcBef>
              <a:defRPr sz="1100" b="1">
                <a:solidFill>
                  <a:srgbClr val="059669"/>
                </a:solidFill>
              </a:defRPr>
            </a:pPr>
            <a:r>
              <a:t>DEFENSE TAKEAWAY &amp; INSIGHT</a:t>
            </a:r>
          </a:p>
          <a:p>
            <a:pPr>
              <a:spcBef>
                <a:spcPts val="400"/>
              </a:spcBef>
              <a:defRPr sz="1000">
                <a:solidFill>
                  <a:srgbClr val="334155"/>
                </a:solidFill>
              </a:defRPr>
            </a:pPr>
            <a:r>
              <a:t>Group chats represent a severe architectural flaw: group messages are ingested into model context under 'role: user', tricking the agent into treating attacker text as authoritative instructions. Pre-execution authorization stops attacks with minimal friction (0.11% block rate).</a:t>
            </a:r>
          </a:p>
          <a:p>
            <a:pPr>
              <a:spcBef>
                <a:spcPts val="1200"/>
              </a:spcBef>
              <a:defRPr sz="1100" b="1">
                <a:solidFill>
                  <a:srgbClr val="D97706"/>
                </a:solidFill>
              </a:defRPr>
            </a:pPr>
            <a:r>
              <a:t>LIMITATIONS &amp; OPEN GAPS</a:t>
            </a:r>
          </a:p>
          <a:p>
            <a:pPr>
              <a:spcBef>
                <a:spcPts val="400"/>
              </a:spcBef>
              <a:defRPr sz="1000">
                <a:solidFill>
                  <a:srgbClr val="334155"/>
                </a:solidFill>
              </a:defRPr>
            </a:pPr>
            <a:r>
              <a:t>Defended evaluation was conducted only on GPT-5.3-Codex; defense rules were targeted to known attack classes; repository-link surface had a small sample size (n = 4 cases); tested exclusively within OpenClaw runtime.</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11 of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PAPER DEEP-DIVE 8 | ARXIV 2026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VIGIL: Runtime Enforcement of Behavioral Specifications in AI Agent Skills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Authors: Ying Li, Yanju Chen, Hongbo Wen, Yu Feng, Yuan Tian, et al. (UCLA, UCSD, UCSB, Riema Labs)</a:t>
            </a:r>
          </a:p>
        </p:txBody>
      </p:sp>
      <p:sp>
        <p:nvSpPr>
          <p:cNvPr id="6" name="Rounded Rectangle 5"/>
          <p:cNvSpPr/>
          <p:nvPr/>
        </p:nvSpPr>
        <p:spPr>
          <a:xfrm>
            <a:off x="731520"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2563EB"/>
                </a:solidFill>
              </a:defRPr>
            </a:pPr>
            <a:r>
              <a:t>CORE PROBLEM &amp; MOTIVATION</a:t>
            </a:r>
          </a:p>
          <a:p>
            <a:pPr>
              <a:spcBef>
                <a:spcPts val="600"/>
              </a:spcBef>
              <a:defRPr sz="1050">
                <a:solidFill>
                  <a:srgbClr val="334155"/>
                </a:solidFill>
              </a:defRPr>
            </a:pPr>
            <a:r>
              <a:t>Third-party AI agent skills ship natural-language behavioral contracts (permissions, disclosure limits, preconditions). However, existing runtime monitors use single-call filters that cannot enforce policies spanning multi-action execution traces.</a:t>
            </a:r>
          </a:p>
          <a:p>
            <a:pPr>
              <a:spcBef>
                <a:spcPts val="1400"/>
              </a:spcBef>
              <a:defRPr sz="1100" b="1">
                <a:solidFill>
                  <a:srgbClr val="0F172A"/>
                </a:solidFill>
              </a:defRPr>
            </a:pPr>
            <a:r>
              <a:t>BENCHMARK &amp; EXPERIMENTAL SETUP</a:t>
            </a:r>
          </a:p>
          <a:p>
            <a:pPr>
              <a:spcBef>
                <a:spcPts val="400"/>
              </a:spcBef>
              <a:defRPr sz="1000">
                <a:solidFill>
                  <a:srgbClr val="334155"/>
                </a:solidFill>
              </a:defRPr>
            </a:pPr>
            <a:r>
              <a:t>• Trace-Grounded SMT Monitoring: Compiles natural-language skill specifications into formal SMT constraints over finite traces.</a:t>
            </a:r>
          </a:p>
          <a:p>
            <a:pPr>
              <a:spcBef>
                <a:spcPts val="400"/>
              </a:spcBef>
              <a:defRPr sz="1000">
                <a:solidFill>
                  <a:srgbClr val="334155"/>
                </a:solidFill>
              </a:defRPr>
            </a:pPr>
            <a:r>
              <a:t>• Contextual Granularity: Tracks temporal ordering, argument constraints, and cross-call value flows rather than isolated calls.</a:t>
            </a:r>
          </a:p>
          <a:p>
            <a:pPr>
              <a:spcBef>
                <a:spcPts val="400"/>
              </a:spcBef>
              <a:defRPr sz="1000">
                <a:solidFill>
                  <a:srgbClr val="334155"/>
                </a:solidFill>
              </a:defRPr>
            </a:pPr>
            <a:r>
              <a:t>• Evaluation Benchmark: SB+SI (152 labeled real executions from SkillsBench &amp; Skill-Inject: 72 violating, 80 benign).</a:t>
            </a:r>
          </a:p>
          <a:p>
            <a:pPr>
              <a:spcBef>
                <a:spcPts val="400"/>
              </a:spcBef>
              <a:defRPr sz="1000">
                <a:solidFill>
                  <a:srgbClr val="334155"/>
                </a:solidFill>
              </a:defRPr>
            </a:pPr>
            <a:r>
              <a:t>• Real-World Audit: Audited 216 executions of shipped skill bundles from NVIDIA, Databricks, Cloudflare, and Trail of Bits.</a:t>
            </a:r>
          </a:p>
        </p:txBody>
      </p:sp>
      <p:sp>
        <p:nvSpPr>
          <p:cNvPr id="7" name="Rounded Rectangle 6"/>
          <p:cNvSpPr/>
          <p:nvPr/>
        </p:nvSpPr>
        <p:spPr>
          <a:xfrm>
            <a:off x="6291072" y="1600200"/>
            <a:ext cx="516636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100" b="1">
                <a:solidFill>
                  <a:srgbClr val="DC2626"/>
                </a:solidFill>
              </a:defRPr>
            </a:pPr>
            <a:r>
              <a:t>EMPIRICAL PERFORMANCE &amp; FINDINGS</a:t>
            </a:r>
          </a:p>
          <a:p>
            <a:pPr>
              <a:spcBef>
                <a:spcPts val="400"/>
              </a:spcBef>
              <a:defRPr sz="1000">
                <a:solidFill>
                  <a:srgbClr val="334155"/>
                </a:solidFill>
              </a:defRPr>
            </a:pPr>
            <a:r>
              <a:t>▶ High Precision &amp; Recall: On SB+SI, VIGIL achieved 95.8% recall, 89.6% precision, and 92.6% F1 (69/72 violations detected, only 8 FPs).</a:t>
            </a:r>
          </a:p>
          <a:p>
            <a:pPr>
              <a:spcBef>
                <a:spcPts val="400"/>
              </a:spcBef>
              <a:defRPr sz="1000">
                <a:solidFill>
                  <a:srgbClr val="334155"/>
                </a:solidFill>
              </a:defRPr>
            </a:pPr>
            <a:r>
              <a:t>▶ Superiority Over Single-Call Guards: AgentSpec (57.6% F1) and Progent (50.3% F1) missed ~50% of violations.</a:t>
            </a:r>
          </a:p>
          <a:p>
            <a:pPr>
              <a:spcBef>
                <a:spcPts val="400"/>
              </a:spcBef>
              <a:defRPr sz="1000">
                <a:solidFill>
                  <a:srgbClr val="334155"/>
                </a:solidFill>
              </a:defRPr>
            </a:pPr>
            <a:r>
              <a:t>▶ Outperformed LLM-as-Judge: claude-opus-4-6 judge achieved only 76.8% F1 and missed 24 temporal violations.</a:t>
            </a:r>
          </a:p>
          <a:p>
            <a:pPr>
              <a:spcBef>
                <a:spcPts val="400"/>
              </a:spcBef>
              <a:defRPr sz="1000">
                <a:solidFill>
                  <a:srgbClr val="334155"/>
                </a:solidFill>
              </a:defRPr>
            </a:pPr>
            <a:r>
              <a:t>▶ Real-World Impact: Discovered 34 confirmed policy violations across deployed skills (one officially acknowledged by NVIDIA).</a:t>
            </a:r>
          </a:p>
          <a:p>
            <a:pPr>
              <a:spcBef>
                <a:spcPts val="1200"/>
              </a:spcBef>
              <a:defRPr sz="1100" b="1">
                <a:solidFill>
                  <a:srgbClr val="059669"/>
                </a:solidFill>
              </a:defRPr>
            </a:pPr>
            <a:r>
              <a:t>DEFENSE TAKEAWAY &amp; INSIGHT</a:t>
            </a:r>
          </a:p>
          <a:p>
            <a:pPr>
              <a:spcBef>
                <a:spcPts val="400"/>
              </a:spcBef>
              <a:defRPr sz="1000">
                <a:solidFill>
                  <a:srgbClr val="334155"/>
                </a:solidFill>
              </a:defRPr>
            </a:pPr>
            <a:r>
              <a:t>Single-call action boundary defenses fundamentally fail because attack violations manifest across historical preconditions and cross-call data flow. Formal SMT trace checking provides deterministic enforcement with sub-200ms overhead.</a:t>
            </a:r>
          </a:p>
          <a:p>
            <a:pPr>
              <a:spcBef>
                <a:spcPts val="1200"/>
              </a:spcBef>
              <a:defRPr sz="1100" b="1">
                <a:solidFill>
                  <a:srgbClr val="D97706"/>
                </a:solidFill>
              </a:defRPr>
            </a:pPr>
            <a:r>
              <a:t>LIMITATIONS &amp; OPEN GAPS</a:t>
            </a:r>
          </a:p>
          <a:p>
            <a:pPr>
              <a:spcBef>
                <a:spcPts val="400"/>
              </a:spcBef>
              <a:defRPr sz="1000">
                <a:solidFill>
                  <a:srgbClr val="334155"/>
                </a:solidFill>
              </a:defRPr>
            </a:pPr>
            <a:r>
              <a:t>Requires compiling natural language skill specifications into formal policy representations; subjective semantic properties (e.g. text tone) require external oracle predicates; monitor introduces solver latency for very long execution histories.</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12 of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CROSS-PAPER SYNTHESIS</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Master Benchmark &amp; Architectural Comparison Matrix</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Comprehensive comparison across threat vectors, evaluation fidelity, top models evaluated, peak ASR, and optimal defenses</a:t>
            </a:r>
          </a:p>
        </p:txBody>
      </p:sp>
      <p:graphicFrame>
        <p:nvGraphicFramePr>
          <p:cNvPr id="6" name="Table 5"/>
          <p:cNvGraphicFramePr>
            <a:graphicFrameLocks noGrp="1"/>
          </p:cNvGraphicFramePr>
          <p:nvPr/>
        </p:nvGraphicFramePr>
        <p:xfrm>
          <a:off x="731520" y="1600200"/>
          <a:ext cx="10728655" cy="4480560"/>
        </p:xfrm>
        <a:graphic>
          <a:graphicData uri="http://schemas.openxmlformats.org/drawingml/2006/table">
            <a:tbl>
              <a:tblPr firstRow="1" bandRow="1">
                <a:tableStyleId>{5C22544A-7EE6-4342-B048-85BDC9FD1C3A}</a:tableStyleId>
              </a:tblPr>
              <a:tblGrid>
                <a:gridCol w="1645920"/>
                <a:gridCol w="1005840"/>
                <a:gridCol w="1645920"/>
                <a:gridCol w="1463040"/>
                <a:gridCol w="1828800"/>
                <a:gridCol w="1280160"/>
                <a:gridCol w="1858975"/>
              </a:tblGrid>
              <a:tr h="497840">
                <a:tc>
                  <a:txBody>
                    <a:bodyPr/>
                    <a:lstStyle/>
                    <a:p>
                      <a:pPr algn="ctr">
                        <a:defRPr sz="950" b="1">
                          <a:solidFill>
                            <a:srgbClr val="FFFFFF"/>
                          </a:solidFill>
                        </a:defRPr>
                      </a:pPr>
                      <a:r>
                        <a:t>Benchmark / Paper</a:t>
                      </a:r>
                    </a:p>
                  </a:txBody>
                  <a:tcPr>
                    <a:solidFill>
                      <a:srgbClr val="0A1128"/>
                    </a:solidFill>
                  </a:tcPr>
                </a:tc>
                <a:tc>
                  <a:txBody>
                    <a:bodyPr/>
                    <a:lstStyle/>
                    <a:p>
                      <a:pPr algn="ctr">
                        <a:defRPr sz="950" b="1">
                          <a:solidFill>
                            <a:srgbClr val="FFFFFF"/>
                          </a:solidFill>
                        </a:defRPr>
                      </a:pPr>
                      <a:r>
                        <a:t>Venue/Year</a:t>
                      </a:r>
                    </a:p>
                  </a:txBody>
                  <a:tcPr>
                    <a:solidFill>
                      <a:srgbClr val="0A1128"/>
                    </a:solidFill>
                  </a:tcPr>
                </a:tc>
                <a:tc>
                  <a:txBody>
                    <a:bodyPr/>
                    <a:lstStyle/>
                    <a:p>
                      <a:pPr algn="ctr">
                        <a:defRPr sz="950" b="1">
                          <a:solidFill>
                            <a:srgbClr val="FFFFFF"/>
                          </a:solidFill>
                        </a:defRPr>
                      </a:pPr>
                      <a:r>
                        <a:t>Primary Threat Vectors</a:t>
                      </a:r>
                    </a:p>
                  </a:txBody>
                  <a:tcPr>
                    <a:solidFill>
                      <a:srgbClr val="0A1128"/>
                    </a:solidFill>
                  </a:tcPr>
                </a:tc>
                <a:tc>
                  <a:txBody>
                    <a:bodyPr/>
                    <a:lstStyle/>
                    <a:p>
                      <a:pPr algn="ctr">
                        <a:defRPr sz="950" b="1">
                          <a:solidFill>
                            <a:srgbClr val="FFFFFF"/>
                          </a:solidFill>
                        </a:defRPr>
                      </a:pPr>
                      <a:r>
                        <a:t>Eval Fidelity</a:t>
                      </a:r>
                    </a:p>
                  </a:txBody>
                  <a:tcPr>
                    <a:solidFill>
                      <a:srgbClr val="0A1128"/>
                    </a:solidFill>
                  </a:tcPr>
                </a:tc>
                <a:tc>
                  <a:txBody>
                    <a:bodyPr/>
                    <a:lstStyle/>
                    <a:p>
                      <a:pPr algn="ctr">
                        <a:defRPr sz="950" b="1">
                          <a:solidFill>
                            <a:srgbClr val="FFFFFF"/>
                          </a:solidFill>
                        </a:defRPr>
                      </a:pPr>
                      <a:r>
                        <a:t>Key Models Evaluated</a:t>
                      </a:r>
                    </a:p>
                  </a:txBody>
                  <a:tcPr>
                    <a:solidFill>
                      <a:srgbClr val="0A1128"/>
                    </a:solidFill>
                  </a:tcPr>
                </a:tc>
                <a:tc>
                  <a:txBody>
                    <a:bodyPr/>
                    <a:lstStyle/>
                    <a:p>
                      <a:pPr algn="ctr">
                        <a:defRPr sz="950" b="1">
                          <a:solidFill>
                            <a:srgbClr val="FFFFFF"/>
                          </a:solidFill>
                        </a:defRPr>
                      </a:pPr>
                      <a:r>
                        <a:t>Peak ASR</a:t>
                      </a:r>
                    </a:p>
                  </a:txBody>
                  <a:tcPr>
                    <a:solidFill>
                      <a:srgbClr val="0A1128"/>
                    </a:solidFill>
                  </a:tcPr>
                </a:tc>
                <a:tc>
                  <a:txBody>
                    <a:bodyPr/>
                    <a:lstStyle/>
                    <a:p>
                      <a:pPr algn="ctr">
                        <a:defRPr sz="950" b="1">
                          <a:solidFill>
                            <a:srgbClr val="FFFFFF"/>
                          </a:solidFill>
                        </a:defRPr>
                      </a:pPr>
                      <a:r>
                        <a:t>Best Defense Paradigm</a:t>
                      </a:r>
                    </a:p>
                  </a:txBody>
                  <a:tcPr>
                    <a:solidFill>
                      <a:srgbClr val="0A1128"/>
                    </a:solidFill>
                  </a:tcPr>
                </a:tc>
              </a:tr>
              <a:tr h="497840">
                <a:tc>
                  <a:txBody>
                    <a:bodyPr/>
                    <a:lstStyle/>
                    <a:p>
                      <a:pPr>
                        <a:defRPr sz="850" b="1">
                          <a:solidFill>
                            <a:srgbClr val="0F172A"/>
                          </a:solidFill>
                        </a:defRPr>
                      </a:pPr>
                      <a:r>
                        <a:t>ToolEmu</a:t>
                      </a:r>
                    </a:p>
                  </a:txBody>
                  <a:tcPr>
                    <a:solidFill>
                      <a:srgbClr val="FFFFFF"/>
                    </a:solidFill>
                  </a:tcPr>
                </a:tc>
                <a:tc>
                  <a:txBody>
                    <a:bodyPr/>
                    <a:lstStyle/>
                    <a:p>
                      <a:pPr>
                        <a:defRPr sz="850">
                          <a:solidFill>
                            <a:srgbClr val="0F172A"/>
                          </a:solidFill>
                        </a:defRPr>
                      </a:pPr>
                      <a:r>
                        <a:t>ICLR '24</a:t>
                      </a:r>
                    </a:p>
                  </a:txBody>
                  <a:tcPr>
                    <a:solidFill>
                      <a:srgbClr val="FFFFFF"/>
                    </a:solidFill>
                  </a:tcPr>
                </a:tc>
                <a:tc>
                  <a:txBody>
                    <a:bodyPr/>
                    <a:lstStyle/>
                    <a:p>
                      <a:pPr>
                        <a:defRPr sz="850">
                          <a:solidFill>
                            <a:srgbClr val="0F172A"/>
                          </a:solidFill>
                        </a:defRPr>
                      </a:pPr>
                      <a:r>
                        <a:t>High-Stakes Tool Failures</a:t>
                      </a:r>
                    </a:p>
                  </a:txBody>
                  <a:tcPr>
                    <a:solidFill>
                      <a:srgbClr val="FFFFFF"/>
                    </a:solidFill>
                  </a:tcPr>
                </a:tc>
                <a:tc>
                  <a:txBody>
                    <a:bodyPr/>
                    <a:lstStyle/>
                    <a:p>
                      <a:pPr>
                        <a:defRPr sz="850">
                          <a:solidFill>
                            <a:srgbClr val="0F172A"/>
                          </a:solidFill>
                        </a:defRPr>
                      </a:pPr>
                      <a:r>
                        <a:t>LM Emulated Sandbox</a:t>
                      </a:r>
                    </a:p>
                  </a:txBody>
                  <a:tcPr>
                    <a:solidFill>
                      <a:srgbClr val="FFFFFF"/>
                    </a:solidFill>
                  </a:tcPr>
                </a:tc>
                <a:tc>
                  <a:txBody>
                    <a:bodyPr/>
                    <a:lstStyle/>
                    <a:p>
                      <a:pPr>
                        <a:defRPr sz="850">
                          <a:solidFill>
                            <a:srgbClr val="0F172A"/>
                          </a:solidFill>
                        </a:defRPr>
                      </a:pPr>
                      <a:r>
                        <a:t>GPT-4, Claude-2, ChatGPT-3.5</a:t>
                      </a:r>
                    </a:p>
                  </a:txBody>
                  <a:tcPr>
                    <a:solidFill>
                      <a:srgbClr val="FFFFFF"/>
                    </a:solidFill>
                  </a:tcPr>
                </a:tc>
                <a:tc>
                  <a:txBody>
                    <a:bodyPr/>
                    <a:lstStyle/>
                    <a:p>
                      <a:pPr>
                        <a:defRPr sz="850" b="1">
                          <a:solidFill>
                            <a:srgbClr val="DC2626"/>
                          </a:solidFill>
                        </a:defRPr>
                      </a:pPr>
                      <a:r>
                        <a:t>62.0% (ChatGPT)</a:t>
                      </a:r>
                    </a:p>
                  </a:txBody>
                  <a:tcPr>
                    <a:solidFill>
                      <a:srgbClr val="FFFFFF"/>
                    </a:solidFill>
                  </a:tcPr>
                </a:tc>
                <a:tc>
                  <a:txBody>
                    <a:bodyPr/>
                    <a:lstStyle/>
                    <a:p>
                      <a:pPr>
                        <a:defRPr sz="850" b="1">
                          <a:solidFill>
                            <a:srgbClr val="059669"/>
                          </a:solidFill>
                        </a:defRPr>
                      </a:pPr>
                      <a:r>
                        <a:t>Safety System Prompts</a:t>
                      </a:r>
                    </a:p>
                  </a:txBody>
                  <a:tcPr>
                    <a:solidFill>
                      <a:srgbClr val="FFFFFF"/>
                    </a:solidFill>
                  </a:tcPr>
                </a:tc>
              </a:tr>
              <a:tr h="497840">
                <a:tc>
                  <a:txBody>
                    <a:bodyPr/>
                    <a:lstStyle/>
                    <a:p>
                      <a:pPr>
                        <a:defRPr sz="850" b="1">
                          <a:solidFill>
                            <a:srgbClr val="0F172A"/>
                          </a:solidFill>
                        </a:defRPr>
                      </a:pPr>
                      <a:r>
                        <a:t>InjecAgent</a:t>
                      </a:r>
                    </a:p>
                  </a:txBody>
                  <a:tcPr>
                    <a:solidFill>
                      <a:srgbClr val="F1F5F9"/>
                    </a:solidFill>
                  </a:tcPr>
                </a:tc>
                <a:tc>
                  <a:txBody>
                    <a:bodyPr/>
                    <a:lstStyle/>
                    <a:p>
                      <a:pPr>
                        <a:defRPr sz="850">
                          <a:solidFill>
                            <a:srgbClr val="0F172A"/>
                          </a:solidFill>
                        </a:defRPr>
                      </a:pPr>
                      <a:r>
                        <a:t>ACL '24</a:t>
                      </a:r>
                    </a:p>
                  </a:txBody>
                  <a:tcPr>
                    <a:solidFill>
                      <a:srgbClr val="F1F5F9"/>
                    </a:solidFill>
                  </a:tcPr>
                </a:tc>
                <a:tc>
                  <a:txBody>
                    <a:bodyPr/>
                    <a:lstStyle/>
                    <a:p>
                      <a:pPr>
                        <a:defRPr sz="850">
                          <a:solidFill>
                            <a:srgbClr val="0F172A"/>
                          </a:solidFill>
                        </a:defRPr>
                      </a:pPr>
                      <a:r>
                        <a:t>IPI (Harm &amp; Exfiltration)</a:t>
                      </a:r>
                    </a:p>
                  </a:txBody>
                  <a:tcPr>
                    <a:solidFill>
                      <a:srgbClr val="F1F5F9"/>
                    </a:solidFill>
                  </a:tcPr>
                </a:tc>
                <a:tc>
                  <a:txBody>
                    <a:bodyPr/>
                    <a:lstStyle/>
                    <a:p>
                      <a:pPr>
                        <a:defRPr sz="850">
                          <a:solidFill>
                            <a:srgbClr val="0F172A"/>
                          </a:solidFill>
                        </a:defRPr>
                      </a:pPr>
                      <a:r>
                        <a:t>Synthetic API Mock</a:t>
                      </a:r>
                    </a:p>
                  </a:txBody>
                  <a:tcPr>
                    <a:solidFill>
                      <a:srgbClr val="F1F5F9"/>
                    </a:solidFill>
                  </a:tcPr>
                </a:tc>
                <a:tc>
                  <a:txBody>
                    <a:bodyPr/>
                    <a:lstStyle/>
                    <a:p>
                      <a:pPr>
                        <a:defRPr sz="850">
                          <a:solidFill>
                            <a:srgbClr val="0F172A"/>
                          </a:solidFill>
                        </a:defRPr>
                      </a:pPr>
                      <a:r>
                        <a:t>GPT-4, Claude-2, LLaMA-2-70B</a:t>
                      </a:r>
                    </a:p>
                  </a:txBody>
                  <a:tcPr>
                    <a:solidFill>
                      <a:srgbClr val="F1F5F9"/>
                    </a:solidFill>
                  </a:tcPr>
                </a:tc>
                <a:tc>
                  <a:txBody>
                    <a:bodyPr/>
                    <a:lstStyle/>
                    <a:p>
                      <a:pPr>
                        <a:defRPr sz="850" b="1">
                          <a:solidFill>
                            <a:srgbClr val="DC2626"/>
                          </a:solidFill>
                        </a:defRPr>
                      </a:pPr>
                      <a:r>
                        <a:t>80%+ (LLaMA2)</a:t>
                      </a:r>
                    </a:p>
                  </a:txBody>
                  <a:tcPr>
                    <a:solidFill>
                      <a:srgbClr val="F1F5F9"/>
                    </a:solidFill>
                  </a:tcPr>
                </a:tc>
                <a:tc>
                  <a:txBody>
                    <a:bodyPr/>
                    <a:lstStyle/>
                    <a:p>
                      <a:pPr>
                        <a:defRPr sz="850" b="1">
                          <a:solidFill>
                            <a:srgbClr val="059669"/>
                          </a:solidFill>
                        </a:defRPr>
                      </a:pPr>
                      <a:r>
                        <a:t>Function-Calling Tuning</a:t>
                      </a:r>
                    </a:p>
                  </a:txBody>
                  <a:tcPr>
                    <a:solidFill>
                      <a:srgbClr val="F1F5F9"/>
                    </a:solidFill>
                  </a:tcPr>
                </a:tc>
              </a:tr>
              <a:tr h="497840">
                <a:tc>
                  <a:txBody>
                    <a:bodyPr/>
                    <a:lstStyle/>
                    <a:p>
                      <a:pPr>
                        <a:defRPr sz="850" b="1">
                          <a:solidFill>
                            <a:srgbClr val="0F172A"/>
                          </a:solidFill>
                        </a:defRPr>
                      </a:pPr>
                      <a:r>
                        <a:t>AgentDojo</a:t>
                      </a:r>
                    </a:p>
                  </a:txBody>
                  <a:tcPr>
                    <a:solidFill>
                      <a:srgbClr val="FFFFFF"/>
                    </a:solidFill>
                  </a:tcPr>
                </a:tc>
                <a:tc>
                  <a:txBody>
                    <a:bodyPr/>
                    <a:lstStyle/>
                    <a:p>
                      <a:pPr>
                        <a:defRPr sz="850">
                          <a:solidFill>
                            <a:srgbClr val="0F172A"/>
                          </a:solidFill>
                        </a:defRPr>
                      </a:pPr>
                      <a:r>
                        <a:t>NeurIPS '24</a:t>
                      </a:r>
                    </a:p>
                  </a:txBody>
                  <a:tcPr>
                    <a:solidFill>
                      <a:srgbClr val="FFFFFF"/>
                    </a:solidFill>
                  </a:tcPr>
                </a:tc>
                <a:tc>
                  <a:txBody>
                    <a:bodyPr/>
                    <a:lstStyle/>
                    <a:p>
                      <a:pPr>
                        <a:defRPr sz="850">
                          <a:solidFill>
                            <a:srgbClr val="0F172A"/>
                          </a:solidFill>
                        </a:defRPr>
                      </a:pPr>
                      <a:r>
                        <a:t>DPI, IPI in Tool Tasks</a:t>
                      </a:r>
                    </a:p>
                  </a:txBody>
                  <a:tcPr>
                    <a:solidFill>
                      <a:srgbClr val="FFFFFF"/>
                    </a:solidFill>
                  </a:tcPr>
                </a:tc>
                <a:tc>
                  <a:txBody>
                    <a:bodyPr/>
                    <a:lstStyle/>
                    <a:p>
                      <a:pPr>
                        <a:defRPr sz="850">
                          <a:solidFill>
                            <a:srgbClr val="0F172A"/>
                          </a:solidFill>
                        </a:defRPr>
                      </a:pPr>
                      <a:r>
                        <a:t>Dynamic In-Memory Py</a:t>
                      </a:r>
                    </a:p>
                  </a:txBody>
                  <a:tcPr>
                    <a:solidFill>
                      <a:srgbClr val="FFFFFF"/>
                    </a:solidFill>
                  </a:tcPr>
                </a:tc>
                <a:tc>
                  <a:txBody>
                    <a:bodyPr/>
                    <a:lstStyle/>
                    <a:p>
                      <a:pPr>
                        <a:defRPr sz="850">
                          <a:solidFill>
                            <a:srgbClr val="0F172A"/>
                          </a:solidFill>
                        </a:defRPr>
                      </a:pPr>
                      <a:r>
                        <a:t>GPT-4o, Claude 3.5, Gemini 1.5</a:t>
                      </a:r>
                    </a:p>
                  </a:txBody>
                  <a:tcPr>
                    <a:solidFill>
                      <a:srgbClr val="FFFFFF"/>
                    </a:solidFill>
                  </a:tcPr>
                </a:tc>
                <a:tc>
                  <a:txBody>
                    <a:bodyPr/>
                    <a:lstStyle/>
                    <a:p>
                      <a:pPr>
                        <a:defRPr sz="850" b="1">
                          <a:solidFill>
                            <a:srgbClr val="DC2626"/>
                          </a:solidFill>
                        </a:defRPr>
                      </a:pPr>
                      <a:r>
                        <a:t>47.7% (GPT-4o)</a:t>
                      </a:r>
                    </a:p>
                  </a:txBody>
                  <a:tcPr>
                    <a:solidFill>
                      <a:srgbClr val="FFFFFF"/>
                    </a:solidFill>
                  </a:tcPr>
                </a:tc>
                <a:tc>
                  <a:txBody>
                    <a:bodyPr/>
                    <a:lstStyle/>
                    <a:p>
                      <a:pPr>
                        <a:defRPr sz="850" b="1">
                          <a:solidFill>
                            <a:srgbClr val="059669"/>
                          </a:solidFill>
                        </a:defRPr>
                      </a:pPr>
                      <a:r>
                        <a:t>Tool Filtering / Least-Priv.</a:t>
                      </a:r>
                    </a:p>
                  </a:txBody>
                  <a:tcPr>
                    <a:solidFill>
                      <a:srgbClr val="FFFFFF"/>
                    </a:solidFill>
                  </a:tcPr>
                </a:tc>
              </a:tr>
              <a:tr h="497840">
                <a:tc>
                  <a:txBody>
                    <a:bodyPr/>
                    <a:lstStyle/>
                    <a:p>
                      <a:pPr>
                        <a:defRPr sz="850" b="1">
                          <a:solidFill>
                            <a:srgbClr val="0F172A"/>
                          </a:solidFill>
                        </a:defRPr>
                      </a:pPr>
                      <a:r>
                        <a:t>ASB (Agent Sec)</a:t>
                      </a:r>
                    </a:p>
                  </a:txBody>
                  <a:tcPr>
                    <a:solidFill>
                      <a:srgbClr val="F1F5F9"/>
                    </a:solidFill>
                  </a:tcPr>
                </a:tc>
                <a:tc>
                  <a:txBody>
                    <a:bodyPr/>
                    <a:lstStyle/>
                    <a:p>
                      <a:pPr>
                        <a:defRPr sz="850">
                          <a:solidFill>
                            <a:srgbClr val="0F172A"/>
                          </a:solidFill>
                        </a:defRPr>
                      </a:pPr>
                      <a:r>
                        <a:t>ICLR '25</a:t>
                      </a:r>
                    </a:p>
                  </a:txBody>
                  <a:tcPr>
                    <a:solidFill>
                      <a:srgbClr val="F1F5F9"/>
                    </a:solidFill>
                  </a:tcPr>
                </a:tc>
                <a:tc>
                  <a:txBody>
                    <a:bodyPr/>
                    <a:lstStyle/>
                    <a:p>
                      <a:pPr>
                        <a:defRPr sz="850">
                          <a:solidFill>
                            <a:srgbClr val="0F172A"/>
                          </a:solidFill>
                        </a:defRPr>
                      </a:pPr>
                      <a:r>
                        <a:t>DPI, IPI, Memory, PoT</a:t>
                      </a:r>
                    </a:p>
                  </a:txBody>
                  <a:tcPr>
                    <a:solidFill>
                      <a:srgbClr val="F1F5F9"/>
                    </a:solidFill>
                  </a:tcPr>
                </a:tc>
                <a:tc>
                  <a:txBody>
                    <a:bodyPr/>
                    <a:lstStyle/>
                    <a:p>
                      <a:pPr>
                        <a:defRPr sz="850">
                          <a:solidFill>
                            <a:srgbClr val="0F172A"/>
                          </a:solidFill>
                        </a:defRPr>
                      </a:pPr>
                      <a:r>
                        <a:t>10 Simulated Scenarios</a:t>
                      </a:r>
                    </a:p>
                  </a:txBody>
                  <a:tcPr>
                    <a:solidFill>
                      <a:srgbClr val="F1F5F9"/>
                    </a:solidFill>
                  </a:tcPr>
                </a:tc>
                <a:tc>
                  <a:txBody>
                    <a:bodyPr/>
                    <a:lstStyle/>
                    <a:p>
                      <a:pPr>
                        <a:defRPr sz="850">
                          <a:solidFill>
                            <a:srgbClr val="0F172A"/>
                          </a:solidFill>
                        </a:defRPr>
                      </a:pPr>
                      <a:r>
                        <a:t>GPT-4o, Claude 3.5, Qwen2-72B</a:t>
                      </a:r>
                    </a:p>
                  </a:txBody>
                  <a:tcPr>
                    <a:solidFill>
                      <a:srgbClr val="F1F5F9"/>
                    </a:solidFill>
                  </a:tcPr>
                </a:tc>
                <a:tc>
                  <a:txBody>
                    <a:bodyPr/>
                    <a:lstStyle/>
                    <a:p>
                      <a:pPr>
                        <a:defRPr sz="850" b="1">
                          <a:solidFill>
                            <a:srgbClr val="DC2626"/>
                          </a:solidFill>
                        </a:defRPr>
                      </a:pPr>
                      <a:r>
                        <a:t>84.3% (Backdoor)</a:t>
                      </a:r>
                    </a:p>
                  </a:txBody>
                  <a:tcPr>
                    <a:solidFill>
                      <a:srgbClr val="F1F5F9"/>
                    </a:solidFill>
                  </a:tcPr>
                </a:tc>
                <a:tc>
                  <a:txBody>
                    <a:bodyPr/>
                    <a:lstStyle/>
                    <a:p>
                      <a:pPr>
                        <a:defRPr sz="850" b="1">
                          <a:solidFill>
                            <a:srgbClr val="059669"/>
                          </a:solidFill>
                        </a:defRPr>
                      </a:pPr>
                      <a:r>
                        <a:t>Lifecycle Formalization</a:t>
                      </a:r>
                    </a:p>
                  </a:txBody>
                  <a:tcPr>
                    <a:solidFill>
                      <a:srgbClr val="F1F5F9"/>
                    </a:solidFill>
                  </a:tcPr>
                </a:tc>
              </a:tr>
              <a:tr h="497840">
                <a:tc>
                  <a:txBody>
                    <a:bodyPr/>
                    <a:lstStyle/>
                    <a:p>
                      <a:pPr>
                        <a:defRPr sz="850" b="1">
                          <a:solidFill>
                            <a:srgbClr val="0F172A"/>
                          </a:solidFill>
                        </a:defRPr>
                      </a:pPr>
                      <a:r>
                        <a:t>WASP</a:t>
                      </a:r>
                    </a:p>
                  </a:txBody>
                  <a:tcPr>
                    <a:solidFill>
                      <a:srgbClr val="FFFFFF"/>
                    </a:solidFill>
                  </a:tcPr>
                </a:tc>
                <a:tc>
                  <a:txBody>
                    <a:bodyPr/>
                    <a:lstStyle/>
                    <a:p>
                      <a:pPr>
                        <a:defRPr sz="850">
                          <a:solidFill>
                            <a:srgbClr val="0F172A"/>
                          </a:solidFill>
                        </a:defRPr>
                      </a:pPr>
                      <a:r>
                        <a:t>FAIR '25</a:t>
                      </a:r>
                    </a:p>
                  </a:txBody>
                  <a:tcPr>
                    <a:solidFill>
                      <a:srgbClr val="FFFFFF"/>
                    </a:solidFill>
                  </a:tcPr>
                </a:tc>
                <a:tc>
                  <a:txBody>
                    <a:bodyPr/>
                    <a:lstStyle/>
                    <a:p>
                      <a:pPr>
                        <a:defRPr sz="850">
                          <a:solidFill>
                            <a:srgbClr val="0F172A"/>
                          </a:solidFill>
                        </a:defRPr>
                      </a:pPr>
                      <a:r>
                        <a:t>Web Prompt Injection</a:t>
                      </a:r>
                    </a:p>
                  </a:txBody>
                  <a:tcPr>
                    <a:solidFill>
                      <a:srgbClr val="FFFFFF"/>
                    </a:solidFill>
                  </a:tcPr>
                </a:tc>
                <a:tc>
                  <a:txBody>
                    <a:bodyPr/>
                    <a:lstStyle/>
                    <a:p>
                      <a:pPr>
                        <a:defRPr sz="850">
                          <a:solidFill>
                            <a:srgbClr val="0F172A"/>
                          </a:solidFill>
                        </a:defRPr>
                      </a:pPr>
                      <a:r>
                        <a:t>Self-Hosted Web (GitLab)</a:t>
                      </a:r>
                    </a:p>
                  </a:txBody>
                  <a:tcPr>
                    <a:solidFill>
                      <a:srgbClr val="FFFFFF"/>
                    </a:solidFill>
                  </a:tcPr>
                </a:tc>
                <a:tc>
                  <a:txBody>
                    <a:bodyPr/>
                    <a:lstStyle/>
                    <a:p>
                      <a:pPr>
                        <a:defRPr sz="850">
                          <a:solidFill>
                            <a:srgbClr val="0F172A"/>
                          </a:solidFill>
                        </a:defRPr>
                      </a:pPr>
                      <a:r>
                        <a:t>OpenAI o1, Claude 3.5/3.7, 4o</a:t>
                      </a:r>
                    </a:p>
                  </a:txBody>
                  <a:tcPr>
                    <a:solidFill>
                      <a:srgbClr val="FFFFFF"/>
                    </a:solidFill>
                  </a:tcPr>
                </a:tc>
                <a:tc>
                  <a:txBody>
                    <a:bodyPr/>
                    <a:lstStyle/>
                    <a:p>
                      <a:pPr>
                        <a:defRPr sz="850" b="1">
                          <a:solidFill>
                            <a:srgbClr val="DC2626"/>
                          </a:solidFill>
                        </a:defRPr>
                      </a:pPr>
                      <a:r>
                        <a:t>85.7% (Interm. o1)</a:t>
                      </a:r>
                    </a:p>
                  </a:txBody>
                  <a:tcPr>
                    <a:solidFill>
                      <a:srgbClr val="FFFFFF"/>
                    </a:solidFill>
                  </a:tcPr>
                </a:tc>
                <a:tc>
                  <a:txBody>
                    <a:bodyPr/>
                    <a:lstStyle/>
                    <a:p>
                      <a:pPr>
                        <a:defRPr sz="850" b="1">
                          <a:solidFill>
                            <a:srgbClr val="059669"/>
                          </a:solidFill>
                        </a:defRPr>
                      </a:pPr>
                      <a:r>
                        <a:t>Instruction Hierarchy</a:t>
                      </a:r>
                    </a:p>
                  </a:txBody>
                  <a:tcPr>
                    <a:solidFill>
                      <a:srgbClr val="FFFFFF"/>
                    </a:solidFill>
                  </a:tcPr>
                </a:tc>
              </a:tr>
              <a:tr h="497840">
                <a:tc>
                  <a:txBody>
                    <a:bodyPr/>
                    <a:lstStyle/>
                    <a:p>
                      <a:pPr>
                        <a:defRPr sz="850" b="1">
                          <a:solidFill>
                            <a:srgbClr val="0F172A"/>
                          </a:solidFill>
                        </a:defRPr>
                      </a:pPr>
                      <a:r>
                        <a:t>SEAgent</a:t>
                      </a:r>
                    </a:p>
                  </a:txBody>
                  <a:tcPr>
                    <a:solidFill>
                      <a:srgbClr val="F1F5F9"/>
                    </a:solidFill>
                  </a:tcPr>
                </a:tc>
                <a:tc>
                  <a:txBody>
                    <a:bodyPr/>
                    <a:lstStyle/>
                    <a:p>
                      <a:pPr>
                        <a:defRPr sz="850">
                          <a:solidFill>
                            <a:srgbClr val="0F172A"/>
                          </a:solidFill>
                        </a:defRPr>
                      </a:pPr>
                      <a:r>
                        <a:t>arXiv '26</a:t>
                      </a:r>
                    </a:p>
                  </a:txBody>
                  <a:tcPr>
                    <a:solidFill>
                      <a:srgbClr val="F1F5F9"/>
                    </a:solidFill>
                  </a:tcPr>
                </a:tc>
                <a:tc>
                  <a:txBody>
                    <a:bodyPr/>
                    <a:lstStyle/>
                    <a:p>
                      <a:pPr>
                        <a:defRPr sz="850">
                          <a:solidFill>
                            <a:srgbClr val="0F172A"/>
                          </a:solidFill>
                        </a:defRPr>
                      </a:pPr>
                      <a:r>
                        <a:t>Priv. Escalation, Confused Dep.</a:t>
                      </a:r>
                    </a:p>
                  </a:txBody>
                  <a:tcPr>
                    <a:solidFill>
                      <a:srgbClr val="F1F5F9"/>
                    </a:solidFill>
                  </a:tcPr>
                </a:tc>
                <a:tc>
                  <a:txBody>
                    <a:bodyPr/>
                    <a:lstStyle/>
                    <a:p>
                      <a:pPr>
                        <a:defRPr sz="850">
                          <a:solidFill>
                            <a:srgbClr val="0F172A"/>
                          </a:solidFill>
                        </a:defRPr>
                      </a:pPr>
                      <a:r>
                        <a:t>InjecAgent, AgentDojo, AWS</a:t>
                      </a:r>
                    </a:p>
                  </a:txBody>
                  <a:tcPr>
                    <a:solidFill>
                      <a:srgbClr val="F1F5F9"/>
                    </a:solidFill>
                  </a:tcPr>
                </a:tc>
                <a:tc>
                  <a:txBody>
                    <a:bodyPr/>
                    <a:lstStyle/>
                    <a:p>
                      <a:pPr>
                        <a:defRPr sz="850">
                          <a:solidFill>
                            <a:srgbClr val="0F172A"/>
                          </a:solidFill>
                        </a:defRPr>
                      </a:pPr>
                      <a:r>
                        <a:t>GPT-3.5-Turbo, OpenAI o1</a:t>
                      </a:r>
                    </a:p>
                  </a:txBody>
                  <a:tcPr>
                    <a:solidFill>
                      <a:srgbClr val="F1F5F9"/>
                    </a:solidFill>
                  </a:tcPr>
                </a:tc>
                <a:tc>
                  <a:txBody>
                    <a:bodyPr/>
                    <a:lstStyle/>
                    <a:p>
                      <a:pPr>
                        <a:defRPr sz="850" b="1">
                          <a:solidFill>
                            <a:srgbClr val="DC2626"/>
                          </a:solidFill>
                        </a:defRPr>
                      </a:pPr>
                      <a:r>
                        <a:t>39.1% Naive -&gt; 0%</a:t>
                      </a:r>
                    </a:p>
                  </a:txBody>
                  <a:tcPr>
                    <a:solidFill>
                      <a:srgbClr val="F1F5F9"/>
                    </a:solidFill>
                  </a:tcPr>
                </a:tc>
                <a:tc>
                  <a:txBody>
                    <a:bodyPr/>
                    <a:lstStyle/>
                    <a:p>
                      <a:pPr>
                        <a:defRPr sz="850" b="1">
                          <a:solidFill>
                            <a:srgbClr val="059669"/>
                          </a:solidFill>
                        </a:defRPr>
                      </a:pPr>
                      <a:r>
                        <a:t>Mandatory Access Control (MAC)</a:t>
                      </a:r>
                    </a:p>
                  </a:txBody>
                  <a:tcPr>
                    <a:solidFill>
                      <a:srgbClr val="F1F5F9"/>
                    </a:solidFill>
                  </a:tcPr>
                </a:tc>
              </a:tr>
              <a:tr h="497840">
                <a:tc>
                  <a:txBody>
                    <a:bodyPr/>
                    <a:lstStyle/>
                    <a:p>
                      <a:pPr>
                        <a:defRPr sz="850" b="1">
                          <a:solidFill>
                            <a:srgbClr val="0F172A"/>
                          </a:solidFill>
                        </a:defRPr>
                      </a:pPr>
                      <a:r>
                        <a:t>LivePI</a:t>
                      </a:r>
                    </a:p>
                  </a:txBody>
                  <a:tcPr>
                    <a:solidFill>
                      <a:srgbClr val="FFFFFF"/>
                    </a:solidFill>
                  </a:tcPr>
                </a:tc>
                <a:tc>
                  <a:txBody>
                    <a:bodyPr/>
                    <a:lstStyle/>
                    <a:p>
                      <a:pPr>
                        <a:defRPr sz="850">
                          <a:solidFill>
                            <a:srgbClr val="0F172A"/>
                          </a:solidFill>
                        </a:defRPr>
                      </a:pPr>
                      <a:r>
                        <a:t>arXiv '26</a:t>
                      </a:r>
                    </a:p>
                  </a:txBody>
                  <a:tcPr>
                    <a:solidFill>
                      <a:srgbClr val="FFFFFF"/>
                    </a:solidFill>
                  </a:tcPr>
                </a:tc>
                <a:tc>
                  <a:txBody>
                    <a:bodyPr/>
                    <a:lstStyle/>
                    <a:p>
                      <a:pPr>
                        <a:defRPr sz="850">
                          <a:solidFill>
                            <a:srgbClr val="0F172A"/>
                          </a:solidFill>
                        </a:defRPr>
                      </a:pPr>
                      <a:r>
                        <a:t>IPI in Local Workflows</a:t>
                      </a:r>
                    </a:p>
                  </a:txBody>
                  <a:tcPr>
                    <a:solidFill>
                      <a:srgbClr val="FFFFFF"/>
                    </a:solidFill>
                  </a:tcPr>
                </a:tc>
                <a:tc>
                  <a:txBody>
                    <a:bodyPr/>
                    <a:lstStyle/>
                    <a:p>
                      <a:pPr>
                        <a:defRPr sz="850">
                          <a:solidFill>
                            <a:srgbClr val="0F172A"/>
                          </a:solidFill>
                        </a:defRPr>
                      </a:pPr>
                      <a:r>
                        <a:t>Live Linux VM (OpenClaw)</a:t>
                      </a:r>
                    </a:p>
                  </a:txBody>
                  <a:tcPr>
                    <a:solidFill>
                      <a:srgbClr val="FFFFFF"/>
                    </a:solidFill>
                  </a:tcPr>
                </a:tc>
                <a:tc>
                  <a:txBody>
                    <a:bodyPr/>
                    <a:lstStyle/>
                    <a:p>
                      <a:pPr>
                        <a:defRPr sz="850">
                          <a:solidFill>
                            <a:srgbClr val="0F172A"/>
                          </a:solidFill>
                        </a:defRPr>
                      </a:pPr>
                      <a:r>
                        <a:t>GPT-5.3-Codex, Claude Opus 4.6</a:t>
                      </a:r>
                    </a:p>
                  </a:txBody>
                  <a:tcPr>
                    <a:solidFill>
                      <a:srgbClr val="FFFFFF"/>
                    </a:solidFill>
                  </a:tcPr>
                </a:tc>
                <a:tc>
                  <a:txBody>
                    <a:bodyPr/>
                    <a:lstStyle/>
                    <a:p>
                      <a:pPr>
                        <a:defRPr sz="850" b="1">
                          <a:solidFill>
                            <a:srgbClr val="DC2626"/>
                          </a:solidFill>
                        </a:defRPr>
                      </a:pPr>
                      <a:r>
                        <a:t>100% (Group Chat)</a:t>
                      </a:r>
                    </a:p>
                  </a:txBody>
                  <a:tcPr>
                    <a:solidFill>
                      <a:srgbClr val="FFFFFF"/>
                    </a:solidFill>
                  </a:tcPr>
                </a:tc>
                <a:tc>
                  <a:txBody>
                    <a:bodyPr/>
                    <a:lstStyle/>
                    <a:p>
                      <a:pPr>
                        <a:defRPr sz="850" b="1">
                          <a:solidFill>
                            <a:srgbClr val="059669"/>
                          </a:solidFill>
                        </a:defRPr>
                      </a:pPr>
                      <a:r>
                        <a:t>2-Layer Tool Authorization</a:t>
                      </a:r>
                    </a:p>
                  </a:txBody>
                  <a:tcPr>
                    <a:solidFill>
                      <a:srgbClr val="FFFFFF"/>
                    </a:solidFill>
                  </a:tcPr>
                </a:tc>
              </a:tr>
              <a:tr h="497840">
                <a:tc>
                  <a:txBody>
                    <a:bodyPr/>
                    <a:lstStyle/>
                    <a:p>
                      <a:pPr>
                        <a:defRPr sz="850" b="1">
                          <a:solidFill>
                            <a:srgbClr val="0F172A"/>
                          </a:solidFill>
                        </a:defRPr>
                      </a:pPr>
                      <a:r>
                        <a:t>VIGIL</a:t>
                      </a:r>
                    </a:p>
                  </a:txBody>
                  <a:tcPr>
                    <a:solidFill>
                      <a:srgbClr val="F1F5F9"/>
                    </a:solidFill>
                  </a:tcPr>
                </a:tc>
                <a:tc>
                  <a:txBody>
                    <a:bodyPr/>
                    <a:lstStyle/>
                    <a:p>
                      <a:pPr>
                        <a:defRPr sz="850">
                          <a:solidFill>
                            <a:srgbClr val="0F172A"/>
                          </a:solidFill>
                        </a:defRPr>
                      </a:pPr>
                      <a:r>
                        <a:t>arXiv '26</a:t>
                      </a:r>
                    </a:p>
                  </a:txBody>
                  <a:tcPr>
                    <a:solidFill>
                      <a:srgbClr val="F1F5F9"/>
                    </a:solidFill>
                  </a:tcPr>
                </a:tc>
                <a:tc>
                  <a:txBody>
                    <a:bodyPr/>
                    <a:lstStyle/>
                    <a:p>
                      <a:pPr>
                        <a:defRPr sz="850">
                          <a:solidFill>
                            <a:srgbClr val="0F172A"/>
                          </a:solidFill>
                        </a:defRPr>
                      </a:pPr>
                      <a:r>
                        <a:t>Agent Skill Contract Breaks</a:t>
                      </a:r>
                    </a:p>
                  </a:txBody>
                  <a:tcPr>
                    <a:solidFill>
                      <a:srgbClr val="F1F5F9"/>
                    </a:solidFill>
                  </a:tcPr>
                </a:tc>
                <a:tc>
                  <a:txBody>
                    <a:bodyPr/>
                    <a:lstStyle/>
                    <a:p>
                      <a:pPr>
                        <a:defRPr sz="850">
                          <a:solidFill>
                            <a:srgbClr val="0F172A"/>
                          </a:solidFill>
                        </a:defRPr>
                      </a:pPr>
                      <a:r>
                        <a:t>SB+SI, Deployed Skills</a:t>
                      </a:r>
                    </a:p>
                  </a:txBody>
                  <a:tcPr>
                    <a:solidFill>
                      <a:srgbClr val="F1F5F9"/>
                    </a:solidFill>
                  </a:tcPr>
                </a:tc>
                <a:tc>
                  <a:txBody>
                    <a:bodyPr/>
                    <a:lstStyle/>
                    <a:p>
                      <a:pPr>
                        <a:defRPr sz="850">
                          <a:solidFill>
                            <a:srgbClr val="0F172A"/>
                          </a:solidFill>
                        </a:defRPr>
                      </a:pPr>
                      <a:r>
                        <a:t>Claude Sonnet 4.6, GPT-4o</a:t>
                      </a:r>
                    </a:p>
                  </a:txBody>
                  <a:tcPr>
                    <a:solidFill>
                      <a:srgbClr val="F1F5F9"/>
                    </a:solidFill>
                  </a:tcPr>
                </a:tc>
                <a:tc>
                  <a:txBody>
                    <a:bodyPr/>
                    <a:lstStyle/>
                    <a:p>
                      <a:pPr>
                        <a:defRPr sz="850" b="1">
                          <a:solidFill>
                            <a:srgbClr val="DC2626"/>
                          </a:solidFill>
                        </a:defRPr>
                      </a:pPr>
                      <a:r>
                        <a:t>95.8% Rec. Violat.</a:t>
                      </a:r>
                    </a:p>
                  </a:txBody>
                  <a:tcPr>
                    <a:solidFill>
                      <a:srgbClr val="F1F5F9"/>
                    </a:solidFill>
                  </a:tcPr>
                </a:tc>
                <a:tc>
                  <a:txBody>
                    <a:bodyPr/>
                    <a:lstStyle/>
                    <a:p>
                      <a:pPr>
                        <a:defRPr sz="850" b="1">
                          <a:solidFill>
                            <a:srgbClr val="059669"/>
                          </a:solidFill>
                        </a:defRPr>
                      </a:pPr>
                      <a:r>
                        <a:t>SMT Finite-Trace Checking</a:t>
                      </a:r>
                    </a:p>
                  </a:txBody>
                  <a:tcPr>
                    <a:solidFill>
                      <a:srgbClr val="F1F5F9"/>
                    </a:solidFill>
                  </a:tcPr>
                </a:tc>
              </a:tr>
            </a:tbl>
          </a:graphicData>
        </a:graphic>
      </p:graphicFrame>
      <p:sp>
        <p:nvSpPr>
          <p:cNvPr id="7" name="TextBox 6"/>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13 of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CROSS-MODEL ANALYSIS</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The Capability-Security Disconnect Across Model Generations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Why higher reasoning capabilities frequently lead to higher attack compliance and vulnerability</a:t>
            </a:r>
          </a:p>
        </p:txBody>
      </p:sp>
      <p:sp>
        <p:nvSpPr>
          <p:cNvPr id="6" name="Rounded Rectangle 5"/>
          <p:cNvSpPr/>
          <p:nvPr/>
        </p:nvSpPr>
        <p:spPr>
          <a:xfrm>
            <a:off x="731520"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C2626"/>
                </a:solidFill>
              </a:defRPr>
            </a:pPr>
            <a:r>
              <a:t>THE REASONING PARADOX</a:t>
            </a:r>
          </a:p>
          <a:p>
            <a:pPr>
              <a:spcBef>
                <a:spcPts val="300"/>
              </a:spcBef>
              <a:defRPr sz="1300" b="1">
                <a:solidFill>
                  <a:srgbClr val="0F172A"/>
                </a:solidFill>
              </a:defRPr>
            </a:pPr>
            <a:r>
              <a:t>Higher IQ, Higher Susceptibility</a:t>
            </a:r>
          </a:p>
          <a:p>
            <a:pPr>
              <a:spcBef>
                <a:spcPts val="800"/>
              </a:spcBef>
              <a:defRPr sz="950">
                <a:solidFill>
                  <a:srgbClr val="334155"/>
                </a:solidFill>
              </a:defRPr>
            </a:pPr>
            <a:r>
              <a:t>• Better Instruction Following: Frontier models (GPT-4o, Claude 3.5, OpenAI o1) excel at following complex directives, making them more obedient to injected instructions.</a:t>
            </a:r>
          </a:p>
          <a:p>
            <a:pPr>
              <a:spcBef>
                <a:spcPts val="800"/>
              </a:spcBef>
              <a:defRPr sz="950">
                <a:solidFill>
                  <a:srgbClr val="334155"/>
                </a:solidFill>
              </a:defRPr>
            </a:pPr>
            <a:r>
              <a:t>• ASB Leaderboard Finding: ASB proved that standalone LLM quality on leaderboards does NOT predict agent security. GPT-4o showed 64.41% ASR across attacks.</a:t>
            </a:r>
          </a:p>
          <a:p>
            <a:pPr>
              <a:spcBef>
                <a:spcPts val="800"/>
              </a:spcBef>
              <a:defRPr sz="950">
                <a:solidFill>
                  <a:srgbClr val="334155"/>
                </a:solidFill>
              </a:defRPr>
            </a:pPr>
            <a:r>
              <a:t>• WASP Reasoning Finding: In WASP, OpenAI o1 achieved an 85.7% intermediate attack success rate—the highest among all evaluated models.</a:t>
            </a:r>
          </a:p>
        </p:txBody>
      </p:sp>
      <p:sp>
        <p:nvSpPr>
          <p:cNvPr id="7" name="Rounded Rectangle 6"/>
          <p:cNvSpPr/>
          <p:nvPr/>
        </p:nvSpPr>
        <p:spPr>
          <a:xfrm>
            <a:off x="4398264"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97706"/>
                </a:solidFill>
              </a:defRPr>
            </a:pPr>
            <a:r>
              <a:t>ACCIDENTAL PROTECTION</a:t>
            </a:r>
          </a:p>
          <a:p>
            <a:pPr>
              <a:spcBef>
                <a:spcPts val="300"/>
              </a:spcBef>
              <a:defRPr sz="1300" b="1">
                <a:solidFill>
                  <a:srgbClr val="0F172A"/>
                </a:solidFill>
              </a:defRPr>
            </a:pPr>
            <a:r>
              <a:t>'Security by Incompetence'</a:t>
            </a:r>
          </a:p>
          <a:p>
            <a:pPr>
              <a:spcBef>
                <a:spcPts val="800"/>
              </a:spcBef>
              <a:defRPr sz="950">
                <a:solidFill>
                  <a:srgbClr val="334155"/>
                </a:solidFill>
              </a:defRPr>
            </a:pPr>
            <a:r>
              <a:t>• Intermediate vs Full Attack: WASP demonstrated that while attacks derail agents in 86% of cases, full end-to-end completion is only 0%–16%.</a:t>
            </a:r>
          </a:p>
          <a:p>
            <a:pPr>
              <a:spcBef>
                <a:spcPts val="800"/>
              </a:spcBef>
              <a:defRPr sz="950">
                <a:solidFill>
                  <a:srgbClr val="334155"/>
                </a:solidFill>
              </a:defRPr>
            </a:pPr>
            <a:r>
              <a:t>• Failure to Navigate: Current agents get stuck on UI popups, complex forms, or multi-step logic, inadvertently halting the attacker's multi-step plan.</a:t>
            </a:r>
          </a:p>
          <a:p>
            <a:pPr>
              <a:spcBef>
                <a:spcPts val="800"/>
              </a:spcBef>
              <a:defRPr sz="950">
                <a:solidFill>
                  <a:srgbClr val="334155"/>
                </a:solidFill>
              </a:defRPr>
            </a:pPr>
            <a:r>
              <a:t>• The Impending Cliff: As frontier agents (Claude 3.7, GPT-5.3) master autonomous navigation and error recovery, this accidental barrier will completely dissolve.</a:t>
            </a:r>
          </a:p>
        </p:txBody>
      </p:sp>
      <p:sp>
        <p:nvSpPr>
          <p:cNvPr id="8" name="Rounded Rectangle 7"/>
          <p:cNvSpPr/>
          <p:nvPr/>
        </p:nvSpPr>
        <p:spPr>
          <a:xfrm>
            <a:off x="8065008"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2563EB"/>
                </a:solidFill>
              </a:defRPr>
            </a:pPr>
            <a:r>
              <a:t>ARCHITECTURAL HOLES</a:t>
            </a:r>
          </a:p>
          <a:p>
            <a:pPr>
              <a:spcBef>
                <a:spcPts val="300"/>
              </a:spcBef>
              <a:defRPr sz="1300" b="1">
                <a:solidFill>
                  <a:srgbClr val="0F172A"/>
                </a:solidFill>
              </a:defRPr>
            </a:pPr>
            <a:r>
              <a:t>Context Role Ingestion Bugs</a:t>
            </a:r>
          </a:p>
          <a:p>
            <a:pPr>
              <a:spcBef>
                <a:spcPts val="800"/>
              </a:spcBef>
              <a:defRPr sz="950">
                <a:solidFill>
                  <a:srgbClr val="334155"/>
                </a:solidFill>
              </a:defRPr>
            </a:pPr>
            <a:r>
              <a:t>• The Role:User Vulnerability: LivePI revealed that in group messaging (Slack, Telegram), member messages enter context as 'role: user', causing 100% universal exploitability across all models.</a:t>
            </a:r>
          </a:p>
          <a:p>
            <a:pPr>
              <a:spcBef>
                <a:spcPts val="800"/>
              </a:spcBef>
              <a:defRPr sz="950">
                <a:solidFill>
                  <a:srgbClr val="334155"/>
                </a:solidFill>
              </a:defRPr>
            </a:pPr>
            <a:r>
              <a:t>• Fine-Tuning Helps But Isn't Enough: InjecAgent proved fine-tuned function calling reduces ASR from 24% to 3.8%, but data exfiltration still hits 100% once sensitive data is read.</a:t>
            </a:r>
          </a:p>
          <a:p>
            <a:pPr>
              <a:spcBef>
                <a:spcPts val="800"/>
              </a:spcBef>
              <a:defRPr sz="950">
                <a:solidFill>
                  <a:srgbClr val="334155"/>
                </a:solidFill>
              </a:defRPr>
            </a:pPr>
            <a:r>
              <a:t>• Lack of Native Taint Tracking: Transformer architectures have no hardware-level distinction between control flow and data flow.</a:t>
            </a:r>
          </a:p>
        </p:txBody>
      </p:sp>
      <p:sp>
        <p:nvSpPr>
          <p:cNvPr id="9" name="TextBox 8"/>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14 of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DEFENSE PARADIGM SHIFT</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The Three Waves of LLM Agent Defenses</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Tracing the transition from brittle prompt heuristics to auxiliary ML detectors, and finally deterministic formal system controls</a:t>
            </a:r>
          </a:p>
        </p:txBody>
      </p:sp>
      <p:sp>
        <p:nvSpPr>
          <p:cNvPr id="6" name="Rounded Rectangle 5"/>
          <p:cNvSpPr/>
          <p:nvPr/>
        </p:nvSpPr>
        <p:spPr>
          <a:xfrm>
            <a:off x="731520"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D97706"/>
                </a:solidFill>
              </a:defRPr>
            </a:pPr>
            <a:r>
              <a:t>WAVE 1: 2023–2024</a:t>
            </a:r>
          </a:p>
          <a:p>
            <a:pPr>
              <a:spcBef>
                <a:spcPts val="300"/>
              </a:spcBef>
              <a:defRPr sz="1300" b="1">
                <a:solidFill>
                  <a:srgbClr val="0F172A"/>
                </a:solidFill>
              </a:defRPr>
            </a:pPr>
            <a:r>
              <a:t>Prompt-Level Guidance &amp; Heuristics</a:t>
            </a:r>
          </a:p>
          <a:p>
            <a:pPr>
              <a:spcBef>
                <a:spcPts val="600"/>
              </a:spcBef>
              <a:defRPr sz="950" i="1">
                <a:solidFill>
                  <a:srgbClr val="64748B"/>
                </a:solidFill>
              </a:defRPr>
            </a:pPr>
            <a:r>
              <a:t>Mechanisms: System prompt safety rules, XML delimiting tags, repeat prompting, input paraphrasing.</a:t>
            </a:r>
          </a:p>
          <a:p>
            <a:pPr>
              <a:spcBef>
                <a:spcPts val="800"/>
              </a:spcBef>
              <a:defRPr sz="950">
                <a:solidFill>
                  <a:srgbClr val="334155"/>
                </a:solidFill>
              </a:defRPr>
            </a:pPr>
            <a:r>
              <a:t>• Strengths: Trivially simple to implement; requires zero changes to agent architecture or tools.</a:t>
            </a:r>
          </a:p>
          <a:p>
            <a:pPr>
              <a:spcBef>
                <a:spcPts val="800"/>
              </a:spcBef>
              <a:defRPr sz="950">
                <a:solidFill>
                  <a:srgbClr val="334155"/>
                </a:solidFill>
              </a:defRPr>
            </a:pPr>
            <a:r>
              <a:t>• Flaws: Brittle and easily bypassed by hacking prompts; ASB showed Paraphrasing still leaves 56.9% ASR.</a:t>
            </a:r>
          </a:p>
          <a:p>
            <a:pPr>
              <a:spcBef>
                <a:spcPts val="800"/>
              </a:spcBef>
              <a:defRPr sz="950">
                <a:solidFill>
                  <a:srgbClr val="334155"/>
                </a:solidFill>
              </a:defRPr>
            </a:pPr>
            <a:r>
              <a:t>• Utility Penalty: Substantially reduces agent instruction-following precision on benign queries.</a:t>
            </a:r>
          </a:p>
          <a:p>
            <a:pPr>
              <a:spcBef>
                <a:spcPts val="1600"/>
              </a:spcBef>
              <a:defRPr sz="1050" b="1">
                <a:solidFill>
                  <a:srgbClr val="D97706"/>
                </a:solidFill>
              </a:defRPr>
            </a:pPr>
            <a:r>
              <a:t>▶ Verdict: Inadequate for production agents</a:t>
            </a:r>
          </a:p>
        </p:txBody>
      </p:sp>
      <p:sp>
        <p:nvSpPr>
          <p:cNvPr id="7" name="Rounded Rectangle 6"/>
          <p:cNvSpPr/>
          <p:nvPr/>
        </p:nvSpPr>
        <p:spPr>
          <a:xfrm>
            <a:off x="4398264"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7C3AED"/>
                </a:solidFill>
              </a:defRPr>
            </a:pPr>
            <a:r>
              <a:t>WAVE 2: 2024–2025</a:t>
            </a:r>
          </a:p>
          <a:p>
            <a:pPr>
              <a:spcBef>
                <a:spcPts val="300"/>
              </a:spcBef>
              <a:defRPr sz="1300" b="1">
                <a:solidFill>
                  <a:srgbClr val="0F172A"/>
                </a:solidFill>
              </a:defRPr>
            </a:pPr>
            <a:r>
              <a:t>Auxiliary Classifiers &amp; Sandboxing</a:t>
            </a:r>
          </a:p>
          <a:p>
            <a:pPr>
              <a:spcBef>
                <a:spcPts val="600"/>
              </a:spcBef>
              <a:defRPr sz="950" i="1">
                <a:solidFill>
                  <a:srgbClr val="64748B"/>
                </a:solidFill>
              </a:defRPr>
            </a:pPr>
            <a:r>
              <a:t>Mechanisms: External PI detectors (Llama-Guard, PromptArmor), Dual-LLM intent planners (CaMeL, IsolateGPT).</a:t>
            </a:r>
          </a:p>
          <a:p>
            <a:pPr>
              <a:spcBef>
                <a:spcPts val="800"/>
              </a:spcBef>
              <a:defRPr sz="950">
                <a:solidFill>
                  <a:srgbClr val="334155"/>
                </a:solidFill>
              </a:defRPr>
            </a:pPr>
            <a:r>
              <a:t>• Strengths: Significantly drops ASR for known injection patterns (AgentDojo PI detector dropped ASR to 7.95%).</a:t>
            </a:r>
          </a:p>
          <a:p>
            <a:pPr>
              <a:spcBef>
                <a:spcPts val="800"/>
              </a:spcBef>
              <a:defRPr sz="950">
                <a:solidFill>
                  <a:srgbClr val="334155"/>
                </a:solidFill>
              </a:defRPr>
            </a:pPr>
            <a:r>
              <a:t>• Flaws: High False Positive rate; severely harms benign utility (AgentDojo utility crashed from 69% to 41.5%).</a:t>
            </a:r>
          </a:p>
          <a:p>
            <a:pPr>
              <a:spcBef>
                <a:spcPts val="800"/>
              </a:spcBef>
              <a:defRPr sz="950">
                <a:solidFill>
                  <a:srgbClr val="334155"/>
                </a:solidFill>
              </a:defRPr>
            </a:pPr>
            <a:r>
              <a:t>• Vulnerabilities: Vulnerable to cascading injections where the guard LLM itself is compromised.</a:t>
            </a:r>
          </a:p>
          <a:p>
            <a:pPr>
              <a:spcBef>
                <a:spcPts val="1600"/>
              </a:spcBef>
              <a:defRPr sz="1050" b="1">
                <a:solidFill>
                  <a:srgbClr val="7C3AED"/>
                </a:solidFill>
              </a:defRPr>
            </a:pPr>
            <a:r>
              <a:t>▶ Verdict: Stronger safety, unacceptable friction</a:t>
            </a:r>
          </a:p>
        </p:txBody>
      </p:sp>
      <p:sp>
        <p:nvSpPr>
          <p:cNvPr id="8" name="Rounded Rectangle 7"/>
          <p:cNvSpPr/>
          <p:nvPr/>
        </p:nvSpPr>
        <p:spPr>
          <a:xfrm>
            <a:off x="8065008" y="160020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b="1">
                <a:solidFill>
                  <a:srgbClr val="059669"/>
                </a:solidFill>
              </a:defRPr>
            </a:pPr>
            <a:r>
              <a:t>WAVE 3: 2026+</a:t>
            </a:r>
          </a:p>
          <a:p>
            <a:pPr>
              <a:spcBef>
                <a:spcPts val="300"/>
              </a:spcBef>
              <a:defRPr sz="1300" b="1">
                <a:solidFill>
                  <a:srgbClr val="0F172A"/>
                </a:solidFill>
              </a:defRPr>
            </a:pPr>
            <a:r>
              <a:t>Deterministic MAC &amp; SMT Verification</a:t>
            </a:r>
          </a:p>
          <a:p>
            <a:pPr>
              <a:spcBef>
                <a:spcPts val="600"/>
              </a:spcBef>
              <a:defRPr sz="950" i="1">
                <a:solidFill>
                  <a:srgbClr val="64748B"/>
                </a:solidFill>
              </a:defRPr>
            </a:pPr>
            <a:r>
              <a:t>Mechanisms: Mandatory Access Control (SEAgent), System View execution graphs, and trace-level SMT checking (VIGIL).</a:t>
            </a:r>
          </a:p>
          <a:p>
            <a:pPr>
              <a:spcBef>
                <a:spcPts val="800"/>
              </a:spcBef>
              <a:defRPr sz="950">
                <a:solidFill>
                  <a:srgbClr val="334155"/>
                </a:solidFill>
              </a:defRPr>
            </a:pPr>
            <a:r>
              <a:t>• Strengths: Achieves 0.0% ASR; eliminates multi-agent Confused Deputy; VIGIL achieves 92.6% F1 on skills.</a:t>
            </a:r>
          </a:p>
          <a:p>
            <a:pPr>
              <a:spcBef>
                <a:spcPts val="800"/>
              </a:spcBef>
              <a:defRPr sz="950">
                <a:solidFill>
                  <a:srgbClr val="334155"/>
                </a:solidFill>
              </a:defRPr>
            </a:pPr>
            <a:r>
              <a:t>• Formal Guarantees: Evaluates temporal prerequisites and information flow across the full execution trace.</a:t>
            </a:r>
          </a:p>
          <a:p>
            <a:pPr>
              <a:spcBef>
                <a:spcPts val="800"/>
              </a:spcBef>
              <a:defRPr sz="950">
                <a:solidFill>
                  <a:srgbClr val="334155"/>
                </a:solidFill>
              </a:defRPr>
            </a:pPr>
            <a:r>
              <a:t>• Utility Preservation: Maintains benign task success with low friction (0.11% block rate on PinchBench).</a:t>
            </a:r>
          </a:p>
          <a:p>
            <a:pPr>
              <a:spcBef>
                <a:spcPts val="1600"/>
              </a:spcBef>
              <a:defRPr sz="1050" b="1">
                <a:solidFill>
                  <a:srgbClr val="059669"/>
                </a:solidFill>
              </a:defRPr>
            </a:pPr>
            <a:r>
              <a:t>▶ Verdict: The future of secure agent systems</a:t>
            </a:r>
          </a:p>
        </p:txBody>
      </p:sp>
      <p:sp>
        <p:nvSpPr>
          <p:cNvPr id="9" name="TextBox 8"/>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15 of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274320"/>
          </a:xfrm>
          <a:prstGeom prst="rect">
            <a:avLst/>
          </a:prstGeom>
          <a:noFill/>
        </p:spPr>
        <p:txBody>
          <a:bodyPr wrap="square" lIns="0" tIns="0" rIns="0" bIns="0">
            <a:spAutoFit/>
          </a:bodyPr>
          <a:lstStyle/>
          <a:p>
            <a:pPr>
              <a:defRPr sz="950" b="1">
                <a:solidFill>
                  <a:srgbClr val="2563EB"/>
                </a:solidFill>
              </a:defRPr>
            </a:pPr>
            <a:r>
              <a:t>RESEARCH AGENDA FOR OUR LAB</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0F172A"/>
                </a:solidFill>
              </a:defRPr>
            </a:pPr>
            <a:r>
              <a:t>Concrete Research Directions &amp; Proposal for Supervisor</a:t>
            </a:r>
          </a:p>
        </p:txBody>
      </p:sp>
      <p:sp>
        <p:nvSpPr>
          <p:cNvPr id="5" name="TextBox 4"/>
          <p:cNvSpPr txBox="1"/>
          <p:nvPr/>
        </p:nvSpPr>
        <p:spPr>
          <a:xfrm>
            <a:off x="731520" y="1143000"/>
            <a:ext cx="10728655" cy="320040"/>
          </a:xfrm>
          <a:prstGeom prst="rect">
            <a:avLst/>
          </a:prstGeom>
          <a:noFill/>
        </p:spPr>
        <p:txBody>
          <a:bodyPr wrap="square" lIns="0" tIns="0" rIns="0" bIns="0">
            <a:spAutoFit/>
          </a:bodyPr>
          <a:lstStyle/>
          <a:p>
            <a:pPr>
              <a:defRPr sz="1100">
                <a:solidFill>
                  <a:srgbClr val="64748B"/>
                </a:solidFill>
              </a:defRPr>
            </a:pPr>
            <a:r>
              <a:t>Four high-impact, publishable research directions capitalizing on unresolved gaps in agentic jailbreaking</a:t>
            </a:r>
          </a:p>
        </p:txBody>
      </p:sp>
      <p:sp>
        <p:nvSpPr>
          <p:cNvPr id="6" name="Rounded Rectangle 5"/>
          <p:cNvSpPr/>
          <p:nvPr/>
        </p:nvSpPr>
        <p:spPr>
          <a:xfrm>
            <a:off x="7315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DC2626"/>
                </a:solidFill>
              </a:defRPr>
            </a:pPr>
            <a:r>
              <a:t>DIRECTION 1</a:t>
            </a:r>
          </a:p>
          <a:p>
            <a:pPr>
              <a:spcBef>
                <a:spcPts val="300"/>
              </a:spcBef>
              <a:defRPr sz="1200" b="1">
                <a:solidFill>
                  <a:srgbClr val="0F172A"/>
                </a:solidFill>
              </a:defRPr>
            </a:pPr>
            <a:r>
              <a:t>Automated Multi-Turn Red Teaming</a:t>
            </a:r>
          </a:p>
          <a:p>
            <a:pPr>
              <a:spcBef>
                <a:spcPts val="800"/>
              </a:spcBef>
              <a:defRPr sz="950">
                <a:solidFill>
                  <a:srgbClr val="334155"/>
                </a:solidFill>
              </a:defRPr>
            </a:pPr>
            <a:r>
              <a:t>Developing autonomous red-teaming agents that generate adaptive, multi-turn prompt injections against modern defense frameworks.</a:t>
            </a:r>
          </a:p>
          <a:p>
            <a:pPr>
              <a:spcBef>
                <a:spcPts val="800"/>
              </a:spcBef>
              <a:defRPr sz="950" b="1">
                <a:solidFill>
                  <a:srgbClr val="0F172A"/>
                </a:solidFill>
              </a:defRPr>
            </a:pPr>
            <a:r>
              <a:t>Key Contributions:</a:t>
            </a:r>
          </a:p>
          <a:p>
            <a:pPr>
              <a:spcBef>
                <a:spcPts val="300"/>
              </a:spcBef>
              <a:defRPr sz="900">
                <a:solidFill>
                  <a:srgbClr val="334155"/>
                </a:solidFill>
              </a:defRPr>
            </a:pPr>
            <a:r>
              <a:t>• Current benchmarks use static or single-turn injections.</a:t>
            </a:r>
            <a:br/>
            <a:r>
              <a:t>• Train an adversarial LLM agent to navigate environments, evade MAC policies, and exploit state.</a:t>
            </a:r>
            <a:br/>
            <a:r>
              <a:t>• Target: S&amp;P / USENIX Security / CCS.</a:t>
            </a:r>
          </a:p>
          <a:p>
            <a:pPr>
              <a:spcBef>
                <a:spcPts val="1400"/>
              </a:spcBef>
              <a:defRPr sz="950" b="1">
                <a:solidFill>
                  <a:srgbClr val="DC2626"/>
                </a:solidFill>
              </a:defRPr>
            </a:pPr>
            <a:r>
              <a:t>★ High Novelty / High Impact</a:t>
            </a:r>
          </a:p>
        </p:txBody>
      </p:sp>
      <p:sp>
        <p:nvSpPr>
          <p:cNvPr id="7" name="Rounded Rectangle 6"/>
          <p:cNvSpPr/>
          <p:nvPr/>
        </p:nvSpPr>
        <p:spPr>
          <a:xfrm>
            <a:off x="34747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2563EB"/>
                </a:solidFill>
              </a:defRPr>
            </a:pPr>
            <a:r>
              <a:t>DIRECTION 2</a:t>
            </a:r>
          </a:p>
          <a:p>
            <a:pPr>
              <a:spcBef>
                <a:spcPts val="300"/>
              </a:spcBef>
              <a:defRPr sz="1200" b="1">
                <a:solidFill>
                  <a:srgbClr val="0F172A"/>
                </a:solidFill>
              </a:defRPr>
            </a:pPr>
            <a:r>
              <a:t>Automatic SMT Policy Synthesis</a:t>
            </a:r>
          </a:p>
          <a:p>
            <a:pPr>
              <a:spcBef>
                <a:spcPts val="800"/>
              </a:spcBef>
              <a:defRPr sz="950">
                <a:solidFill>
                  <a:srgbClr val="334155"/>
                </a:solidFill>
              </a:defRPr>
            </a:pPr>
            <a:r>
              <a:t>Automating the compilation of vague human task intents and skill docs into provably sound SMT trace policies.</a:t>
            </a:r>
          </a:p>
          <a:p>
            <a:pPr>
              <a:spcBef>
                <a:spcPts val="800"/>
              </a:spcBef>
              <a:defRPr sz="950" b="1">
                <a:solidFill>
                  <a:srgbClr val="0F172A"/>
                </a:solidFill>
              </a:defRPr>
            </a:pPr>
            <a:r>
              <a:t>Key Contributions:</a:t>
            </a:r>
          </a:p>
          <a:p>
            <a:pPr>
              <a:spcBef>
                <a:spcPts val="300"/>
              </a:spcBef>
              <a:defRPr sz="900">
                <a:solidFill>
                  <a:srgbClr val="334155"/>
                </a:solidFill>
              </a:defRPr>
            </a:pPr>
            <a:r>
              <a:t>• VIGIL and SEAgent rely on pre-existing or semi-manual policy rules.</a:t>
            </a:r>
            <a:br/>
            <a:r>
              <a:t>• Research question: Can an LLM synthesize sound, verifiable formal policies with zero human intervention?</a:t>
            </a:r>
            <a:br/>
            <a:r>
              <a:t>• Target: CAV / PLDI / ICLR.</a:t>
            </a:r>
          </a:p>
          <a:p>
            <a:pPr>
              <a:spcBef>
                <a:spcPts val="1400"/>
              </a:spcBef>
              <a:defRPr sz="950" b="1">
                <a:solidFill>
                  <a:srgbClr val="2563EB"/>
                </a:solidFill>
              </a:defRPr>
            </a:pPr>
            <a:r>
              <a:t>★ Formal Methods &amp; AI Convergence</a:t>
            </a:r>
          </a:p>
        </p:txBody>
      </p:sp>
      <p:sp>
        <p:nvSpPr>
          <p:cNvPr id="8" name="Rounded Rectangle 7"/>
          <p:cNvSpPr/>
          <p:nvPr/>
        </p:nvSpPr>
        <p:spPr>
          <a:xfrm>
            <a:off x="62179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7C3AED"/>
                </a:solidFill>
              </a:defRPr>
            </a:pPr>
            <a:r>
              <a:t>DIRECTION 3</a:t>
            </a:r>
          </a:p>
          <a:p>
            <a:pPr>
              <a:spcBef>
                <a:spcPts val="300"/>
              </a:spcBef>
              <a:defRPr sz="1200" b="1">
                <a:solidFill>
                  <a:srgbClr val="0F172A"/>
                </a:solidFill>
              </a:defRPr>
            </a:pPr>
            <a:r>
              <a:t>Multimodal Agent Jailbreaking</a:t>
            </a:r>
          </a:p>
          <a:p>
            <a:pPr>
              <a:spcBef>
                <a:spcPts val="800"/>
              </a:spcBef>
              <a:defRPr sz="950">
                <a:solidFill>
                  <a:srgbClr val="334155"/>
                </a:solidFill>
              </a:defRPr>
            </a:pPr>
            <a:r>
              <a:t>Investigating adversarial visual injections targeting computer-use and vision-language navigation agents.</a:t>
            </a:r>
          </a:p>
          <a:p>
            <a:pPr>
              <a:spcBef>
                <a:spcPts val="800"/>
              </a:spcBef>
              <a:defRPr sz="950" b="1">
                <a:solidFill>
                  <a:srgbClr val="0F172A"/>
                </a:solidFill>
              </a:defRPr>
            </a:pPr>
            <a:r>
              <a:t>Key Contributions:</a:t>
            </a:r>
          </a:p>
          <a:p>
            <a:pPr>
              <a:spcBef>
                <a:spcPts val="300"/>
              </a:spcBef>
              <a:defRPr sz="900">
                <a:solidFill>
                  <a:srgbClr val="334155"/>
                </a:solidFill>
              </a:defRPr>
            </a:pPr>
            <a:r>
              <a:t>• WASP and LivePI revealed desktop/web agent flaws, but only tested text injections.</a:t>
            </a:r>
            <a:br/>
            <a:r>
              <a:t>• Screen-space typographic attacks, visual steganography, and adversarial UI elements.</a:t>
            </a:r>
            <a:br/>
            <a:r>
              <a:t>• Target: NeurIPS / CVPR / ICML.</a:t>
            </a:r>
          </a:p>
          <a:p>
            <a:pPr>
              <a:spcBef>
                <a:spcPts val="1400"/>
              </a:spcBef>
              <a:defRPr sz="950" b="1">
                <a:solidFill>
                  <a:srgbClr val="7C3AED"/>
                </a:solidFill>
              </a:defRPr>
            </a:pPr>
            <a:r>
              <a:t>★ Frontier &amp; Fast-Moving</a:t>
            </a:r>
          </a:p>
        </p:txBody>
      </p:sp>
      <p:sp>
        <p:nvSpPr>
          <p:cNvPr id="9" name="Rounded Rectangle 8"/>
          <p:cNvSpPr/>
          <p:nvPr/>
        </p:nvSpPr>
        <p:spPr>
          <a:xfrm>
            <a:off x="8961120" y="1600200"/>
            <a:ext cx="2487168"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059669"/>
                </a:solidFill>
              </a:defRPr>
            </a:pPr>
            <a:r>
              <a:t>DIRECTION 4</a:t>
            </a:r>
          </a:p>
          <a:p>
            <a:pPr>
              <a:spcBef>
                <a:spcPts val="300"/>
              </a:spcBef>
              <a:defRPr sz="1200" b="1">
                <a:solidFill>
                  <a:srgbClr val="0F172A"/>
                </a:solidFill>
              </a:defRPr>
            </a:pPr>
            <a:r>
              <a:t>Information Flow in MCP Protocols</a:t>
            </a:r>
          </a:p>
          <a:p>
            <a:pPr>
              <a:spcBef>
                <a:spcPts val="800"/>
              </a:spcBef>
              <a:defRPr sz="950">
                <a:solidFill>
                  <a:srgbClr val="334155"/>
                </a:solidFill>
              </a:defRPr>
            </a:pPr>
            <a:r>
              <a:t>Designing provable Non-Interference and Taint Tracking for Model Context Protocol (MCP) ecosystems.</a:t>
            </a:r>
          </a:p>
          <a:p>
            <a:pPr>
              <a:spcBef>
                <a:spcPts val="800"/>
              </a:spcBef>
              <a:defRPr sz="950" b="1">
                <a:solidFill>
                  <a:srgbClr val="0F172A"/>
                </a:solidFill>
              </a:defRPr>
            </a:pPr>
            <a:r>
              <a:t>Key Contributions:</a:t>
            </a:r>
          </a:p>
          <a:p>
            <a:pPr>
              <a:spcBef>
                <a:spcPts val="300"/>
              </a:spcBef>
              <a:defRPr sz="900">
                <a:solidFill>
                  <a:srgbClr val="334155"/>
                </a:solidFill>
              </a:defRPr>
            </a:pPr>
            <a:r>
              <a:t>• Anthropic's MCP is rapidly becoming the universal standard for tool use.</a:t>
            </a:r>
            <a:br/>
            <a:r>
              <a:t>• Integrate dynamic taint tracking into MCP tool servers to mathematically prevent data exfiltration.</a:t>
            </a:r>
            <a:br/>
            <a:r>
              <a:t>• Target: IEEE S&amp;P / NDSS.</a:t>
            </a:r>
          </a:p>
          <a:p>
            <a:pPr>
              <a:spcBef>
                <a:spcPts val="1400"/>
              </a:spcBef>
              <a:defRPr sz="950" b="1">
                <a:solidFill>
                  <a:srgbClr val="059669"/>
                </a:solidFill>
              </a:defRPr>
            </a:pPr>
            <a:r>
              <a:t>★ Immediate Industry Utility</a:t>
            </a:r>
          </a:p>
        </p:txBody>
      </p:sp>
      <p:sp>
        <p:nvSpPr>
          <p:cNvPr id="10" name="TextBox 9"/>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16 of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698480" cy="1097280"/>
          </a:xfrm>
          <a:prstGeom prst="rect">
            <a:avLst/>
          </a:prstGeom>
          <a:noFill/>
        </p:spPr>
        <p:txBody>
          <a:bodyPr wrap="square">
            <a:spAutoFit/>
          </a:bodyPr>
          <a:lstStyle/>
          <a:p>
            <a:pPr>
              <a:defRPr sz="2800" b="1">
                <a:solidFill>
                  <a:srgbClr val="FFFFFF"/>
                </a:solidFill>
              </a:defRPr>
            </a:pPr>
            <a:r>
              <a:t>Strategic Conclusion &amp; Key Takeaways</a:t>
            </a:r>
          </a:p>
          <a:p>
            <a:pPr>
              <a:spcBef>
                <a:spcPts val="400"/>
              </a:spcBef>
              <a:defRPr sz="1400">
                <a:solidFill>
                  <a:srgbClr val="94A3B8"/>
                </a:solidFill>
              </a:defRPr>
            </a:pPr>
            <a:r>
              <a:t>Summary points to align with supervisor on our lab's immediate research focus</a:t>
            </a:r>
          </a:p>
        </p:txBody>
      </p:sp>
      <p:sp>
        <p:nvSpPr>
          <p:cNvPr id="4" name="Rounded Rectangle 3"/>
          <p:cNvSpPr/>
          <p:nvPr/>
        </p:nvSpPr>
        <p:spPr>
          <a:xfrm>
            <a:off x="731520" y="1920240"/>
            <a:ext cx="5166360" cy="210312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60A5FA"/>
                </a:solidFill>
              </a:defRPr>
            </a:pPr>
            <a:r>
              <a:t>1. Agentic Jailbreaking is Fundamentally Distinct</a:t>
            </a:r>
          </a:p>
          <a:p>
            <a:pPr>
              <a:spcBef>
                <a:spcPts val="800"/>
              </a:spcBef>
              <a:defRPr sz="1050">
                <a:solidFill>
                  <a:srgbClr val="CBD5E1"/>
                </a:solidFill>
              </a:defRPr>
            </a:pPr>
            <a:r>
              <a:t>The transition from conversational text generation to autonomous tool invocation expands the attack surface to include irreversible physical and digital side effects. Prompt safety alignment (RLHF) alone cannot prevent tool misuse.</a:t>
            </a:r>
          </a:p>
        </p:txBody>
      </p:sp>
      <p:sp>
        <p:nvSpPr>
          <p:cNvPr id="5" name="Rounded Rectangle 4"/>
          <p:cNvSpPr/>
          <p:nvPr/>
        </p:nvSpPr>
        <p:spPr>
          <a:xfrm>
            <a:off x="6291072" y="1920240"/>
            <a:ext cx="5166360" cy="210312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F87171"/>
                </a:solidFill>
              </a:defRPr>
            </a:pPr>
            <a:r>
              <a:t>2. Capability Does Not Guarantee Security</a:t>
            </a:r>
          </a:p>
          <a:p>
            <a:pPr>
              <a:spcBef>
                <a:spcPts val="800"/>
              </a:spcBef>
              <a:defRPr sz="1050">
                <a:solidFill>
                  <a:srgbClr val="CBD5E1"/>
                </a:solidFill>
              </a:defRPr>
            </a:pPr>
            <a:r>
              <a:t>Smarter models (o1, GPT-4o, Claude 3.5) exhibit equal or higher attack compliance due to superior instruction-following. The current low end-to-end attack completion is 'Security by Incompetence' that will vanish.</a:t>
            </a:r>
          </a:p>
        </p:txBody>
      </p:sp>
      <p:sp>
        <p:nvSpPr>
          <p:cNvPr id="6" name="Rounded Rectangle 5"/>
          <p:cNvSpPr/>
          <p:nvPr/>
        </p:nvSpPr>
        <p:spPr>
          <a:xfrm>
            <a:off x="731520" y="4297680"/>
            <a:ext cx="5166360" cy="210312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34D399"/>
                </a:solidFill>
              </a:defRPr>
            </a:pPr>
            <a:r>
              <a:t>3. Defenses Must Be Deterministic &amp; System-Level</a:t>
            </a:r>
          </a:p>
          <a:p>
            <a:pPr>
              <a:spcBef>
                <a:spcPts val="800"/>
              </a:spcBef>
              <a:defRPr sz="1050">
                <a:solidFill>
                  <a:srgbClr val="CBD5E1"/>
                </a:solidFill>
              </a:defRPr>
            </a:pPr>
            <a:r>
              <a:t>Prompt filters and ML classifiers are easily bypassed and degrade normal utility. The state-of-the-art has decisively moved toward Mandatory Access Control (SEAgent) and SMT trace verification (VIGIL).</a:t>
            </a:r>
          </a:p>
        </p:txBody>
      </p:sp>
      <p:sp>
        <p:nvSpPr>
          <p:cNvPr id="7" name="Rounded Rectangle 6"/>
          <p:cNvSpPr/>
          <p:nvPr/>
        </p:nvSpPr>
        <p:spPr>
          <a:xfrm>
            <a:off x="6291072" y="4297680"/>
            <a:ext cx="5166360" cy="2103120"/>
          </a:xfrm>
          <a:prstGeom prst="roundRect">
            <a:avLst/>
          </a:prstGeom>
          <a:solidFill>
            <a:srgbClr val="111830"/>
          </a:solidFill>
          <a:ln w="12700">
            <a:solidFill>
              <a:srgbClr val="1E3A6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300" b="1">
                <a:solidFill>
                  <a:srgbClr val="FBBF24"/>
                </a:solidFill>
              </a:defRPr>
            </a:pPr>
            <a:r>
              <a:t>4. Immediate Next Step for Our Research</a:t>
            </a:r>
          </a:p>
          <a:p>
            <a:pPr>
              <a:spcBef>
                <a:spcPts val="800"/>
              </a:spcBef>
              <a:defRPr sz="1050">
                <a:solidFill>
                  <a:srgbClr val="CBD5E1"/>
                </a:solidFill>
              </a:defRPr>
            </a:pPr>
            <a:r>
              <a:t>Recommend selecting either: (A) Automated Multi-Turn Red Teaming against MAC/SMT guards, or (B) Formal Information Flow Tracking for the Model Context Protocol (MCP) as our lab's primary target.</a:t>
            </a:r>
          </a:p>
        </p:txBody>
      </p:sp>
      <p:sp>
        <p:nvSpPr>
          <p:cNvPr id="8" name="TextBox 7"/>
          <p:cNvSpPr txBox="1"/>
          <p:nvPr/>
        </p:nvSpPr>
        <p:spPr>
          <a:xfrm>
            <a:off x="731520" y="6400800"/>
            <a:ext cx="10728655" cy="274320"/>
          </a:xfrm>
          <a:prstGeom prst="rect">
            <a:avLst/>
          </a:prstGeom>
          <a:noFill/>
        </p:spPr>
        <p:txBody>
          <a:bodyPr wrap="square" lIns="0" tIns="0" rIns="0" bIns="0">
            <a:spAutoFit/>
          </a:bodyPr>
          <a:lstStyle/>
          <a:p>
            <a:pPr>
              <a:defRPr sz="850">
                <a:solidFill>
                  <a:srgbClr val="94A3B8"/>
                </a:solidFill>
              </a:defRPr>
            </a:pPr>
            <a:r>
              <a:t>Agentic Jailbreaking &amp; LLM Agent Security | Literature Review &amp; Research Strategy  •  Slide 17 of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