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Intermediate Hijack ASR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OpenAI o1</c:v>
                </c:pt>
                <c:pt idx="1">
                  <c:v>Claude Sonnet 3.5</c:v>
                </c:pt>
                <c:pt idx="2">
                  <c:v>GPT-4o</c:v>
                </c:pt>
                <c:pt idx="3">
                  <c:v>GPT-4o-mini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85.7</c:v>
                </c:pt>
                <c:pt idx="1">
                  <c:v>58.3</c:v>
                </c:pt>
                <c:pt idx="2">
                  <c:v>42.9</c:v>
                </c:pt>
                <c:pt idx="3">
                  <c:v>38.1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End-to-End Exploitation ASR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OpenAI o1</c:v>
                </c:pt>
                <c:pt idx="1">
                  <c:v>Claude Sonnet 3.5</c:v>
                </c:pt>
                <c:pt idx="2">
                  <c:v>GPT-4o</c:v>
                </c:pt>
                <c:pt idx="3">
                  <c:v>GPT-4o-mini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16.7</c:v>
                </c:pt>
                <c:pt idx="1">
                  <c:v>6.0</c:v>
                </c:pt>
                <c:pt idx="2">
                  <c:v>3.6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657600" cy="329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ACADEMIC LITERATURE REVIEW &amp; RESEARCH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8755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8FAFC"/>
                </a:solidFill>
                <a:latin typeface="Calibri"/>
              </a:rPr>
              <a:t>Agentic Jailbreaking &amp; LLM Agent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Calibri"/>
              </a:rPr>
              <a:t>A Systematic Analysis of Threat Models, Empirical Vulnerabilities, and Provable Defenses (2024–2026)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Prepared for Academic Research Seminar &amp; Thesis Topic Direction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89280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89280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The Fundamental Shift: Chatbot Jailbreaks vs Agentic Exploits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Conversational LLM Jailbreaks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Confined Impact: Blast radius is limited to toxic text generation (hate speech, disinformation).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Single-Turn Human Loop: Attacker directly converses with model; human must manually execute harmful advice.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Static Context Boundary: Model only consumes prompts and internal weights without observing external state.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Mitigated by Alignment: Post-training safety tuning (RLHF/DPO) suppresses prohibited text tokens reliably.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Autonomous Agentic Exploits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Irreversible Side Effects: Failure mode is tool execution: database drops, fund transfers, unauthorized API calls.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Indirect Attack Surface: Adversarial instructions hide in external environments (web DOM, emails, group chats).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Unified Data/Control Channel: Transformers cannot distinguish developer instructions from untrusted data.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Compounding Multi-Step Loops: Injected payloads hijack autonomous workflows, pivoting across tools and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691639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691639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THREAT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Core Threat Vectors in Autonomous Agent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7315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Direct Injection (DPI)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Deceptive user prompts to override system guardrails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Forces parameter tampering &amp; tool abuse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Peak ASR: 72.7% across models (ASB)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Easily bypasses naive persona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2263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6583" y="23317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2331720"/>
            <a:ext cx="9144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INDIRECT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Indirect Injection (IPI)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Payloads embedded in external tool inputs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Exploits web pages, emails, and group chats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Universal 100% ASR in chat apps (LivePI)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Enables silent multi-step data exfiltration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3317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331720"/>
            <a:ext cx="9144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STATEFUL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Memory &amp; RAG Poisoning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Corrupts retrieval memory or plan stores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Infects clean tasks across future sessions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Peak ASR: 84.3% with Plan-of-Thought (ASB)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Latent triggers survive session resets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3751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8071" y="233172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331720"/>
            <a:ext cx="7315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Confused Deputy &amp;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Untrusted agents manipulate privileged deputies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Third-party skills violate safety contracts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Single-call monitors miss ~50% (VIGIL)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Breaks multi-agent tenant isolation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093976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LITERATURE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The Three-Year Evolution of Agent Security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2024: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Foundations &amp; Emulation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ToolEmu (ICLR '24): Pioneers LM-emulated sandboxes; shows 24% failure residual under safety prompts.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InjecAgent (ACL '24): First formal benchmark for IPI; function-calling fine-tuning cuts ASR to 3.8%.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AgentDojo (NeurIPS '24): Dynamic testbeds prove ML detectors drop benign utility from 69% to 41%.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2025: 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Lifecycle &amp; Live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ASB (ICLR '25): Formalizes 4 lifecycle stages; introduces Plan-of-Thought backdoors (84.3% ASR).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WASP (Meta FAIR '25): Evaluates live web platforms; exposes 86% intermediate hijack vs 16% completion.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Shift from synthetic toys to realistic multi-turn environments and web applications.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2026: 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OS Workflows &amp;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SEAgent (arXiv '26): Mandatory Access Control (MAC) eliminates Confused Deputy, reaching 0.0% ASR.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LivePI (arXiv '26): Real Linux VM shows universal 100% group chat vulnerability via role spoofing.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VIGIL (arXiv '26): Trace-grounded SMT checking achieves 92.6% F1 on real-world skill contracts.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099816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1 · ICLR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ToolEmu: Identifying High-Stakes Risks in Emulated Sandboxes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Core Problem &amp; Emulation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Authors: Yangjun Ruan, Jimmy Ba, Tatsunori Hashimoto et al. (Toronto, Stanford).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The Problem: Evaluating long-tail risks (medical, financial, OS) is unsustainable via custom sandboxes.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LM Emulator: Uses GPT-4 to simulate tool execution, returns, and world state updates dynamically.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Dataset Scale: 36 high-stakes toolkits across 18 domains with 144 curated risk scenarios.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Evaluator Quality: Automated evaluator achieved 75.3% precision and 73.1% recall matching human experts.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Empirical Findings &amp; Prompt Defense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High Baseline Failure: Standard GPT-4 failed 39.4% of cases; Claude-2: 44.3%; ChatGPT-3.5: 62.0%.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Limits of Safety Prompts: Explicit system prompts lowered GPT-4 failures from 39.4% to 23.9%.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Key Takeaway: Even with safety alignment, agents cause critical failures in nearly 1 in 4 tool tasks.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Open Gaps: Benchmark curation required manual effort; LM emulator can hallucinate complex tool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99923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999232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2 · ACL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InjecAgent: Benchmarking Indirect Prompt Injections in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Threat Modeling &amp; Benchmark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Authors: Joey Tianyi Zhou, Luu Anh Tuan et al. (A*STAR, NTU Singapore).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Threat Taxonomy: Formalizes Direct Harm (file deletion, unauthorized actions) vs Data Stealing (exfiltration).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Benchmark Scale: 1,054 test cases covering 17 user tools and 62 attacker tools.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Settings: Base setting (raw attacker text) vs Enhanced setting (+ hacking prompt wrapper).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Scope: Evaluated 30 agents across prompted ReAct and fine-tuned function-calling backbones.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Function Calling Divide &amp; Exfiltration Leak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Prompted Models Collapse: LLaMA-2-70B exhibited &gt;80% ASR; prompted GPT-4 reached 24%–47% ASR.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Fine-Tuning Advantage: Native function-calling fine-tuning slashed GPT-4 ASR down to 3.8%.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The Exfiltration Trap: Once sensitive data is read into context, exfiltration transmission reaches 100%.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Key Takeaway: Function fine-tuning improves tool hygiene, but prompt defenses cannot stop data egress.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20040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3 · NEURIPS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AgentDojo: Evaluating Dynamic Attacks and Defense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Dynamic Testbed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Authors: Edoardo Debenedetti, Florian Tramèr et al. (ETH Zurich, Invariant Labs).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Core Innovation: Moves beyond static tests into dynamic, executable multi-turn environments.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Application Suites: 97 tasks across Workspace, Banking, Slack, and Travel domains.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Evaluation Suite: 629 security test cases featuring realistic untrusted tool outputs.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Targeted Models: 10 models including GPT-4o, Claude 3.5 Sonnet, Gemini 1.5, and Llama 3 70B.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Empirical Findings &amp; The Utility Dilemma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Frontier Susceptibility: Targeted ASR hit 47.7% on GPT-4o and 33.9% on Claude 3.5 Sonnet.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Untargeted Hijacks: Attackers successfully derailed agents from their goals in 68.4% of runs.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The Classifier Trap: ML detectors lowered ASR to 7.95%, but crashed benign utility from 69% to 41.5%.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Tool Isolation Superiority: Least-privilege tool filtering cut ASR to 6.8% while maintaining 73.1% utility.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099816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4 · ICLR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Agent Security Bench (ASB): Full Lifecycle Threat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9144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TAXONOMY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4-Stage Attack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Formalizes attacks across System Prompt, User Prompt, Tool Use, and Memory Retrieval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10 application domains (Finance, Driving, Healthcare, E-commerce)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Evaluates 27 attack and defense methods across 13 foundation backbones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First unified framework spanning agent execution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155448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VULNERABILITIES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Peak Empirical ASR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Plan-of-Thought (PoT) Backdoors reached 84.3% peak average ASR across models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Direct Prompt Injection (DPI) achieved 72.7% average success rate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GPT-4o exhibited 64.4% average vulnerability across all evaluated scenarios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Claude 3.5 Sonnet suffered 56.4% average compromise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12801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DEFENSE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The Heuristic Deficit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Capability Disconnect: Standalone leaderboard IQ does not correlate with security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Paraphrasing defense leaves 56.9% ASR unmitigated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Dynamic prompt rewriting leaves 44.5% ASR open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Takeaway: Shallow prompt transformations fail against stateful agent backdoors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20040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5 · META FAIR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WASP: Live Web Agents &amp; The "Security by Incompetence" Paradox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1072865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WASP (Meta FAIR 2025): Evaluated on self-hosted GitLab and Reddit with live multi-step web navigation.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20040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6 · ARXIV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SEAgent: Mandatory Access Control (MAC) for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Architecture &amp; Security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Authors: S. Lin, Y. Zhang, H. Sun et al. (arXiv 2026).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OS-Inspired Security: Implements SELinux-style Mandatory Access Control for multi-agent systems.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System View Graph: Dynamically tracks execution topology, data dependencies, and principals.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SEMemory Isolation: Segregates untrusted external inputs from sensitive execution context.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Hybrid Labeling: Combines automated LLM policy labeling with deterministic rule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Empirical Guarantees &amp; Utility Preservation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Zero Attack Success Rate: Achieved 0.00% ASR across InjecAgent and AgentDojo benchmarks.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Eliminated Confused Deputy: Prevented untrusted subagents from invoking privileged tools.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Preserved Benign Utility: Maintained 68%–75% correctness on API-Bank with 0%–5% false alarms.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Outperformed IsolateGPT: Avoided IsolateGPT's severe 34% utility crash and 18.3% false positive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20040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7 · ARXIV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LivePI: Realistic IPI Benchmarking on Live Linux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Production VM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Authors: Lei Zhao, Abhay Bhaskar, Edgar Dobriban (University of Pennsylvania).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Production VM Testbed: Live Linux VM (OpenClaw) with real email, chat, files, and crypto wallet.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7 Ingestion Surfaces: Group Chat (Slack, WhatsApp), Email, Local Docs, Repos, Gist, Web.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5 Malicious Goals: Credential theft, policy tampering, arbitrary code exec, wallet drain.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Frontier Backbones: Evaluated GPT-5.3-Codex, Claude Opus 4.6, Gemini 3.1 Pro, GLM-5.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The 'Role: User' Context Flaw &amp;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Universal Group Exploit: Group chat injections hit 100.0% ASR across ALL five frontier models.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Architectural Flaw: Chat platforms inject member messages as 'role: user', tricking model reasoning.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Surface Disparity: Repository links achieved 50%–100% compromise; Gist was largely ineffective.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Two-Layer Defense: Pre-execution tool-call authorization reduced GPT-5.3-Codex ASR to 0.0%.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20040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PAPER DEEP-DIVE 8 · ARXIV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VIGIL: Runtime Enforcement of Behavioral Specs in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Trace-Grounded SMT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Authors: Ying Li, Yanju Chen, Yu Feng, Yuan Tian et al. (UCLA, UCSD, UCSB, Riema).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The Gap: Natural-language skill contracts cannot be enforced by isolated single-call filters.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SMT Formalization: Compiles behavioral specs into formal SMT constraints over finite execution traces.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Cross-Call Tracking: Evaluates temporal preconditions, parameter bounds, and cross-tool flows.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Benchmark: Evaluated on SB+SI (152 labeled executions: 72 violating, 80 benign).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Calibri"/>
              </a:rPr>
              <a:t>Empirical Superiority &amp; Industry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Exceptional Accuracy: Achieved 95.8% recall, 89.6% precision, and 92.6% F1 score.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Single-Call Guards Failed: AgentSpec (57.6% F1) and Progent (50.3% F1) missed ~50% of attacks.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LLM Judges Inadequate: Claude Opus 4.6 judge achieved only 76.8% F1, missing 24 temporal bugs.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 Real-World Impact: Uncovered 34 confirmed policy bugs in deployed skills (NVIDIA, Cloudflare).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79222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SYNTHESIS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Master Benchmark &amp; Architectural Comparison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072865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Threat Vectors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Peak ASR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F172A"/>
                          </a:solidFill>
                          <a:latin typeface="Calibri"/>
                        </a:rPr>
                        <a:t>Optimal Defense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ToolEmu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ICLR '24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High-Stakes Tool Misuse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LM Emulated Sandbox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62.0% (ChatGPT)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Safety System Prompts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InjecAgent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ACL '24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IPI (Harm &amp; Exfil)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Synthetic API Mocks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80%+ (LLaMA-2)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Function-Calling Tuning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AgentDojo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NeurIPS '24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DPI &amp; IPI in Tools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Dynamic Python Env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47.7% (GPT-4o)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Tool Filtering / Isolation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ASB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ICLR '25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DPI, IPI, Memory, PoT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10 Simulated Domains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84.3% (Backdoor)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Lifecycle Formalization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WASP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FAIR '25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Web Prompt Injections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Self-Hosted Live Web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85.7% (Interm. o1)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Instruction Hierarchy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SEAgent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arXiv '26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Privilege Escalation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InjecAgent, AgentDojo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39.1% -&gt; 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Mandatory Access Control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LivePI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arXiv '26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IPI in OS Workflows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Live Linux VM (OpenClaw)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100% (Group Chat)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2-Layer Tool Authorization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VIGIL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arXiv '26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Skill Contract Breaks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SB+SI, Deployed Skills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95.8% Rec. Violat.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Calibri"/>
                        </a:rPr>
                        <a:t>Trace-Grounded SMT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1945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CROSS-MODEL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The Capability-Security Disconnect Across Model Generations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8229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PARADOX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The Reasoning Paradox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Frontier models (o1, GPT-4o, Claude 3.5) exhibit equal or higher attack compliance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Superior instruction-following causes models to strictly obey injected instructions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ASB proved model leaderboard IQ does not correlate with adversarial robustness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OpenAI o1 reached 85.7% intermediate hijack rate in WASP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9144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ILLUSION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Security by Incompetence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Low end-to-end completion (0%–16%) stems from agents getting lost in complex UIs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Current safety is an accidental byproduct of agent navigation incompetence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Models fail at modal popups, multi-step navigation, and state validation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As frontier agents master autonomous execution, this accidental barrier will vanish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12801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Context Channel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Messaging platforms ingest untrusted member chat as 'role: user'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Triggers 100% universal exploitability across all major foundation models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Fine-tuning cuts function injection to 3.8%, but exfiltration still hits 100%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Transformers lack hardware-level separation between data and instructions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89280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89280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DEFENSE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The Three Waves of LLM Agent Defenses (2023–2026+)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WAVE 1: 2023–2024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Prompt Heuristics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Mechanisms: System safety prompts, XML tags, repeat prompting, paraphrasing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Pros: Zero architectural changes required; trivial to deploy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Flaws: Easily bypassed; ASB showed Paraphrasing leaves 56.9% ASR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Penalty: Degrades benign instruction-following precision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Verdict: Inadequate for production agent deployments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WAVE 2: 2024–2025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Auxiliary Classifiers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Mechanisms: External PI detectors (Llama-Guard), Dual-LLM intent planners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Pros: Lowers ASR for known injection signatures (AgentDojo dropped ASR to 7.9%)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Flaws: Vulnerable to adversarial cascading injections against the guard LLM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Penalty: Severe false positives crash benign utility from 69% to 41.5%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Verdict: Unacceptable friction in real-world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WAVE 3: 2026+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Deterministic SMT &amp; MAC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Mechanisms: Mandatory Access Control (SEAgent), SMT trace checkers (VIGIL)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Pros: 0.0% ASR; eliminates multi-agent Confused Deputy; 92.6% F1 on skills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Formal Guarantees: Verifies temporal ordering &amp; information-flow invariants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Preserves Utility: Minimal false positive friction (0.11% block rate)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Verdict: The definitive future of secure agent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691639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691639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RESEARCH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Four High-Impact Research Directions for Our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DIRECTION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Multi-Turn Red Teaming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Autonomous red-teaming agents generating adaptive multi-turn injections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Navigates environments to evade modern MAC &amp; SMT defense policies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High Novelty / Exploits stateful multi-step gaps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Target: IEEE S&amp;P / USENIX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2263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6583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DIRECTION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SMT Policy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Automated compilation of natural-language skill specs into sound SMT trace policies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Eliminates reliance on manual policy drafting in SEAgent and VIGIL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Formal Methods &amp; AI Convergence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Target: CAV / PLDI / ICLR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DIRECTION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Multimodal Injections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Adversarial visual injections targeting GUI navigation &amp; computer-use agents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Screen-space typographic attacks, visual steganography, adversarial UI elements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Frontier &amp; Fast-Moving Area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Target: NeurIPS / CVPR / ICML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3751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8071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DIRECTION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MCP Non-Interference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Provable non-interference &amp; dynamic taint tracking for Model Context Protocol (MCP)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Integrates taint tracking into tool servers to stop exfiltration mathematically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Immediate Industry Utility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Target: IEEE S&amp;P / NDSS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09397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093976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STRATEGIC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8FAFC"/>
                </a:solidFill>
                <a:latin typeface="Calibri"/>
              </a:rPr>
              <a:t>Strategic Conclusion &amp; Supervisor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09728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TAKEAWAY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Distinct Threat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Agentic exploits cause irreversible physical and digital side effects via APIs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Safety alignment (RLHF) alone cannot prevent tool misuse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Context channel ingestion flaws demand architectural fixes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2263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6583" y="23317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2331720"/>
            <a:ext cx="109728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TAKEAWAY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The Capability Paradox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Frontier reasoning models (o1, Claude 3.5) exhibit equal or higher attack compliance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Accidental 'Security by Incompetence' will vanish as navigation matures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Leaderboard scores do not predict 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3317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331720"/>
            <a:ext cx="109728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TAKEAWAY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Deterministic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Prompt filters and ML classifiers fail or cause catastrophic utility drops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State-of-the-art has shifted decisively to Mandatory Access Control &amp; SMT trace checking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Formal guarantees are required for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3751" y="2103120"/>
            <a:ext cx="2476423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58071" y="23317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331720"/>
            <a:ext cx="118872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284C7"/>
                </a:solidFill>
                <a:latin typeface="Calibri"/>
              </a:rPr>
              <a:t>ACTION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2679192"/>
            <a:ext cx="1927783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Immediate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3273552"/>
            <a:ext cx="1927783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Recommend selecting (A) Automated Multi-Turn Red Teaming or (B) MCP Taint Tracking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Establish formal verification testbed and draft conference proposal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•  Schedule follow-up research direction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Agentic Jailbreaking &amp; LLM Agent Security · Academic Literature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